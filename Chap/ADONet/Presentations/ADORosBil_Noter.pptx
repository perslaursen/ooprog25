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57" r:id="rId4"/>
    <p:sldId id="262" r:id="rId5"/>
    <p:sldId id="258" r:id="rId6"/>
    <p:sldId id="263" r:id="rId7"/>
    <p:sldId id="259" r:id="rId8"/>
    <p:sldId id="264" r:id="rId9"/>
    <p:sldId id="265" r:id="rId10"/>
    <p:sldId id="266" r:id="rId11"/>
    <p:sldId id="267" r:id="rId12"/>
    <p:sldId id="268" r:id="rId13"/>
    <p:sldId id="271" r:id="rId14"/>
    <p:sldId id="272" r:id="rId15"/>
    <p:sldId id="273" r:id="rId16"/>
    <p:sldId id="274" r:id="rId17"/>
    <p:sldId id="269" r:id="rId18"/>
    <p:sldId id="270" r:id="rId19"/>
    <p:sldId id="275" r:id="rId20"/>
  </p:sldIdLst>
  <p:sldSz cx="12192000" cy="6858000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llemlayout 2 - Markering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Ingen typografi, tabelgit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58" y="5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CE52F81-4AA2-4A27-9771-803B2F878E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01A3F758-E8D5-4A1D-94C7-D434581CBA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a-DK"/>
              <a:t>Klik for at redigere undertiteltypografien i masteren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1D05D081-6C0C-46DD-B0C0-DD8AA41D1C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45FF5-5709-4B9E-8725-95F6E4B3E7CD}" type="datetimeFigureOut">
              <a:rPr lang="da-DK" smtClean="0"/>
              <a:t>26-03-2026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751FA720-9D9F-4316-B571-AAAF9206BE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CDDB7742-DFE0-4DD4-93DF-25DC4C4F95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83056-74A8-46E4-B14B-5B861FE5DABC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1936260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B4D8035-D67E-49DA-B785-82B60CA92D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7D565973-E649-4720-B319-4489BCA9BE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/>
              <a:t>Rediger teksttypografien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2C2F46B0-755C-4184-8D96-C17909DAD9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45FF5-5709-4B9E-8725-95F6E4B3E7CD}" type="datetimeFigureOut">
              <a:rPr lang="da-DK" smtClean="0"/>
              <a:t>26-03-2026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549E31D3-51D8-493D-BB08-EF5FD1ACC4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A1629D04-6344-45C1-AA6A-8DEB4D634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83056-74A8-46E4-B14B-5B861FE5DABC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8718010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D569D52-5948-45BB-A32B-CA53C340C7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403DAFEE-CD3B-4536-B810-FAFFD77078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/>
              <a:t>Rediger teksttypografien i masteren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A8964056-5E8E-4731-BC30-DB5BDA4E10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45FF5-5709-4B9E-8725-95F6E4B3E7CD}" type="datetimeFigureOut">
              <a:rPr lang="da-DK" smtClean="0"/>
              <a:t>26-03-2026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29F47084-7C61-4EAF-ABBB-E9FBC9A155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F3E4996B-3433-4297-8196-17A731D50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83056-74A8-46E4-B14B-5B861FE5DABC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3901093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660902E-C179-4C2C-8949-59B362B00B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CBB80701-088E-494B-8B1A-0389FEFB37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Rediger teksttypografien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86BB6613-924C-490E-82A8-95B276DD6F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Rediger teksttypografien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A5D67F01-6349-45A3-88CB-3393517B84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45FF5-5709-4B9E-8725-95F6E4B3E7CD}" type="datetimeFigureOut">
              <a:rPr lang="da-DK" smtClean="0"/>
              <a:t>26-03-2026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BEF15409-6B8D-42F5-BF3A-5C191CD1CF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D3C5F282-EE81-430E-8CA9-36A5051F3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83056-74A8-46E4-B14B-5B861FE5DABC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5245670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A91EDCD-9D42-4FEB-9EB9-847DDDADC6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E034F0F0-8E9C-4993-9000-B2F833815E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Rediger teksttypografien i masteren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2493D728-8EF2-4EB8-BF59-53E13ECAD0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a-DK"/>
              <a:t>Rediger teksttypografien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tekst 4">
            <a:extLst>
              <a:ext uri="{FF2B5EF4-FFF2-40B4-BE49-F238E27FC236}">
                <a16:creationId xmlns:a16="http://schemas.microsoft.com/office/drawing/2014/main" id="{A02C5212-90FF-4ADF-8773-3E5B789EF0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Rediger teksttypografien i masteren</a:t>
            </a:r>
          </a:p>
        </p:txBody>
      </p:sp>
      <p:sp>
        <p:nvSpPr>
          <p:cNvPr id="6" name="Pladsholder til indhold 5">
            <a:extLst>
              <a:ext uri="{FF2B5EF4-FFF2-40B4-BE49-F238E27FC236}">
                <a16:creationId xmlns:a16="http://schemas.microsoft.com/office/drawing/2014/main" id="{C4824B7C-DC41-439C-B2AF-AECB0D347B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a-DK"/>
              <a:t>Rediger teksttypografien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7" name="Pladsholder til dato 6">
            <a:extLst>
              <a:ext uri="{FF2B5EF4-FFF2-40B4-BE49-F238E27FC236}">
                <a16:creationId xmlns:a16="http://schemas.microsoft.com/office/drawing/2014/main" id="{A20685C6-38AD-437C-B93F-65D39113B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45FF5-5709-4B9E-8725-95F6E4B3E7CD}" type="datetimeFigureOut">
              <a:rPr lang="da-DK" smtClean="0"/>
              <a:t>26-03-2026</a:t>
            </a:fld>
            <a:endParaRPr lang="da-DK"/>
          </a:p>
        </p:txBody>
      </p:sp>
      <p:sp>
        <p:nvSpPr>
          <p:cNvPr id="8" name="Pladsholder til sidefod 7">
            <a:extLst>
              <a:ext uri="{FF2B5EF4-FFF2-40B4-BE49-F238E27FC236}">
                <a16:creationId xmlns:a16="http://schemas.microsoft.com/office/drawing/2014/main" id="{5D59E834-9B04-4704-A022-210A92B96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Pladsholder til slidenummer 8">
            <a:extLst>
              <a:ext uri="{FF2B5EF4-FFF2-40B4-BE49-F238E27FC236}">
                <a16:creationId xmlns:a16="http://schemas.microsoft.com/office/drawing/2014/main" id="{C291262F-052A-4668-B991-9D6813F7D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83056-74A8-46E4-B14B-5B861FE5DABC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7648080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115E911-9C5D-4A47-B454-EEE6FB0835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4970FCD7-6015-4004-A847-F2269E0FD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45FF5-5709-4B9E-8725-95F6E4B3E7CD}" type="datetimeFigureOut">
              <a:rPr lang="da-DK" smtClean="0"/>
              <a:t>26-03-2026</a:t>
            </a:fld>
            <a:endParaRPr lang="da-DK"/>
          </a:p>
        </p:txBody>
      </p:sp>
      <p:sp>
        <p:nvSpPr>
          <p:cNvPr id="4" name="Pladsholder til sidefod 3">
            <a:extLst>
              <a:ext uri="{FF2B5EF4-FFF2-40B4-BE49-F238E27FC236}">
                <a16:creationId xmlns:a16="http://schemas.microsoft.com/office/drawing/2014/main" id="{550BF5BF-D3E4-4E8A-A058-EED63D422E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D0852EF4-2FB0-4E04-B00A-F53E0EF86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83056-74A8-46E4-B14B-5B861FE5DABC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8815354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dato 1">
            <a:extLst>
              <a:ext uri="{FF2B5EF4-FFF2-40B4-BE49-F238E27FC236}">
                <a16:creationId xmlns:a16="http://schemas.microsoft.com/office/drawing/2014/main" id="{10DE0A62-75C9-4560-8578-D062986BE1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45FF5-5709-4B9E-8725-95F6E4B3E7CD}" type="datetimeFigureOut">
              <a:rPr lang="da-DK" smtClean="0"/>
              <a:t>26-03-2026</a:t>
            </a:fld>
            <a:endParaRPr lang="da-DK"/>
          </a:p>
        </p:txBody>
      </p:sp>
      <p:sp>
        <p:nvSpPr>
          <p:cNvPr id="3" name="Pladsholder til sidefod 2">
            <a:extLst>
              <a:ext uri="{FF2B5EF4-FFF2-40B4-BE49-F238E27FC236}">
                <a16:creationId xmlns:a16="http://schemas.microsoft.com/office/drawing/2014/main" id="{F889C014-2D97-4C4B-B020-131F499315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3AEF0593-D9D1-40DB-9C4D-2E30BF400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83056-74A8-46E4-B14B-5B861FE5DABC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8330637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B032808-B8F4-42B3-B551-72CE712FB8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5BB015E3-B8B1-49DC-B6CC-87627B3C43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a-DK"/>
              <a:t>Rediger teksttypografien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C32B4AA3-BE05-4ACC-8C36-8EC888B8E5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Rediger teksttypografien i masteren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CD8835F4-956B-410A-8B9B-F0AF6B9C0A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45FF5-5709-4B9E-8725-95F6E4B3E7CD}" type="datetimeFigureOut">
              <a:rPr lang="da-DK" smtClean="0"/>
              <a:t>26-03-2026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BF19B8C5-CCF6-4BB1-9786-CDF2F9959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40A704DB-F66F-48E6-B023-FF163E20F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83056-74A8-46E4-B14B-5B861FE5DABC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8540910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1810667-4296-43C6-BE80-9FFF0EBE98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billede 2">
            <a:extLst>
              <a:ext uri="{FF2B5EF4-FFF2-40B4-BE49-F238E27FC236}">
                <a16:creationId xmlns:a16="http://schemas.microsoft.com/office/drawing/2014/main" id="{F9F09EFE-AA44-4369-9DC1-739BF05C2E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/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6533F9F5-989F-4DB1-A5A6-0B462671BE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Rediger teksttypografien i masteren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B0E84770-5CC7-439E-867C-455470EE49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45FF5-5709-4B9E-8725-95F6E4B3E7CD}" type="datetimeFigureOut">
              <a:rPr lang="da-DK" smtClean="0"/>
              <a:t>26-03-2026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89C13633-1A6B-48BD-98D5-456ADD5E0B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161B4162-2672-457B-9808-44C637606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83056-74A8-46E4-B14B-5B861FE5DABC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2328604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9751C0C-A385-4EB4-9C61-2099E8E4EB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lodret titel 2">
            <a:extLst>
              <a:ext uri="{FF2B5EF4-FFF2-40B4-BE49-F238E27FC236}">
                <a16:creationId xmlns:a16="http://schemas.microsoft.com/office/drawing/2014/main" id="{14C55C96-1218-4386-9C2C-2201B13C0E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a-DK"/>
              <a:t>Rediger teksttypografien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A9B9B19A-1282-4503-AD02-891C7A3A47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45FF5-5709-4B9E-8725-95F6E4B3E7CD}" type="datetimeFigureOut">
              <a:rPr lang="da-DK" smtClean="0"/>
              <a:t>26-03-2026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710AA673-84DD-426A-80F2-062834C34F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93519682-F650-4A94-B4AC-D701C3E7C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83056-74A8-46E4-B14B-5B861FE5DABC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5658163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ret titel 1">
            <a:extLst>
              <a:ext uri="{FF2B5EF4-FFF2-40B4-BE49-F238E27FC236}">
                <a16:creationId xmlns:a16="http://schemas.microsoft.com/office/drawing/2014/main" id="{C8CAE67B-D1C8-4637-8C21-336C128C77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lodret titel 2">
            <a:extLst>
              <a:ext uri="{FF2B5EF4-FFF2-40B4-BE49-F238E27FC236}">
                <a16:creationId xmlns:a16="http://schemas.microsoft.com/office/drawing/2014/main" id="{2334D5E6-C736-45FA-A16F-B5B6D4F68C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a-DK"/>
              <a:t>Rediger teksttypografien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22B661A0-1CF8-4BC8-BFA9-CB85783F1E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45FF5-5709-4B9E-8725-95F6E4B3E7CD}" type="datetimeFigureOut">
              <a:rPr lang="da-DK" smtClean="0"/>
              <a:t>26-03-2026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3A883C6D-3CFB-4160-ABCD-1427DB2DF5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BAF37859-BFF7-4295-B11B-CC01878BF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83056-74A8-46E4-B14B-5B861FE5DABC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9169424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titel 1">
            <a:extLst>
              <a:ext uri="{FF2B5EF4-FFF2-40B4-BE49-F238E27FC236}">
                <a16:creationId xmlns:a16="http://schemas.microsoft.com/office/drawing/2014/main" id="{D785F109-D970-42AC-A883-13E1C7444C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6D43C038-8490-40EB-BD7C-6F959EA993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/>
              <a:t>Rediger teksttypografien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A827122E-EB38-4911-98E4-46AFA23370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645FF5-5709-4B9E-8725-95F6E4B3E7CD}" type="datetimeFigureOut">
              <a:rPr lang="da-DK" smtClean="0"/>
              <a:t>26-03-2026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231632DE-4CCC-4A27-A4AB-EBC1555554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88C9F67F-06C1-416C-9B54-166081076C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C83056-74A8-46E4-B14B-5B861FE5DABC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378843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039A849-28E4-4950-A403-4B524E8D24F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a-DK"/>
              <a:t>ADORosBil_Vx</a:t>
            </a:r>
          </a:p>
        </p:txBody>
      </p:sp>
    </p:spTree>
    <p:extLst>
      <p:ext uri="{BB962C8B-B14F-4D97-AF65-F5344CB8AC3E}">
        <p14:creationId xmlns:p14="http://schemas.microsoft.com/office/powerpoint/2010/main" val="35243614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F3617B-C84E-4808-81EA-C4796DCED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Progression (ADORosBil_V0)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98060B80-E951-484E-B689-95304FC4B4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/>
              <a:t>Al kode i </a:t>
            </a:r>
            <a:r>
              <a:rPr lang="da-DK" b="1"/>
              <a:t>Program.cs</a:t>
            </a:r>
          </a:p>
          <a:p>
            <a:r>
              <a:rPr lang="da-DK"/>
              <a:t>”Demo” af </a:t>
            </a:r>
            <a:r>
              <a:rPr lang="da-DK" i="1"/>
              <a:t>ReadAll</a:t>
            </a:r>
            <a:r>
              <a:rPr lang="da-DK"/>
              <a:t>-funktionalitet</a:t>
            </a:r>
          </a:p>
        </p:txBody>
      </p:sp>
    </p:spTree>
    <p:extLst>
      <p:ext uri="{BB962C8B-B14F-4D97-AF65-F5344CB8AC3E}">
        <p14:creationId xmlns:p14="http://schemas.microsoft.com/office/powerpoint/2010/main" val="22488236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4C78D-DE07-482D-A40A-93CC5B20D9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Progression (ADORosBil_V0)</a:t>
            </a:r>
          </a:p>
        </p:txBody>
      </p:sp>
      <p:graphicFrame>
        <p:nvGraphicFramePr>
          <p:cNvPr id="4" name="Tabel 3">
            <a:extLst>
              <a:ext uri="{FF2B5EF4-FFF2-40B4-BE49-F238E27FC236}">
                <a16:creationId xmlns:a16="http://schemas.microsoft.com/office/drawing/2014/main" id="{2B822CF7-661D-4F25-8128-9734BE5506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8712446"/>
              </p:ext>
            </p:extLst>
          </p:nvPr>
        </p:nvGraphicFramePr>
        <p:xfrm>
          <a:off x="1243106" y="2687320"/>
          <a:ext cx="8128000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195575079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974807971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343450752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241013176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4198166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i="1"/>
                        <a:t>ReadAll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i="1"/>
                        <a:t>Read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i="1"/>
                        <a:t>Write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i="1"/>
                        <a:t>Delete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44173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 b="1"/>
                        <a:t>Kunde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/>
                        <a:t>X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37484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 b="1"/>
                        <a:t>Bil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69688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 b="1"/>
                        <a:t>Leje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44152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100904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F3617B-C84E-4808-81EA-C4796DCED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Progression (ADORosBil_V1)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98060B80-E951-484E-B689-95304FC4B4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9569824" cy="4351338"/>
          </a:xfrm>
        </p:spPr>
        <p:txBody>
          <a:bodyPr/>
          <a:lstStyle/>
          <a:p>
            <a:r>
              <a:rPr lang="da-DK"/>
              <a:t>Dedikeret klasse </a:t>
            </a:r>
            <a:r>
              <a:rPr lang="da-DK" b="1"/>
              <a:t>DBMethodsKunde</a:t>
            </a:r>
            <a:r>
              <a:rPr lang="da-DK"/>
              <a:t> for read/write/delete-funktionalitet (specifik for </a:t>
            </a:r>
            <a:r>
              <a:rPr lang="da-DK" b="1"/>
              <a:t>Kunde</a:t>
            </a:r>
            <a:r>
              <a:rPr lang="da-DK"/>
              <a:t>) </a:t>
            </a:r>
            <a:endParaRPr lang="da-DK" b="1"/>
          </a:p>
          <a:p>
            <a:r>
              <a:rPr lang="da-DK"/>
              <a:t>Benyttes i </a:t>
            </a:r>
            <a:r>
              <a:rPr lang="da-DK" b="1"/>
              <a:t>Program.cs</a:t>
            </a:r>
          </a:p>
        </p:txBody>
      </p:sp>
    </p:spTree>
    <p:extLst>
      <p:ext uri="{BB962C8B-B14F-4D97-AF65-F5344CB8AC3E}">
        <p14:creationId xmlns:p14="http://schemas.microsoft.com/office/powerpoint/2010/main" val="24025081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4C78D-DE07-482D-A40A-93CC5B20D9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Progression (ADORosBil_V1)</a:t>
            </a:r>
          </a:p>
        </p:txBody>
      </p:sp>
      <p:graphicFrame>
        <p:nvGraphicFramePr>
          <p:cNvPr id="4" name="Tabel 3">
            <a:extLst>
              <a:ext uri="{FF2B5EF4-FFF2-40B4-BE49-F238E27FC236}">
                <a16:creationId xmlns:a16="http://schemas.microsoft.com/office/drawing/2014/main" id="{2B822CF7-661D-4F25-8128-9734BE5506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8715402"/>
              </p:ext>
            </p:extLst>
          </p:nvPr>
        </p:nvGraphicFramePr>
        <p:xfrm>
          <a:off x="1243106" y="2687320"/>
          <a:ext cx="8128000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195575079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974807971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343450752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241013176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4198166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i="1"/>
                        <a:t>ReadAll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i="1"/>
                        <a:t>Read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i="1"/>
                        <a:t>Write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i="1"/>
                        <a:t>Delete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44173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 b="1"/>
                        <a:t>Kunde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/>
                        <a:t>X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/>
                        <a:t>X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/>
                        <a:t>X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37484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 b="1"/>
                        <a:t>Bil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69688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 b="1"/>
                        <a:t>Leje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44152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358939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F3617B-C84E-4808-81EA-C4796DCED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Progression (ADORosBil_V2)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98060B80-E951-484E-B689-95304FC4B4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9569824" cy="4351338"/>
          </a:xfrm>
        </p:spPr>
        <p:txBody>
          <a:bodyPr/>
          <a:lstStyle/>
          <a:p>
            <a:r>
              <a:rPr lang="da-DK"/>
              <a:t>Base-klasse </a:t>
            </a:r>
            <a:r>
              <a:rPr lang="da-DK" b="1"/>
              <a:t>DBMethodsBase</a:t>
            </a:r>
            <a:r>
              <a:rPr lang="da-DK"/>
              <a:t> (parameterisering, brug af Generics (type-parameterisering), abstrakte metoder)</a:t>
            </a:r>
          </a:p>
          <a:p>
            <a:r>
              <a:rPr lang="da-DK"/>
              <a:t>Implementerer nu også </a:t>
            </a:r>
            <a:r>
              <a:rPr lang="da-DK" b="1"/>
              <a:t>Read</a:t>
            </a:r>
            <a:r>
              <a:rPr lang="da-DK"/>
              <a:t> (af enkelt objekt)</a:t>
            </a:r>
          </a:p>
          <a:p>
            <a:r>
              <a:rPr lang="da-DK" b="1"/>
              <a:t>DBMethods </a:t>
            </a:r>
            <a:r>
              <a:rPr lang="da-DK"/>
              <a:t>sub-klasser svarende til </a:t>
            </a:r>
            <a:r>
              <a:rPr lang="da-DK" b="1"/>
              <a:t>Kunde</a:t>
            </a:r>
            <a:r>
              <a:rPr lang="da-DK"/>
              <a:t>, </a:t>
            </a:r>
            <a:r>
              <a:rPr lang="da-DK" b="1"/>
              <a:t>Bil</a:t>
            </a:r>
            <a:r>
              <a:rPr lang="da-DK"/>
              <a:t> og </a:t>
            </a:r>
            <a:r>
              <a:rPr lang="da-DK" b="1"/>
              <a:t>Leje</a:t>
            </a:r>
            <a:r>
              <a:rPr lang="da-DK"/>
              <a:t>.</a:t>
            </a:r>
          </a:p>
          <a:p>
            <a:r>
              <a:rPr lang="da-DK" b="1"/>
              <a:t>DBMethods</a:t>
            </a:r>
            <a:r>
              <a:rPr lang="da-DK"/>
              <a:t>…-klasser vælger </a:t>
            </a:r>
            <a:r>
              <a:rPr lang="da-DK" b="1"/>
              <a:t>Id</a:t>
            </a:r>
            <a:r>
              <a:rPr lang="da-DK"/>
              <a:t> for nye objekter</a:t>
            </a:r>
          </a:p>
          <a:p>
            <a:r>
              <a:rPr lang="da-DK"/>
              <a:t>Eksempel på brug af kompleks query (</a:t>
            </a:r>
            <a:r>
              <a:rPr lang="da-DK" b="1"/>
              <a:t>DBMethodsLejeJoin</a:t>
            </a:r>
            <a:r>
              <a:rPr lang="da-DK"/>
              <a:t>)</a:t>
            </a:r>
          </a:p>
          <a:p>
            <a:r>
              <a:rPr lang="da-DK"/>
              <a:t>Benyttes i </a:t>
            </a:r>
            <a:r>
              <a:rPr lang="da-DK" b="1"/>
              <a:t>Program.cs</a:t>
            </a:r>
          </a:p>
        </p:txBody>
      </p:sp>
    </p:spTree>
    <p:extLst>
      <p:ext uri="{BB962C8B-B14F-4D97-AF65-F5344CB8AC3E}">
        <p14:creationId xmlns:p14="http://schemas.microsoft.com/office/powerpoint/2010/main" val="11067825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4C78D-DE07-482D-A40A-93CC5B20D9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Progression (ADORosBil_V2)</a:t>
            </a:r>
          </a:p>
        </p:txBody>
      </p:sp>
      <p:graphicFrame>
        <p:nvGraphicFramePr>
          <p:cNvPr id="4" name="Tabel 3">
            <a:extLst>
              <a:ext uri="{FF2B5EF4-FFF2-40B4-BE49-F238E27FC236}">
                <a16:creationId xmlns:a16="http://schemas.microsoft.com/office/drawing/2014/main" id="{2B822CF7-661D-4F25-8128-9734BE5506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2239661"/>
              </p:ext>
            </p:extLst>
          </p:nvPr>
        </p:nvGraphicFramePr>
        <p:xfrm>
          <a:off x="1243106" y="2687320"/>
          <a:ext cx="8128000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195575079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974807971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343450752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241013176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4198166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i="1"/>
                        <a:t>ReadAll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i="1"/>
                        <a:t>Read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i="1"/>
                        <a:t>Write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i="1"/>
                        <a:t>Delete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44173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 b="1"/>
                        <a:t>Kunde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/>
                        <a:t>X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/>
                        <a:t>X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/>
                        <a:t>X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/>
                        <a:t>X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37484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 b="1"/>
                        <a:t>Bil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/>
                        <a:t>X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/>
                        <a:t>X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/>
                        <a:t>X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/>
                        <a:t>X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69688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 b="1"/>
                        <a:t>Leje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/>
                        <a:t>X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/>
                        <a:t>X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/>
                        <a:t>X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/>
                        <a:t>X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44152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859048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F3617B-C84E-4808-81EA-C4796DCED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Progression (ADORosBil_V3)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98060B80-E951-484E-B689-95304FC4B4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313894" cy="4736540"/>
          </a:xfrm>
        </p:spPr>
        <p:txBody>
          <a:bodyPr/>
          <a:lstStyle/>
          <a:p>
            <a:r>
              <a:rPr lang="da-DK" b="1"/>
              <a:t>Repository-overbygning</a:t>
            </a:r>
            <a:r>
              <a:rPr lang="da-DK"/>
              <a:t> på </a:t>
            </a:r>
            <a:r>
              <a:rPr lang="da-DK" b="1"/>
              <a:t>DBMethods </a:t>
            </a:r>
            <a:r>
              <a:rPr lang="da-DK"/>
              <a:t>(eksempel på </a:t>
            </a:r>
            <a:r>
              <a:rPr lang="da-DK" i="1"/>
              <a:t>Adapter-pattern</a:t>
            </a:r>
            <a:r>
              <a:rPr lang="da-DK"/>
              <a:t>).</a:t>
            </a:r>
          </a:p>
          <a:p>
            <a:r>
              <a:rPr lang="da-DK" b="1"/>
              <a:t>Repository</a:t>
            </a:r>
            <a:r>
              <a:rPr lang="da-DK"/>
              <a:t> er tænkt som et ”teknologi-neutralt” interface til </a:t>
            </a:r>
            <a:r>
              <a:rPr lang="da-DK" i="1"/>
              <a:t>ADO.Net</a:t>
            </a:r>
            <a:r>
              <a:rPr lang="da-DK"/>
              <a:t>-baseret funktionalitet.</a:t>
            </a:r>
          </a:p>
          <a:p>
            <a:r>
              <a:rPr lang="da-DK"/>
              <a:t>Centralt interface: </a:t>
            </a:r>
            <a:r>
              <a:rPr lang="da-DK" b="1"/>
              <a:t>IRepository</a:t>
            </a:r>
            <a:r>
              <a:rPr lang="da-DK"/>
              <a:t>, central klasse: </a:t>
            </a:r>
            <a:r>
              <a:rPr lang="da-DK" b="1"/>
              <a:t>ADORepositoryBase</a:t>
            </a:r>
            <a:r>
              <a:rPr lang="da-DK"/>
              <a:t>.</a:t>
            </a:r>
          </a:p>
          <a:p>
            <a:r>
              <a:rPr lang="da-DK" b="1"/>
              <a:t>DataService</a:t>
            </a:r>
            <a:r>
              <a:rPr lang="da-DK"/>
              <a:t> giver samlet adgang til repositories.</a:t>
            </a:r>
          </a:p>
          <a:p>
            <a:r>
              <a:rPr lang="da-DK"/>
              <a:t>Klasser i </a:t>
            </a:r>
            <a:r>
              <a:rPr lang="da-DK" b="1"/>
              <a:t>UI</a:t>
            </a:r>
            <a:r>
              <a:rPr lang="da-DK"/>
              <a:t>-folder simulerer en opbygning af afhængigheder a la hvad vi ser i en </a:t>
            </a:r>
            <a:r>
              <a:rPr lang="da-DK" i="1"/>
              <a:t>Razor Pages </a:t>
            </a:r>
            <a:r>
              <a:rPr lang="da-DK"/>
              <a:t>app.</a:t>
            </a:r>
          </a:p>
          <a:p>
            <a:r>
              <a:rPr lang="da-DK"/>
              <a:t>Benyttes i </a:t>
            </a:r>
            <a:r>
              <a:rPr lang="da-DK" b="1"/>
              <a:t>Program.cs</a:t>
            </a:r>
          </a:p>
        </p:txBody>
      </p:sp>
    </p:spTree>
    <p:extLst>
      <p:ext uri="{BB962C8B-B14F-4D97-AF65-F5344CB8AC3E}">
        <p14:creationId xmlns:p14="http://schemas.microsoft.com/office/powerpoint/2010/main" val="37911957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4C78D-DE07-482D-A40A-93CC5B20D9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860741" cy="1325563"/>
          </a:xfrm>
        </p:spPr>
        <p:txBody>
          <a:bodyPr/>
          <a:lstStyle/>
          <a:p>
            <a:r>
              <a:rPr lang="da-DK"/>
              <a:t>Progression (ADORosBil_V3, samme som _v2)</a:t>
            </a:r>
          </a:p>
        </p:txBody>
      </p:sp>
      <p:graphicFrame>
        <p:nvGraphicFramePr>
          <p:cNvPr id="4" name="Tabel 3">
            <a:extLst>
              <a:ext uri="{FF2B5EF4-FFF2-40B4-BE49-F238E27FC236}">
                <a16:creationId xmlns:a16="http://schemas.microsoft.com/office/drawing/2014/main" id="{2B822CF7-661D-4F25-8128-9734BE550651}"/>
              </a:ext>
            </a:extLst>
          </p:cNvPr>
          <p:cNvGraphicFramePr>
            <a:graphicFrameLocks noGrp="1"/>
          </p:cNvGraphicFramePr>
          <p:nvPr/>
        </p:nvGraphicFramePr>
        <p:xfrm>
          <a:off x="1243106" y="2687320"/>
          <a:ext cx="8128000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195575079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974807971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343450752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241013176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4198166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i="1"/>
                        <a:t>ReadAll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i="1"/>
                        <a:t>Read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i="1"/>
                        <a:t>Write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i="1"/>
                        <a:t>Delete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44173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 b="1"/>
                        <a:t>Kunde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/>
                        <a:t>X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/>
                        <a:t>X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/>
                        <a:t>X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/>
                        <a:t>X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37484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 b="1"/>
                        <a:t>Bil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/>
                        <a:t>X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/>
                        <a:t>X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/>
                        <a:t>X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/>
                        <a:t>X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69688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 b="1"/>
                        <a:t>Leje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/>
                        <a:t>X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/>
                        <a:t>X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/>
                        <a:t>X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/>
                        <a:t>X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44152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708310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F3617B-C84E-4808-81EA-C4796DCED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SKAL man bruge alle disse overbygninger…!?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98060B80-E951-484E-B689-95304FC4B4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313894" cy="4736540"/>
          </a:xfrm>
        </p:spPr>
        <p:txBody>
          <a:bodyPr/>
          <a:lstStyle/>
          <a:p>
            <a:r>
              <a:rPr lang="da-DK"/>
              <a:t>Nej, ikke nødvendigvis </a:t>
            </a:r>
            <a:r>
              <a:rPr lang="da-DK">
                <a:sym typeface="Wingdings" panose="05000000000000000000" pitchFamily="2" charset="2"/>
              </a:rPr>
              <a:t>.</a:t>
            </a:r>
          </a:p>
          <a:p>
            <a:r>
              <a:rPr lang="da-DK">
                <a:sym typeface="Wingdings" panose="05000000000000000000" pitchFamily="2" charset="2"/>
              </a:rPr>
              <a:t>Øvelserne (_V2 og _V3) skal </a:t>
            </a:r>
            <a:r>
              <a:rPr lang="da-DK" u="sng">
                <a:sym typeface="Wingdings" panose="05000000000000000000" pitchFamily="2" charset="2"/>
              </a:rPr>
              <a:t>demonstrere</a:t>
            </a:r>
            <a:r>
              <a:rPr lang="da-DK">
                <a:sym typeface="Wingdings" panose="05000000000000000000" pitchFamily="2" charset="2"/>
              </a:rPr>
              <a:t>, hvordan man kan lave og bruge sådanne overbygninger.</a:t>
            </a:r>
          </a:p>
          <a:p>
            <a:r>
              <a:rPr lang="da-DK">
                <a:sym typeface="Wingdings" panose="05000000000000000000" pitchFamily="2" charset="2"/>
              </a:rPr>
              <a:t>Man skal altid overveje, om man synes det er umagen værd.</a:t>
            </a:r>
          </a:p>
          <a:p>
            <a:r>
              <a:rPr lang="da-DK">
                <a:sym typeface="Wingdings" panose="05000000000000000000" pitchFamily="2" charset="2"/>
              </a:rPr>
              <a:t>MEN husk at have argumenterne i orden og skrevet ned, lige meget hvilken tilgang man vælger!</a:t>
            </a:r>
          </a:p>
          <a:p>
            <a:r>
              <a:rPr lang="da-DK">
                <a:sym typeface="Wingdings" panose="05000000000000000000" pitchFamily="2" charset="2"/>
              </a:rPr>
              <a:t>Hvis I bruger de mere avancerede elementer viser I jo også mig (og censor!) hvor dygtige I er .</a:t>
            </a:r>
          </a:p>
          <a:p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8064826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20B2C4A-6B06-46EC-9430-E37B3440AC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Tilføj </a:t>
            </a:r>
            <a:r>
              <a:rPr lang="da-DK" b="1"/>
              <a:t>Medarbejder</a:t>
            </a:r>
            <a:r>
              <a:rPr lang="da-DK"/>
              <a:t> til </a:t>
            </a:r>
            <a:r>
              <a:rPr lang="da-DK" b="1"/>
              <a:t>RosBil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8A345F27-81B2-4D52-A4AE-F1BB7DF6F4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/>
              <a:t>Ny klasse/tabel </a:t>
            </a:r>
            <a:r>
              <a:rPr lang="da-DK" b="1"/>
              <a:t>Medarbejder</a:t>
            </a:r>
            <a:r>
              <a:rPr lang="da-DK"/>
              <a:t> (se opgavetekst)</a:t>
            </a:r>
          </a:p>
          <a:p>
            <a:r>
              <a:rPr lang="da-DK"/>
              <a:t>Vælg det projekt (fra _V1 til _V3), hvor I synes det giver mest mening at gøre dette.</a:t>
            </a:r>
          </a:p>
          <a:p>
            <a:r>
              <a:rPr lang="da-DK"/>
              <a:t>Prøv også gerne at lade </a:t>
            </a:r>
            <a:r>
              <a:rPr lang="da-DK" b="1"/>
              <a:t>Leje</a:t>
            </a:r>
            <a:r>
              <a:rPr lang="da-DK"/>
              <a:t> referere til en </a:t>
            </a:r>
            <a:r>
              <a:rPr lang="da-DK" b="1"/>
              <a:t>Medarbejder</a:t>
            </a:r>
            <a:r>
              <a:rPr lang="da-DK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565941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20B2C4A-6B06-46EC-9430-E37B3440AC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Tilføj </a:t>
            </a:r>
            <a:r>
              <a:rPr lang="da-DK" b="1"/>
              <a:t>Medarbejder</a:t>
            </a:r>
            <a:r>
              <a:rPr lang="da-DK"/>
              <a:t> til </a:t>
            </a:r>
            <a:r>
              <a:rPr lang="da-DK" b="1"/>
              <a:t>RosBil</a:t>
            </a:r>
          </a:p>
        </p:txBody>
      </p:sp>
      <p:graphicFrame>
        <p:nvGraphicFramePr>
          <p:cNvPr id="6" name="Tabel 5">
            <a:extLst>
              <a:ext uri="{FF2B5EF4-FFF2-40B4-BE49-F238E27FC236}">
                <a16:creationId xmlns:a16="http://schemas.microsoft.com/office/drawing/2014/main" id="{3E49AC33-7692-4E0C-A829-D0927378E8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6988016"/>
              </p:ext>
            </p:extLst>
          </p:nvPr>
        </p:nvGraphicFramePr>
        <p:xfrm>
          <a:off x="1538943" y="1873624"/>
          <a:ext cx="6932703" cy="461925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10901">
                  <a:extLst>
                    <a:ext uri="{9D8B030D-6E8A-4147-A177-3AD203B41FA5}">
                      <a16:colId xmlns:a16="http://schemas.microsoft.com/office/drawing/2014/main" val="3175473258"/>
                    </a:ext>
                  </a:extLst>
                </a:gridCol>
                <a:gridCol w="2310901">
                  <a:extLst>
                    <a:ext uri="{9D8B030D-6E8A-4147-A177-3AD203B41FA5}">
                      <a16:colId xmlns:a16="http://schemas.microsoft.com/office/drawing/2014/main" val="3329588413"/>
                    </a:ext>
                  </a:extLst>
                </a:gridCol>
                <a:gridCol w="2310901">
                  <a:extLst>
                    <a:ext uri="{9D8B030D-6E8A-4147-A177-3AD203B41FA5}">
                      <a16:colId xmlns:a16="http://schemas.microsoft.com/office/drawing/2014/main" val="2130737670"/>
                    </a:ext>
                  </a:extLst>
                </a:gridCol>
              </a:tblGrid>
              <a:tr h="1154813"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i="1"/>
                        <a:t>Tilføj </a:t>
                      </a:r>
                      <a:r>
                        <a:rPr lang="da-DK" b="1" i="1"/>
                        <a:t>Medarbejder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i="1"/>
                        <a:t>Få </a:t>
                      </a:r>
                      <a:r>
                        <a:rPr lang="da-DK" b="1" i="1"/>
                        <a:t>Leje</a:t>
                      </a:r>
                      <a:r>
                        <a:rPr lang="da-DK" i="1"/>
                        <a:t> til at referere til </a:t>
                      </a:r>
                      <a:r>
                        <a:rPr lang="da-DK" b="1" i="1"/>
                        <a:t>Medarbejder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5930691"/>
                  </a:ext>
                </a:extLst>
              </a:tr>
              <a:tr h="1154813">
                <a:tc>
                  <a:txBody>
                    <a:bodyPr/>
                    <a:lstStyle/>
                    <a:p>
                      <a:r>
                        <a:rPr lang="da-DK" b="1"/>
                        <a:t>ADORosBil_V1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1796770"/>
                  </a:ext>
                </a:extLst>
              </a:tr>
              <a:tr h="1154813">
                <a:tc>
                  <a:txBody>
                    <a:bodyPr/>
                    <a:lstStyle/>
                    <a:p>
                      <a:r>
                        <a:rPr lang="da-DK" b="1"/>
                        <a:t>ADORosBil_V2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6009175"/>
                  </a:ext>
                </a:extLst>
              </a:tr>
              <a:tr h="1154813">
                <a:tc>
                  <a:txBody>
                    <a:bodyPr/>
                    <a:lstStyle/>
                    <a:p>
                      <a:r>
                        <a:rPr lang="da-DK" b="1"/>
                        <a:t>ADORosBil_V3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3498431"/>
                  </a:ext>
                </a:extLst>
              </a:tr>
            </a:tbl>
          </a:graphicData>
        </a:graphic>
      </p:graphicFrame>
      <p:sp>
        <p:nvSpPr>
          <p:cNvPr id="7" name="Ellipse 6">
            <a:extLst>
              <a:ext uri="{FF2B5EF4-FFF2-40B4-BE49-F238E27FC236}">
                <a16:creationId xmlns:a16="http://schemas.microsoft.com/office/drawing/2014/main" id="{274EC47F-6928-4856-AD2F-587C1CD1DB72}"/>
              </a:ext>
            </a:extLst>
          </p:cNvPr>
          <p:cNvSpPr/>
          <p:nvPr/>
        </p:nvSpPr>
        <p:spPr>
          <a:xfrm>
            <a:off x="4669116" y="3290047"/>
            <a:ext cx="672353" cy="64545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2400"/>
              <a:t>1</a:t>
            </a:r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F66C9146-D81C-47C6-8BFA-F3B59C399CFB}"/>
              </a:ext>
            </a:extLst>
          </p:cNvPr>
          <p:cNvSpPr/>
          <p:nvPr/>
        </p:nvSpPr>
        <p:spPr>
          <a:xfrm>
            <a:off x="4669116" y="4456673"/>
            <a:ext cx="672353" cy="64545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2400"/>
              <a:t>2</a:t>
            </a:r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E3BDD632-D7B2-474A-8D68-EE27BC8A5722}"/>
              </a:ext>
            </a:extLst>
          </p:cNvPr>
          <p:cNvSpPr/>
          <p:nvPr/>
        </p:nvSpPr>
        <p:spPr>
          <a:xfrm>
            <a:off x="4669115" y="5623299"/>
            <a:ext cx="672353" cy="64545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2400"/>
              <a:t>3</a:t>
            </a:r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E6F35CC2-971C-4B1F-A480-5FD51AD4A047}"/>
              </a:ext>
            </a:extLst>
          </p:cNvPr>
          <p:cNvSpPr/>
          <p:nvPr/>
        </p:nvSpPr>
        <p:spPr>
          <a:xfrm>
            <a:off x="6990974" y="4456673"/>
            <a:ext cx="672353" cy="64545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2400"/>
              <a:t>3</a:t>
            </a:r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AD265381-813D-4521-9C7E-419BDCC54AE1}"/>
              </a:ext>
            </a:extLst>
          </p:cNvPr>
          <p:cNvSpPr/>
          <p:nvPr/>
        </p:nvSpPr>
        <p:spPr>
          <a:xfrm>
            <a:off x="6990974" y="5623299"/>
            <a:ext cx="672353" cy="64545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2400"/>
              <a:t>4</a:t>
            </a:r>
          </a:p>
        </p:txBody>
      </p:sp>
      <p:cxnSp>
        <p:nvCxnSpPr>
          <p:cNvPr id="13" name="Lige pilforbindelse 12">
            <a:extLst>
              <a:ext uri="{FF2B5EF4-FFF2-40B4-BE49-F238E27FC236}">
                <a16:creationId xmlns:a16="http://schemas.microsoft.com/office/drawing/2014/main" id="{78E2E271-12B8-4C77-8CB7-21F7D1A9EE38}"/>
              </a:ext>
            </a:extLst>
          </p:cNvPr>
          <p:cNvCxnSpPr>
            <a:cxnSpLocks/>
          </p:cNvCxnSpPr>
          <p:nvPr/>
        </p:nvCxnSpPr>
        <p:spPr>
          <a:xfrm>
            <a:off x="5553635" y="5946028"/>
            <a:ext cx="1250577" cy="0"/>
          </a:xfrm>
          <a:prstGeom prst="straightConnector1">
            <a:avLst/>
          </a:prstGeom>
          <a:ln w="38100">
            <a:tailEnd type="arrow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Lige pilforbindelse 15">
            <a:extLst>
              <a:ext uri="{FF2B5EF4-FFF2-40B4-BE49-F238E27FC236}">
                <a16:creationId xmlns:a16="http://schemas.microsoft.com/office/drawing/2014/main" id="{B39D0C83-2E20-40D1-B5E1-A2D8E6EB17D1}"/>
              </a:ext>
            </a:extLst>
          </p:cNvPr>
          <p:cNvCxnSpPr>
            <a:cxnSpLocks/>
          </p:cNvCxnSpPr>
          <p:nvPr/>
        </p:nvCxnSpPr>
        <p:spPr>
          <a:xfrm>
            <a:off x="5005291" y="3977062"/>
            <a:ext cx="0" cy="412376"/>
          </a:xfrm>
          <a:prstGeom prst="straightConnector1">
            <a:avLst/>
          </a:prstGeom>
          <a:ln w="38100">
            <a:tailEnd type="arrow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Lige pilforbindelse 16">
            <a:extLst>
              <a:ext uri="{FF2B5EF4-FFF2-40B4-BE49-F238E27FC236}">
                <a16:creationId xmlns:a16="http://schemas.microsoft.com/office/drawing/2014/main" id="{ECC8846B-7959-4130-8C69-8374024907CE}"/>
              </a:ext>
            </a:extLst>
          </p:cNvPr>
          <p:cNvCxnSpPr>
            <a:cxnSpLocks/>
          </p:cNvCxnSpPr>
          <p:nvPr/>
        </p:nvCxnSpPr>
        <p:spPr>
          <a:xfrm>
            <a:off x="5005291" y="5164886"/>
            <a:ext cx="0" cy="412376"/>
          </a:xfrm>
          <a:prstGeom prst="straightConnector1">
            <a:avLst/>
          </a:prstGeom>
          <a:ln w="38100">
            <a:tailEnd type="arrow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Lige pilforbindelse 18">
            <a:extLst>
              <a:ext uri="{FF2B5EF4-FFF2-40B4-BE49-F238E27FC236}">
                <a16:creationId xmlns:a16="http://schemas.microsoft.com/office/drawing/2014/main" id="{CB51A522-DEB1-412C-895C-E971893E6AA2}"/>
              </a:ext>
            </a:extLst>
          </p:cNvPr>
          <p:cNvCxnSpPr>
            <a:cxnSpLocks/>
          </p:cNvCxnSpPr>
          <p:nvPr/>
        </p:nvCxnSpPr>
        <p:spPr>
          <a:xfrm>
            <a:off x="5540188" y="4797331"/>
            <a:ext cx="1264024" cy="0"/>
          </a:xfrm>
          <a:prstGeom prst="straightConnector1">
            <a:avLst/>
          </a:prstGeom>
          <a:ln w="38100">
            <a:tailEnd type="arrow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" name="Lige pilforbindelse 21">
            <a:extLst>
              <a:ext uri="{FF2B5EF4-FFF2-40B4-BE49-F238E27FC236}">
                <a16:creationId xmlns:a16="http://schemas.microsoft.com/office/drawing/2014/main" id="{4027CF09-20BF-4F98-ACD2-0E9212377EF5}"/>
              </a:ext>
            </a:extLst>
          </p:cNvPr>
          <p:cNvCxnSpPr>
            <a:cxnSpLocks/>
          </p:cNvCxnSpPr>
          <p:nvPr/>
        </p:nvCxnSpPr>
        <p:spPr>
          <a:xfrm flipH="1">
            <a:off x="5341469" y="4968748"/>
            <a:ext cx="1614393" cy="748561"/>
          </a:xfrm>
          <a:prstGeom prst="straightConnector1">
            <a:avLst/>
          </a:prstGeom>
          <a:ln w="38100">
            <a:prstDash val="dash"/>
            <a:tailEnd type="arrow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97675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ktangel 3">
            <a:extLst>
              <a:ext uri="{FF2B5EF4-FFF2-40B4-BE49-F238E27FC236}">
                <a16:creationId xmlns:a16="http://schemas.microsoft.com/office/drawing/2014/main" id="{83041BC4-58B6-450B-B86E-9C0F50DCFBAE}"/>
              </a:ext>
            </a:extLst>
          </p:cNvPr>
          <p:cNvSpPr/>
          <p:nvPr/>
        </p:nvSpPr>
        <p:spPr>
          <a:xfrm>
            <a:off x="754144" y="725864"/>
            <a:ext cx="4760536" cy="56278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da-DK" sz="3200"/>
              <a:t>Program.cs</a:t>
            </a:r>
          </a:p>
        </p:txBody>
      </p:sp>
      <p:sp>
        <p:nvSpPr>
          <p:cNvPr id="5" name="Rektangel 4">
            <a:extLst>
              <a:ext uri="{FF2B5EF4-FFF2-40B4-BE49-F238E27FC236}">
                <a16:creationId xmlns:a16="http://schemas.microsoft.com/office/drawing/2014/main" id="{FD9ACCA6-6BD1-4D10-AC7E-C146C748EAE2}"/>
              </a:ext>
            </a:extLst>
          </p:cNvPr>
          <p:cNvSpPr/>
          <p:nvPr/>
        </p:nvSpPr>
        <p:spPr>
          <a:xfrm>
            <a:off x="6677322" y="725864"/>
            <a:ext cx="4760536" cy="5627802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da-DK" sz="3200"/>
              <a:t>DBMethodsBase</a:t>
            </a:r>
          </a:p>
        </p:txBody>
      </p:sp>
    </p:spTree>
    <p:extLst>
      <p:ext uri="{BB962C8B-B14F-4D97-AF65-F5344CB8AC3E}">
        <p14:creationId xmlns:p14="http://schemas.microsoft.com/office/powerpoint/2010/main" val="34468677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ktangel 3">
            <a:extLst>
              <a:ext uri="{FF2B5EF4-FFF2-40B4-BE49-F238E27FC236}">
                <a16:creationId xmlns:a16="http://schemas.microsoft.com/office/drawing/2014/main" id="{83041BC4-58B6-450B-B86E-9C0F50DCFBAE}"/>
              </a:ext>
            </a:extLst>
          </p:cNvPr>
          <p:cNvSpPr/>
          <p:nvPr/>
        </p:nvSpPr>
        <p:spPr>
          <a:xfrm>
            <a:off x="754144" y="725864"/>
            <a:ext cx="4760536" cy="56278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da-DK" sz="3200"/>
              <a:t>Program.cs</a:t>
            </a:r>
          </a:p>
        </p:txBody>
      </p:sp>
      <p:sp>
        <p:nvSpPr>
          <p:cNvPr id="5" name="Rektangel 4">
            <a:extLst>
              <a:ext uri="{FF2B5EF4-FFF2-40B4-BE49-F238E27FC236}">
                <a16:creationId xmlns:a16="http://schemas.microsoft.com/office/drawing/2014/main" id="{FD9ACCA6-6BD1-4D10-AC7E-C146C748EAE2}"/>
              </a:ext>
            </a:extLst>
          </p:cNvPr>
          <p:cNvSpPr/>
          <p:nvPr/>
        </p:nvSpPr>
        <p:spPr>
          <a:xfrm>
            <a:off x="6677322" y="725864"/>
            <a:ext cx="4760536" cy="5627802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da-DK" sz="3200"/>
              <a:t>DBMethodsBase</a:t>
            </a:r>
          </a:p>
        </p:txBody>
      </p:sp>
      <p:sp>
        <p:nvSpPr>
          <p:cNvPr id="6" name="Sky 5">
            <a:extLst>
              <a:ext uri="{FF2B5EF4-FFF2-40B4-BE49-F238E27FC236}">
                <a16:creationId xmlns:a16="http://schemas.microsoft.com/office/drawing/2014/main" id="{D6A9BFCE-C73C-429C-841A-FD7E3FCF9235}"/>
              </a:ext>
            </a:extLst>
          </p:cNvPr>
          <p:cNvSpPr/>
          <p:nvPr/>
        </p:nvSpPr>
        <p:spPr>
          <a:xfrm>
            <a:off x="1800519" y="3177850"/>
            <a:ext cx="3101419" cy="2780908"/>
          </a:xfrm>
          <a:prstGeom prst="cloud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3200"/>
              <a:t>Kunde</a:t>
            </a:r>
          </a:p>
        </p:txBody>
      </p:sp>
      <p:sp>
        <p:nvSpPr>
          <p:cNvPr id="7" name="Tekstfelt 6">
            <a:extLst>
              <a:ext uri="{FF2B5EF4-FFF2-40B4-BE49-F238E27FC236}">
                <a16:creationId xmlns:a16="http://schemas.microsoft.com/office/drawing/2014/main" id="{B00318A8-352A-442F-BC2B-751164757014}"/>
              </a:ext>
            </a:extLst>
          </p:cNvPr>
          <p:cNvSpPr txBox="1"/>
          <p:nvPr/>
        </p:nvSpPr>
        <p:spPr>
          <a:xfrm>
            <a:off x="1186643" y="2413610"/>
            <a:ext cx="2268698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2400">
                <a:solidFill>
                  <a:schemeClr val="bg1">
                    <a:lumMod val="95000"/>
                  </a:schemeClr>
                </a:solidFill>
              </a:rPr>
              <a:t>New Kunde(0,…)</a:t>
            </a:r>
          </a:p>
          <a:p>
            <a:endParaRPr lang="da-DK"/>
          </a:p>
        </p:txBody>
      </p:sp>
      <p:sp>
        <p:nvSpPr>
          <p:cNvPr id="2" name="Tekstfelt 1">
            <a:extLst>
              <a:ext uri="{FF2B5EF4-FFF2-40B4-BE49-F238E27FC236}">
                <a16:creationId xmlns:a16="http://schemas.microsoft.com/office/drawing/2014/main" id="{8C5C828C-13AF-4628-A168-2E437C9493FD}"/>
              </a:ext>
            </a:extLst>
          </p:cNvPr>
          <p:cNvSpPr txBox="1"/>
          <p:nvPr/>
        </p:nvSpPr>
        <p:spPr>
          <a:xfrm>
            <a:off x="2699036" y="4840020"/>
            <a:ext cx="8707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2400">
                <a:solidFill>
                  <a:schemeClr val="bg1">
                    <a:lumMod val="95000"/>
                  </a:schemeClr>
                </a:solidFill>
              </a:rPr>
              <a:t>Id = 0</a:t>
            </a:r>
          </a:p>
        </p:txBody>
      </p:sp>
    </p:spTree>
    <p:extLst>
      <p:ext uri="{BB962C8B-B14F-4D97-AF65-F5344CB8AC3E}">
        <p14:creationId xmlns:p14="http://schemas.microsoft.com/office/powerpoint/2010/main" val="23283529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ktangel 3">
            <a:extLst>
              <a:ext uri="{FF2B5EF4-FFF2-40B4-BE49-F238E27FC236}">
                <a16:creationId xmlns:a16="http://schemas.microsoft.com/office/drawing/2014/main" id="{83041BC4-58B6-450B-B86E-9C0F50DCFBAE}"/>
              </a:ext>
            </a:extLst>
          </p:cNvPr>
          <p:cNvSpPr/>
          <p:nvPr/>
        </p:nvSpPr>
        <p:spPr>
          <a:xfrm>
            <a:off x="754144" y="725864"/>
            <a:ext cx="4760536" cy="56278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da-DK" sz="3200"/>
              <a:t>Program.cs</a:t>
            </a:r>
          </a:p>
        </p:txBody>
      </p:sp>
      <p:sp>
        <p:nvSpPr>
          <p:cNvPr id="5" name="Rektangel 4">
            <a:extLst>
              <a:ext uri="{FF2B5EF4-FFF2-40B4-BE49-F238E27FC236}">
                <a16:creationId xmlns:a16="http://schemas.microsoft.com/office/drawing/2014/main" id="{FD9ACCA6-6BD1-4D10-AC7E-C146C748EAE2}"/>
              </a:ext>
            </a:extLst>
          </p:cNvPr>
          <p:cNvSpPr/>
          <p:nvPr/>
        </p:nvSpPr>
        <p:spPr>
          <a:xfrm>
            <a:off x="6677322" y="725864"/>
            <a:ext cx="4760536" cy="5627802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da-DK" sz="3200"/>
              <a:t>DBMethodsBase</a:t>
            </a:r>
          </a:p>
        </p:txBody>
      </p:sp>
      <p:sp>
        <p:nvSpPr>
          <p:cNvPr id="8" name="Sky 7">
            <a:extLst>
              <a:ext uri="{FF2B5EF4-FFF2-40B4-BE49-F238E27FC236}">
                <a16:creationId xmlns:a16="http://schemas.microsoft.com/office/drawing/2014/main" id="{6A99D0A6-EC00-449E-A123-1FA1A3BE6D27}"/>
              </a:ext>
            </a:extLst>
          </p:cNvPr>
          <p:cNvSpPr/>
          <p:nvPr/>
        </p:nvSpPr>
        <p:spPr>
          <a:xfrm>
            <a:off x="7506880" y="3177850"/>
            <a:ext cx="3101419" cy="2780908"/>
          </a:xfrm>
          <a:prstGeom prst="cloud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3200"/>
              <a:t>Kunde</a:t>
            </a:r>
          </a:p>
        </p:txBody>
      </p:sp>
      <p:cxnSp>
        <p:nvCxnSpPr>
          <p:cNvPr id="9" name="Lige pilforbindelse 8">
            <a:extLst>
              <a:ext uri="{FF2B5EF4-FFF2-40B4-BE49-F238E27FC236}">
                <a16:creationId xmlns:a16="http://schemas.microsoft.com/office/drawing/2014/main" id="{1CCEC24B-910D-42AA-B783-884658F010CA}"/>
              </a:ext>
            </a:extLst>
          </p:cNvPr>
          <p:cNvCxnSpPr>
            <a:cxnSpLocks/>
          </p:cNvCxnSpPr>
          <p:nvPr/>
        </p:nvCxnSpPr>
        <p:spPr>
          <a:xfrm>
            <a:off x="5125408" y="4505101"/>
            <a:ext cx="2227499" cy="0"/>
          </a:xfrm>
          <a:prstGeom prst="straightConnector1">
            <a:avLst/>
          </a:prstGeom>
          <a:ln w="38100">
            <a:tailEnd type="arrow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45688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ktangel 3">
            <a:extLst>
              <a:ext uri="{FF2B5EF4-FFF2-40B4-BE49-F238E27FC236}">
                <a16:creationId xmlns:a16="http://schemas.microsoft.com/office/drawing/2014/main" id="{83041BC4-58B6-450B-B86E-9C0F50DCFBAE}"/>
              </a:ext>
            </a:extLst>
          </p:cNvPr>
          <p:cNvSpPr/>
          <p:nvPr/>
        </p:nvSpPr>
        <p:spPr>
          <a:xfrm>
            <a:off x="754144" y="725864"/>
            <a:ext cx="4760536" cy="56278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da-DK" sz="3200"/>
              <a:t>Program.cs</a:t>
            </a:r>
          </a:p>
        </p:txBody>
      </p:sp>
      <p:sp>
        <p:nvSpPr>
          <p:cNvPr id="5" name="Rektangel 4">
            <a:extLst>
              <a:ext uri="{FF2B5EF4-FFF2-40B4-BE49-F238E27FC236}">
                <a16:creationId xmlns:a16="http://schemas.microsoft.com/office/drawing/2014/main" id="{FD9ACCA6-6BD1-4D10-AC7E-C146C748EAE2}"/>
              </a:ext>
            </a:extLst>
          </p:cNvPr>
          <p:cNvSpPr/>
          <p:nvPr/>
        </p:nvSpPr>
        <p:spPr>
          <a:xfrm>
            <a:off x="6677322" y="725864"/>
            <a:ext cx="4760536" cy="5627802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da-DK" sz="3200"/>
              <a:t>DBMethodsBase</a:t>
            </a:r>
          </a:p>
        </p:txBody>
      </p:sp>
      <p:sp>
        <p:nvSpPr>
          <p:cNvPr id="8" name="Sky 7">
            <a:extLst>
              <a:ext uri="{FF2B5EF4-FFF2-40B4-BE49-F238E27FC236}">
                <a16:creationId xmlns:a16="http://schemas.microsoft.com/office/drawing/2014/main" id="{6A99D0A6-EC00-449E-A123-1FA1A3BE6D27}"/>
              </a:ext>
            </a:extLst>
          </p:cNvPr>
          <p:cNvSpPr/>
          <p:nvPr/>
        </p:nvSpPr>
        <p:spPr>
          <a:xfrm>
            <a:off x="7506880" y="3177850"/>
            <a:ext cx="3101419" cy="2780908"/>
          </a:xfrm>
          <a:prstGeom prst="cloud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3200"/>
              <a:t>Kunde</a:t>
            </a:r>
          </a:p>
        </p:txBody>
      </p:sp>
      <p:sp>
        <p:nvSpPr>
          <p:cNvPr id="11" name="Tekstfelt 10">
            <a:extLst>
              <a:ext uri="{FF2B5EF4-FFF2-40B4-BE49-F238E27FC236}">
                <a16:creationId xmlns:a16="http://schemas.microsoft.com/office/drawing/2014/main" id="{430D1BC6-FD16-4BAB-88E1-479AE8F509EC}"/>
              </a:ext>
            </a:extLst>
          </p:cNvPr>
          <p:cNvSpPr txBox="1"/>
          <p:nvPr/>
        </p:nvSpPr>
        <p:spPr>
          <a:xfrm>
            <a:off x="7409468" y="2413610"/>
            <a:ext cx="29245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2400">
                <a:solidFill>
                  <a:schemeClr val="bg1">
                    <a:lumMod val="95000"/>
                  </a:schemeClr>
                </a:solidFill>
              </a:rPr>
              <a:t>t.Id = FindMaxId() + 1;</a:t>
            </a:r>
          </a:p>
        </p:txBody>
      </p:sp>
      <p:sp>
        <p:nvSpPr>
          <p:cNvPr id="10" name="Tekstfelt 9">
            <a:extLst>
              <a:ext uri="{FF2B5EF4-FFF2-40B4-BE49-F238E27FC236}">
                <a16:creationId xmlns:a16="http://schemas.microsoft.com/office/drawing/2014/main" id="{CC8BD043-31A5-4C66-8063-C20E11D49308}"/>
              </a:ext>
            </a:extLst>
          </p:cNvPr>
          <p:cNvSpPr txBox="1"/>
          <p:nvPr/>
        </p:nvSpPr>
        <p:spPr>
          <a:xfrm>
            <a:off x="8336265" y="4865596"/>
            <a:ext cx="8707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2400">
                <a:solidFill>
                  <a:schemeClr val="bg1">
                    <a:lumMod val="95000"/>
                  </a:schemeClr>
                </a:solidFill>
              </a:rPr>
              <a:t>Id = 7</a:t>
            </a:r>
          </a:p>
        </p:txBody>
      </p:sp>
    </p:spTree>
    <p:extLst>
      <p:ext uri="{BB962C8B-B14F-4D97-AF65-F5344CB8AC3E}">
        <p14:creationId xmlns:p14="http://schemas.microsoft.com/office/powerpoint/2010/main" val="1091306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illede 3">
            <a:extLst>
              <a:ext uri="{FF2B5EF4-FFF2-40B4-BE49-F238E27FC236}">
                <a16:creationId xmlns:a16="http://schemas.microsoft.com/office/drawing/2014/main" id="{5DE413E1-A313-429B-9D70-D4C43B0996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4467" y="110956"/>
            <a:ext cx="5654530" cy="2865368"/>
          </a:xfrm>
          <a:prstGeom prst="rect">
            <a:avLst/>
          </a:prstGeom>
        </p:spPr>
      </p:pic>
      <p:pic>
        <p:nvPicPr>
          <p:cNvPr id="5" name="Billede 4">
            <a:extLst>
              <a:ext uri="{FF2B5EF4-FFF2-40B4-BE49-F238E27FC236}">
                <a16:creationId xmlns:a16="http://schemas.microsoft.com/office/drawing/2014/main" id="{5A3E492D-4B43-45E6-B950-E7081443F1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154" y="3429000"/>
            <a:ext cx="11293230" cy="2909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50050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illede 3">
            <a:extLst>
              <a:ext uri="{FF2B5EF4-FFF2-40B4-BE49-F238E27FC236}">
                <a16:creationId xmlns:a16="http://schemas.microsoft.com/office/drawing/2014/main" id="{5DE413E1-A313-429B-9D70-D4C43B0996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610" y="2128292"/>
            <a:ext cx="4729410" cy="2396574"/>
          </a:xfrm>
          <a:prstGeom prst="rect">
            <a:avLst/>
          </a:prstGeom>
        </p:spPr>
      </p:pic>
      <p:pic>
        <p:nvPicPr>
          <p:cNvPr id="2" name="Billede 1">
            <a:extLst>
              <a:ext uri="{FF2B5EF4-FFF2-40B4-BE49-F238E27FC236}">
                <a16:creationId xmlns:a16="http://schemas.microsoft.com/office/drawing/2014/main" id="{715229FF-B7D6-4969-AF6D-9600324B8F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0196" y="1248105"/>
            <a:ext cx="7052013" cy="4332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9884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el 3">
            <a:extLst>
              <a:ext uri="{FF2B5EF4-FFF2-40B4-BE49-F238E27FC236}">
                <a16:creationId xmlns:a16="http://schemas.microsoft.com/office/drawing/2014/main" id="{C5AA2002-6711-4DE5-83C3-3DB4355A27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5741446"/>
              </p:ext>
            </p:extLst>
          </p:nvPr>
        </p:nvGraphicFramePr>
        <p:xfrm>
          <a:off x="843280" y="719666"/>
          <a:ext cx="10505439" cy="1630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00777">
                  <a:extLst>
                    <a:ext uri="{9D8B030D-6E8A-4147-A177-3AD203B41FA5}">
                      <a16:colId xmlns:a16="http://schemas.microsoft.com/office/drawing/2014/main" val="4203274191"/>
                    </a:ext>
                  </a:extLst>
                </a:gridCol>
                <a:gridCol w="1500777">
                  <a:extLst>
                    <a:ext uri="{9D8B030D-6E8A-4147-A177-3AD203B41FA5}">
                      <a16:colId xmlns:a16="http://schemas.microsoft.com/office/drawing/2014/main" val="2520217674"/>
                    </a:ext>
                  </a:extLst>
                </a:gridCol>
                <a:gridCol w="1500777">
                  <a:extLst>
                    <a:ext uri="{9D8B030D-6E8A-4147-A177-3AD203B41FA5}">
                      <a16:colId xmlns:a16="http://schemas.microsoft.com/office/drawing/2014/main" val="3417181706"/>
                    </a:ext>
                  </a:extLst>
                </a:gridCol>
                <a:gridCol w="1500777">
                  <a:extLst>
                    <a:ext uri="{9D8B030D-6E8A-4147-A177-3AD203B41FA5}">
                      <a16:colId xmlns:a16="http://schemas.microsoft.com/office/drawing/2014/main" val="1317891511"/>
                    </a:ext>
                  </a:extLst>
                </a:gridCol>
                <a:gridCol w="1500777">
                  <a:extLst>
                    <a:ext uri="{9D8B030D-6E8A-4147-A177-3AD203B41FA5}">
                      <a16:colId xmlns:a16="http://schemas.microsoft.com/office/drawing/2014/main" val="267588866"/>
                    </a:ext>
                  </a:extLst>
                </a:gridCol>
                <a:gridCol w="1500777">
                  <a:extLst>
                    <a:ext uri="{9D8B030D-6E8A-4147-A177-3AD203B41FA5}">
                      <a16:colId xmlns:a16="http://schemas.microsoft.com/office/drawing/2014/main" val="941489531"/>
                    </a:ext>
                  </a:extLst>
                </a:gridCol>
                <a:gridCol w="1500777">
                  <a:extLst>
                    <a:ext uri="{9D8B030D-6E8A-4147-A177-3AD203B41FA5}">
                      <a16:colId xmlns:a16="http://schemas.microsoft.com/office/drawing/2014/main" val="32684722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da-DK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sz="1400" b="1"/>
                        <a:t>Medarb. tabel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400" b="1"/>
                        <a:t>Medarb. klasse</a:t>
                      </a:r>
                    </a:p>
                    <a:p>
                      <a:endParaRPr lang="da-DK" sz="14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sz="1400" b="1"/>
                        <a:t>DBMMedarb.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sz="14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MedarbRepo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sz="1400" b="1"/>
                        <a:t>DataService/UI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sz="1400" b="1"/>
                        <a:t>Program.cs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45197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 sz="1400" b="1"/>
                        <a:t>V1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sz="1400"/>
                        <a:t>Tilføjet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sz="1400"/>
                        <a:t>Tilføjet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sz="1400"/>
                        <a:t>Tilføjet (lang)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sz="1400"/>
                        <a:t>Tilføj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98200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 sz="1400" b="1"/>
                        <a:t>V2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sz="1400"/>
                        <a:t>(Tilføjet)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sz="1400"/>
                        <a:t>(Tilføjet) CP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sz="1400"/>
                        <a:t>Tilføjet (kort)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sz="1400"/>
                        <a:t>Tilføj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41376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 sz="1400" b="1"/>
                        <a:t>V3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sz="1400"/>
                        <a:t>(Tilføjet)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sz="1400"/>
                        <a:t>(Tilføjet) CP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sz="1400"/>
                        <a:t>Tilføjet (kort) CP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sz="1400"/>
                        <a:t>Tilføjet (minimal)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sz="1400"/>
                        <a:t>Opdateret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sz="1400"/>
                        <a:t>Tilføj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1346625"/>
                  </a:ext>
                </a:extLst>
              </a:tr>
            </a:tbl>
          </a:graphicData>
        </a:graphic>
      </p:graphicFrame>
      <p:sp>
        <p:nvSpPr>
          <p:cNvPr id="5" name="Tekstfelt 4">
            <a:extLst>
              <a:ext uri="{FF2B5EF4-FFF2-40B4-BE49-F238E27FC236}">
                <a16:creationId xmlns:a16="http://schemas.microsoft.com/office/drawing/2014/main" id="{8A23E07F-BBD8-4459-880F-5E8450A0B24D}"/>
              </a:ext>
            </a:extLst>
          </p:cNvPr>
          <p:cNvSpPr txBox="1"/>
          <p:nvPr/>
        </p:nvSpPr>
        <p:spPr>
          <a:xfrm>
            <a:off x="843280" y="2895600"/>
            <a:ext cx="695198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da-DK"/>
            </a:defPPr>
            <a:lvl1pPr>
              <a:defRPr sz="1400"/>
            </a:lvl1pPr>
          </a:lstStyle>
          <a:p>
            <a:r>
              <a:rPr lang="da-DK" b="1"/>
              <a:t>_V2, Leje refererer til Medarbejder:</a:t>
            </a:r>
          </a:p>
          <a:p>
            <a:r>
              <a:rPr lang="da-DK"/>
              <a:t>DBMLeje (opdateret param-string, AddParameterValues og GetRow)</a:t>
            </a:r>
          </a:p>
          <a:p>
            <a:r>
              <a:rPr lang="da-DK"/>
              <a:t>DBMLejeJoin (opdateret param-string, query, AddParameterValues og GetRow)</a:t>
            </a:r>
          </a:p>
          <a:p>
            <a:r>
              <a:rPr lang="da-DK"/>
              <a:t>Helpers (tilrettet CreateLeje)</a:t>
            </a:r>
          </a:p>
          <a:p>
            <a:r>
              <a:rPr lang="da-DK"/>
              <a:t>Leje (tilføjet property af type Medarbejder, opdateret constructor, ToString)</a:t>
            </a:r>
          </a:p>
          <a:p>
            <a:r>
              <a:rPr lang="da-DK"/>
              <a:t>Program.cs (brug af DBMMedarbejder tilføjet, brug af DBMLeje opdateret)</a:t>
            </a:r>
          </a:p>
        </p:txBody>
      </p:sp>
    </p:spTree>
    <p:extLst>
      <p:ext uri="{BB962C8B-B14F-4D97-AF65-F5344CB8AC3E}">
        <p14:creationId xmlns:p14="http://schemas.microsoft.com/office/powerpoint/2010/main" val="3880231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302</TotalTime>
  <Words>573</Words>
  <Application>Microsoft Office PowerPoint</Application>
  <PresentationFormat>Widescreen</PresentationFormat>
  <Paragraphs>146</Paragraphs>
  <Slides>19</Slides>
  <Notes>0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4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19</vt:i4>
      </vt:variant>
    </vt:vector>
  </HeadingPairs>
  <TitlesOfParts>
    <vt:vector size="24" baseType="lpstr">
      <vt:lpstr>Arial</vt:lpstr>
      <vt:lpstr>Calibri</vt:lpstr>
      <vt:lpstr>Calibri Light</vt:lpstr>
      <vt:lpstr>Wingdings</vt:lpstr>
      <vt:lpstr>Office-tema</vt:lpstr>
      <vt:lpstr>ADORosBil_Vx</vt:lpstr>
      <vt:lpstr>Progression (ADORosBil_V0)</vt:lpstr>
      <vt:lpstr>Progression (ADORosBil_V0)</vt:lpstr>
      <vt:lpstr>Progression (ADORosBil_V1)</vt:lpstr>
      <vt:lpstr>Progression (ADORosBil_V1)</vt:lpstr>
      <vt:lpstr>Progression (ADORosBil_V2)</vt:lpstr>
      <vt:lpstr>Progression (ADORosBil_V2)</vt:lpstr>
      <vt:lpstr>Progression (ADORosBil_V3)</vt:lpstr>
      <vt:lpstr>Progression (ADORosBil_V3, samme som _v2)</vt:lpstr>
      <vt:lpstr>SKAL man bruge alle disse overbygninger…!?</vt:lpstr>
      <vt:lpstr>Tilføj Medarbejder til RosBil</vt:lpstr>
      <vt:lpstr>Tilføj Medarbejder til RosBil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ADORosBil_Vx</dc:title>
  <dc:creator>Per Storgård Laursen</dc:creator>
  <cp:lastModifiedBy>Per Storgård Laursen</cp:lastModifiedBy>
  <cp:revision>15</cp:revision>
  <dcterms:created xsi:type="dcterms:W3CDTF">2026-03-25T19:00:00Z</dcterms:created>
  <dcterms:modified xsi:type="dcterms:W3CDTF">2026-03-26T12:18:07Z</dcterms:modified>
</cp:coreProperties>
</file>