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  <p:sldId id="279" r:id="rId7"/>
    <p:sldId id="311" r:id="rId8"/>
    <p:sldId id="307" r:id="rId9"/>
    <p:sldId id="261" r:id="rId10"/>
    <p:sldId id="262" r:id="rId11"/>
    <p:sldId id="263" r:id="rId12"/>
    <p:sldId id="264" r:id="rId13"/>
    <p:sldId id="265" r:id="rId14"/>
    <p:sldId id="266" r:id="rId15"/>
    <p:sldId id="306" r:id="rId16"/>
    <p:sldId id="267" r:id="rId17"/>
    <p:sldId id="268" r:id="rId18"/>
    <p:sldId id="269" r:id="rId19"/>
    <p:sldId id="270" r:id="rId20"/>
    <p:sldId id="310" r:id="rId21"/>
    <p:sldId id="280" r:id="rId22"/>
    <p:sldId id="308" r:id="rId23"/>
    <p:sldId id="309" r:id="rId24"/>
    <p:sldId id="271" r:id="rId25"/>
    <p:sldId id="274" r:id="rId26"/>
    <p:sldId id="275" r:id="rId27"/>
    <p:sldId id="276" r:id="rId28"/>
    <p:sldId id="272" r:id="rId29"/>
    <p:sldId id="273" r:id="rId30"/>
    <p:sldId id="277" r:id="rId31"/>
    <p:sldId id="312" r:id="rId32"/>
    <p:sldId id="313" r:id="rId33"/>
    <p:sldId id="304" r:id="rId34"/>
    <p:sldId id="305" r:id="rId35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0T14:37:06.3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638 365 24575,'-1'-6'0,"-1"-1"0,1 1 0,-1-1 0,0 1 0,-1 0 0,0 0 0,0 0 0,-6-10 0,-6-10 0,-25-41 0,35 59 0,0 1 0,-1 0 0,1 1 0,-1-1 0,0 1 0,-1 1 0,-13-10 0,0-2 0,16 15 0,1 0 0,-1-1 0,0 1 0,0 0 0,0 1 0,0-1 0,-6 0 0,-16-9 0,9 2 0,0 1 0,0 0 0,-1 1 0,0 1 0,0 1 0,-27-5 0,41 9 0,0 1 0,1 0 0,-1 0 0,0 0 0,0 0 0,1 0 0,-1 1 0,0 0 0,1 0 0,-1 0 0,0 0 0,1 0 0,-1 1 0,1-1 0,0 1 0,0 0 0,-1 0 0,1 0 0,0 1 0,1-1 0,-1 1 0,0-1 0,1 1 0,-1 0 0,1 0 0,0 0 0,0 0 0,0 1 0,1-1 0,-1 0 0,1 1 0,0-1 0,0 1 0,-1 4 0,-3 9 0,-1 1 0,-11 24 0,1-3 0,10-19 0,0 1 0,2 0 0,0 0 0,-1 38 0,3-36 0,-3 14 0,4-30 0,-1 1 0,1 0 0,1 0 0,0 1 0,0-1 0,0 0 0,3 13 0,2 6 0,-3-17 0,-1-1 0,2 0 0,-1 0 0,1-1 0,0 1 0,7 12 0,41 54 0,-48-71 0,0 0 0,1-1 0,-1 1 0,1-1 0,8 6 0,-8-6 0,1 0 0,-1 1 0,0 0 0,0-1 0,3 6 0,-5-6 0,0-1 0,0 1 0,0-1 0,0 0 0,0 0 0,0 0 0,1 0 0,-1 0 0,1 0 0,0 0 0,-1-1 0,1 0 0,0 1 0,0-1 0,0 0 0,0 0 0,0-1 0,0 1 0,0 0 0,0-1 0,0 0 0,0 0 0,0 0 0,0 0 0,5-1 0,94 11 0,-31-9 0,74-3 0,-139 1 0,0-1 0,0 0 0,-1 0 0,1 0 0,-1-1 0,1 1 0,-1-1 0,0-1 0,0 1 0,0-1 0,0 0 0,5-6 0,27-18 0,-30 22 0,0 0 0,-1-1 0,0 1 0,0-1 0,0-1 0,-1 1 0,0-1 0,-1 0 0,4-8 0,-4 6 0,0 1 0,-1 0 0,0-1 0,-1 1 0,0-1 0,1-16 0,-3-62 0,-1 45 0,0 35 0,0 0 0,-1 0 0,0-1 0,0 2 0,-1-1 0,0 0 0,-1 1 0,1-1 0,-2 1 0,1 0 0,-6-7 0,-5-9 0,8 11 0,-2 1 0,1 0 0,-13-12 0,1-3 0,16 21 0,1 0 0,-1 0 0,0 0 0,-1 1 0,1-1 0,-6-3 0,5 4 0,1-1 0,-1 1 0,1 0 0,-6-9 0,7 8 0,-1 1 0,1-1 0,-1 1 0,0 0 0,-1 0 0,-5-4 0,-23-18 0,28 21 0,1 1 0,-1 0 0,0 0 0,0 1 0,0 0 0,0 0 0,-1 0 0,1 0 0,-12-3 0,-21-6 0,28 8 0,0 0 0,-19-3 0,-16-3 0,35 6 0,-1 2 0,1 0 0,-1 0 0,-15 0 0,-14 1 0,-56 2 0,89 1 0,1-1 0,0 1 0,0 0 0,0 0 0,1 0 0,-1 1 0,-7 4 0,-37 27 0,47-31 0,1 0 0,-1 0 0,0 0 0,1 0 0,-1 1 0,1-1 0,0 1 0,0-1 0,1 1 0,-3 5 0,-11 44 0,10-32 0,1 0 0,1 0 0,1 1 0,1-1 0,1 1 0,4 30 0,-3-44 0,1 0 0,0-1 0,1 1 0,-1 0 0,2-1 0,-1 0 0,5 8 0,8 18 0,-12-24 0,1-1 0,-1 0 0,12 13 0,-3-3 0,12 23 0,-18-28 0,1 0 0,0-1 0,16 18 0,-6-3 0,-16-23 0,0 0 0,0-1 0,1 1 0,-1 0 0,1-1 0,0 0 0,5 5 0,14 14 0,-21-19 0,1-1 0,0 0 0,0 0 0,0 0 0,0 0 0,0 0 0,0 0 0,0-1 0,0 1 0,1-1 0,-1 0 0,1 1 0,-1-1 0,1 0 0,0 0 0,-1-1 0,1 1 0,0-1 0,-1 1 0,4-1 0,53 6 0,19-1 0,7-4 0,68-2 0,-92-8 0,-56 8 0,1-1 0,-1 1 0,1-1 0,-1 0 0,1-1 0,-1 1 0,0-1 0,7-4 0,10-17 0,6-4 0,-25 25 0,-1 0 0,1 0 0,-1 0 0,1 0 0,-1 0 0,0 0 0,0-1 0,0 1 0,-1-1 0,1 1 0,-1-1 0,0 0 0,0 1 0,0-1 0,0 0 0,-1 0 0,1-4 0,0-4 0,-1 0 0,-1 0 0,0 0 0,-4-18 0,3 24 0,0-1 0,-1 1 0,0-1 0,0 1 0,-1 0 0,1 0 0,-1 0 0,-1 1 0,-4-6 0,3 5 0,1-1 0,0 1 0,0-1 0,1 0 0,0-1 0,-5-10 0,6 12 0,1 0 0,-1 0 0,-1 1 0,1 0 0,-1 0 0,-8-9 0,7 8 0,0 1 0,1-1 0,-1-1 0,-5-10 0,8 12 0,-1 0 0,0 0 0,0 1 0,-1 0 0,1 0 0,-8-7 0,6 6 0,0 0 0,1 0 0,-8-11 0,-8-10-1365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3186ED-447C-8357-C02A-CEFD58ACA0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A3EC9F35-D210-FDE3-5783-1B9FAC2D8F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C5A06AAD-6C9F-D4E8-EC66-7756404D2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C1FF0-A856-4E7A-B4DD-9DB70D4CF906}" type="datetimeFigureOut">
              <a:rPr lang="da-DK" smtClean="0"/>
              <a:t>30-11-2025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8EA553E0-1786-75A6-0A27-2DDAB4DAB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A80DD595-980B-1493-7BB1-46507771A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8F063-5995-49E0-AD00-3658E0B20F68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54923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C2333D-3E57-2626-D39B-763CF0167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D16D5B7-A2DA-2256-78D4-6EF156AA8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47913CAF-F7CE-ACD5-3607-0117130E4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C1FF0-A856-4E7A-B4DD-9DB70D4CF906}" type="datetimeFigureOut">
              <a:rPr lang="da-DK" smtClean="0"/>
              <a:t>30-11-2025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34060E99-237E-F3E1-C56E-BC8D1F071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5001E9AF-D582-5D64-7BE3-B70C89BEC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8F063-5995-49E0-AD00-3658E0B20F68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84490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C9FE17-9B66-1D38-4F8E-63397B011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16B641DB-41C7-407E-E4EF-A52B22561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C5579326-429B-9016-25D5-9890C7236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C1FF0-A856-4E7A-B4DD-9DB70D4CF906}" type="datetimeFigureOut">
              <a:rPr lang="da-DK" smtClean="0"/>
              <a:t>30-11-2025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B7768498-FF62-5786-7E88-16FAFD801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6BEB597B-2623-862B-7960-34E494DB4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8F063-5995-49E0-AD00-3658E0B20F68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86960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75E6E2-12CA-43E0-AF4D-90E06B96F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6F60FD4-0D1C-DCBC-9FB8-D851FEC4EA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63E1B777-807B-882D-D272-0F19AD8130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949EE293-11F4-0D58-2357-0E68A5F29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C1FF0-A856-4E7A-B4DD-9DB70D4CF906}" type="datetimeFigureOut">
              <a:rPr lang="da-DK" smtClean="0"/>
              <a:t>30-11-2025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53F344D3-BBB5-49D5-A3F5-6D5798E70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6E73F589-3C65-F47B-A861-215B15FE1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8F063-5995-49E0-AD00-3658E0B20F68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2904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AAACAD-BB3A-E04C-B53D-8D6531B05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05D5FC0D-8740-34FB-C3E5-9139157A7B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AC0776CC-4217-215F-0854-437286768A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70D8AC66-8832-B432-8A30-931A62E796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DFFD9482-AE75-A234-E1A4-123134994C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20C98EE5-CCDD-1694-8CD1-C12ADE756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C1FF0-A856-4E7A-B4DD-9DB70D4CF906}" type="datetimeFigureOut">
              <a:rPr lang="da-DK" smtClean="0"/>
              <a:t>30-11-2025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8EC1DB74-E55D-9C50-3A5A-032889DF8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7E779ECC-0B6E-7DF9-4466-C547DD875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8F063-5995-49E0-AD00-3658E0B20F68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92872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1F70B6-3624-E8F3-3C7D-A02AECF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FC0C2C4C-B95C-9247-ECCD-F3CF8A256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C1FF0-A856-4E7A-B4DD-9DB70D4CF906}" type="datetimeFigureOut">
              <a:rPr lang="da-DK" smtClean="0"/>
              <a:t>30-11-2025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FCEC0079-E5CC-C04D-E4E7-689B5D687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5ECEB649-0211-0DB9-1B62-88B13E5CB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8F063-5995-49E0-AD00-3658E0B20F68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53253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1FD69450-9E00-CB55-FE0F-0D42C8534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C1FF0-A856-4E7A-B4DD-9DB70D4CF906}" type="datetimeFigureOut">
              <a:rPr lang="da-DK" smtClean="0"/>
              <a:t>30-11-2025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4B295334-248B-6120-08CB-86B87FF07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648A291E-F7CA-8F9D-4B29-35B5E2A2E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8F063-5995-49E0-AD00-3658E0B20F68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25460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6A2817-D49D-861D-DBC5-336C29FA7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A869AB2-4A41-44B3-D089-FC495736D1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C133263F-84AA-BB32-6885-D897A93B31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AFB2FDA3-B3F3-470C-D3CC-C109F5152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C1FF0-A856-4E7A-B4DD-9DB70D4CF906}" type="datetimeFigureOut">
              <a:rPr lang="da-DK" smtClean="0"/>
              <a:t>30-11-2025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0E89A986-CE12-FBB5-BC0D-1F40CC82C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3044AECD-3547-9FDB-C70F-F12B62ED6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8F063-5995-49E0-AD00-3658E0B20F68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9771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4C83EB-2167-9FD0-D524-430C23811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3B3AA247-BDCB-DCE6-E664-BC743BD65C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FA9B906A-19D2-40C8-864E-5C80C9593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2A3AFDE7-4D49-14BF-4AE3-C507DC86E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C1FF0-A856-4E7A-B4DD-9DB70D4CF906}" type="datetimeFigureOut">
              <a:rPr lang="da-DK" smtClean="0"/>
              <a:t>30-11-2025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BB81C455-36FA-81A2-695C-582FB9C1E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31D9B317-1683-31F7-9975-67D444EFC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8F063-5995-49E0-AD00-3658E0B20F68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49423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7569AD-7074-D414-8E12-3290EC193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E4CA38FC-84B7-FC6F-11E5-D3B67182BE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A6ADBA6A-656A-E18B-E0AD-F41F98054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C1FF0-A856-4E7A-B4DD-9DB70D4CF906}" type="datetimeFigureOut">
              <a:rPr lang="da-DK" smtClean="0"/>
              <a:t>30-11-2025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5B5CA5B4-2EC5-71D6-BB60-854BCE73B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DDE50014-E2F7-89E5-8405-3FE1BB7CE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8F063-5995-49E0-AD00-3658E0B20F68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49967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B69B9C94-A16C-A6D5-0130-CB296622F4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6CAAE4E8-8941-EDEC-4482-BE468EF000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50124C45-DFB2-EEE2-59C9-473BFEF80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C1FF0-A856-4E7A-B4DD-9DB70D4CF906}" type="datetimeFigureOut">
              <a:rPr lang="da-DK" smtClean="0"/>
              <a:t>30-11-2025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99A06F55-84EF-29A0-5B42-BC6B011AD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B7991CA8-2123-A355-9809-02D5BB76D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8F063-5995-49E0-AD00-3658E0B20F68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56707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C7A16270-A0C6-AA7D-4C46-FE4A75958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6EB488A1-C9AD-0BC9-49E9-F7A10E5085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A8B334D7-0057-F215-40CD-4A42D9DAD6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3C1FF0-A856-4E7A-B4DD-9DB70D4CF906}" type="datetimeFigureOut">
              <a:rPr lang="da-DK" smtClean="0"/>
              <a:t>30-11-2025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B72AD9AC-2000-8073-0C8E-045ECC8F7F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A6E19ADB-A522-4FCF-621C-3335AAB725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A8F063-5995-49E0-AD00-3658E0B20F68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75194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4740F57-DE5E-AD19-59DD-575F1B4C44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anchor="ctr">
            <a:normAutofit/>
          </a:bodyPr>
          <a:lstStyle/>
          <a:p>
            <a:r>
              <a:rPr lang="en-US" sz="7200" b="1" dirty="0"/>
              <a:t>GitHub Essentials</a:t>
            </a:r>
            <a:br>
              <a:rPr lang="en-US" sz="7200" b="1" dirty="0"/>
            </a:br>
            <a:r>
              <a:rPr lang="en-US" sz="3600" b="1" dirty="0"/>
              <a:t>(simplified version)</a:t>
            </a:r>
            <a:endParaRPr lang="da-DK" sz="3600" b="1" dirty="0"/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795DFAD8-6275-E3D0-34D3-35F5EF9DAE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6912" y="5645150"/>
            <a:ext cx="8258176" cy="631825"/>
          </a:xfrm>
        </p:spPr>
        <p:txBody>
          <a:bodyPr anchor="ctr">
            <a:normAutofit/>
          </a:bodyPr>
          <a:lstStyle/>
          <a:p>
            <a:r>
              <a:rPr lang="en-US" sz="2800"/>
              <a:t>With Visual Studio 2022</a:t>
            </a:r>
            <a:endParaRPr lang="da-DK" sz="28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8909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7C08E59-3A21-D11D-A6C0-ADD1393C8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Best advice…</a:t>
            </a:r>
            <a:endParaRPr lang="da-DK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0232727-BFFC-7C1B-A968-085A4CB1EC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4800" dirty="0"/>
              <a:t>KEEP IT SIMPLE!!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/>
              <a:t>Define a </a:t>
            </a:r>
            <a:r>
              <a:rPr lang="en-US" u="sng" dirty="0"/>
              <a:t>simple</a:t>
            </a:r>
            <a:r>
              <a:rPr lang="en-US" dirty="0"/>
              <a:t> protocol for using GitHub, and stick to it.</a:t>
            </a:r>
          </a:p>
          <a:p>
            <a:r>
              <a:rPr lang="en-US" dirty="0"/>
              <a:t>Be very careful about multiple persons working on same files.</a:t>
            </a:r>
          </a:p>
          <a:p>
            <a:r>
              <a:rPr lang="en-US" dirty="0"/>
              <a:t>GitHub doesn’t replace communication and common sense…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858435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66198E7-52CC-C76E-CFD3-39FB56417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Main concepts</a:t>
            </a:r>
            <a:endParaRPr lang="da-DK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4416112-EB85-336F-3F78-9886A9EB1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b="1" dirty="0"/>
              <a:t>Git</a:t>
            </a:r>
            <a:r>
              <a:rPr lang="en-US" dirty="0"/>
              <a:t>. Source code version control software.</a:t>
            </a:r>
          </a:p>
          <a:p>
            <a:r>
              <a:rPr lang="en-US" b="1" dirty="0"/>
              <a:t>GitHub</a:t>
            </a:r>
            <a:r>
              <a:rPr lang="en-US" dirty="0"/>
              <a:t>. Website for storing source code repositories (a UI for Git).</a:t>
            </a:r>
          </a:p>
          <a:p>
            <a:r>
              <a:rPr lang="en-US" b="1" dirty="0"/>
              <a:t>Repository</a:t>
            </a:r>
            <a:r>
              <a:rPr lang="en-US" dirty="0"/>
              <a:t>. A single named source code storage unit.</a:t>
            </a:r>
          </a:p>
          <a:p>
            <a:r>
              <a:rPr lang="en-US" b="1" dirty="0"/>
              <a:t>Origin</a:t>
            </a:r>
            <a:r>
              <a:rPr lang="en-US" dirty="0"/>
              <a:t>: The instance of the repository on GitHub</a:t>
            </a:r>
          </a:p>
          <a:p>
            <a:r>
              <a:rPr lang="en-US" b="1" dirty="0"/>
              <a:t>Local repository</a:t>
            </a:r>
            <a:r>
              <a:rPr lang="en-US" dirty="0"/>
              <a:t>: The instance of the repository on your own local PC</a:t>
            </a:r>
          </a:p>
        </p:txBody>
      </p:sp>
    </p:spTree>
    <p:extLst>
      <p:ext uri="{BB962C8B-B14F-4D97-AF65-F5344CB8AC3E}">
        <p14:creationId xmlns:p14="http://schemas.microsoft.com/office/powerpoint/2010/main" val="637326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66198E7-52CC-C76E-CFD3-39FB56417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Main concepts</a:t>
            </a:r>
            <a:endParaRPr lang="da-DK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4416112-EB85-336F-3F78-9886A9EB1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In Visual Studio, the </a:t>
            </a:r>
            <a:r>
              <a:rPr lang="en-US" b="1" dirty="0"/>
              <a:t>Git</a:t>
            </a:r>
            <a:r>
              <a:rPr lang="en-US" dirty="0"/>
              <a:t> menu and the </a:t>
            </a:r>
            <a:r>
              <a:rPr lang="en-US" b="1" dirty="0"/>
              <a:t>Git Changes</a:t>
            </a:r>
            <a:r>
              <a:rPr lang="en-US" dirty="0"/>
              <a:t> view are your main tools for managing source code control with GitHub.</a:t>
            </a:r>
          </a:p>
        </p:txBody>
      </p:sp>
    </p:spTree>
    <p:extLst>
      <p:ext uri="{BB962C8B-B14F-4D97-AF65-F5344CB8AC3E}">
        <p14:creationId xmlns:p14="http://schemas.microsoft.com/office/powerpoint/2010/main" val="1028758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D794AA80-D126-501E-668D-C254793731F7}"/>
              </a:ext>
            </a:extLst>
          </p:cNvPr>
          <p:cNvSpPr/>
          <p:nvPr/>
        </p:nvSpPr>
        <p:spPr>
          <a:xfrm>
            <a:off x="518432" y="371475"/>
            <a:ext cx="11225893" cy="20614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GitHub (person A)</a:t>
            </a:r>
            <a:endParaRPr lang="da-DK" dirty="0"/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CDFBF60B-1A16-1578-C1A9-6A10A5E7D5A6}"/>
              </a:ext>
            </a:extLst>
          </p:cNvPr>
          <p:cNvSpPr/>
          <p:nvPr/>
        </p:nvSpPr>
        <p:spPr>
          <a:xfrm>
            <a:off x="683079" y="785133"/>
            <a:ext cx="10289722" cy="149270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Repository </a:t>
            </a:r>
          </a:p>
          <a:p>
            <a:r>
              <a:rPr lang="en-US" dirty="0"/>
              <a:t>(person A, </a:t>
            </a:r>
          </a:p>
          <a:p>
            <a:r>
              <a:rPr lang="en-US" dirty="0"/>
              <a:t>invites person B)</a:t>
            </a:r>
            <a:endParaRPr lang="da-DK" dirty="0"/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C41704E4-2685-6B2C-47D8-F589C7294839}"/>
              </a:ext>
            </a:extLst>
          </p:cNvPr>
          <p:cNvSpPr/>
          <p:nvPr/>
        </p:nvSpPr>
        <p:spPr>
          <a:xfrm>
            <a:off x="518431" y="4365171"/>
            <a:ext cx="4453619" cy="20614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Person A local PC</a:t>
            </a:r>
            <a:endParaRPr lang="da-DK" dirty="0"/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D21B35E9-0012-0168-5967-2080EB8EAFEC}"/>
              </a:ext>
            </a:extLst>
          </p:cNvPr>
          <p:cNvSpPr/>
          <p:nvPr/>
        </p:nvSpPr>
        <p:spPr>
          <a:xfrm>
            <a:off x="7290705" y="4365171"/>
            <a:ext cx="4453619" cy="20614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Person B local PC</a:t>
            </a:r>
            <a:endParaRPr lang="da-DK" dirty="0"/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2E71B9D9-BAFF-48FA-59E9-74F895BE7E21}"/>
              </a:ext>
            </a:extLst>
          </p:cNvPr>
          <p:cNvSpPr/>
          <p:nvPr/>
        </p:nvSpPr>
        <p:spPr>
          <a:xfrm>
            <a:off x="766082" y="4781551"/>
            <a:ext cx="4083504" cy="149270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Repository</a:t>
            </a:r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8A276973-5B33-30E3-193B-889D90B88F36}"/>
              </a:ext>
            </a:extLst>
          </p:cNvPr>
          <p:cNvSpPr/>
          <p:nvPr/>
        </p:nvSpPr>
        <p:spPr>
          <a:xfrm>
            <a:off x="7475763" y="4781551"/>
            <a:ext cx="4083504" cy="149270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Repository</a:t>
            </a: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27075996-7E44-E3BA-73B0-582EDBD09986}"/>
              </a:ext>
            </a:extLst>
          </p:cNvPr>
          <p:cNvSpPr/>
          <p:nvPr/>
        </p:nvSpPr>
        <p:spPr>
          <a:xfrm>
            <a:off x="2046515" y="4993821"/>
            <a:ext cx="2374445" cy="972911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Master</a:t>
            </a:r>
            <a:endParaRPr lang="da-DK" dirty="0"/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0B938953-91E3-9C21-CB5C-39184D564081}"/>
              </a:ext>
            </a:extLst>
          </p:cNvPr>
          <p:cNvSpPr/>
          <p:nvPr/>
        </p:nvSpPr>
        <p:spPr>
          <a:xfrm>
            <a:off x="2852058" y="1045028"/>
            <a:ext cx="2374445" cy="972911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Master</a:t>
            </a:r>
            <a:endParaRPr lang="da-DK" dirty="0"/>
          </a:p>
        </p:txBody>
      </p:sp>
      <p:cxnSp>
        <p:nvCxnSpPr>
          <p:cNvPr id="14" name="Lige pilforbindelse 13">
            <a:extLst>
              <a:ext uri="{FF2B5EF4-FFF2-40B4-BE49-F238E27FC236}">
                <a16:creationId xmlns:a16="http://schemas.microsoft.com/office/drawing/2014/main" id="{8C502E05-AE32-21AD-932B-D19B1DBF1BB7}"/>
              </a:ext>
            </a:extLst>
          </p:cNvPr>
          <p:cNvCxnSpPr>
            <a:cxnSpLocks/>
          </p:cNvCxnSpPr>
          <p:nvPr/>
        </p:nvCxnSpPr>
        <p:spPr>
          <a:xfrm flipV="1">
            <a:off x="2898321" y="2124891"/>
            <a:ext cx="1303565" cy="2443027"/>
          </a:xfrm>
          <a:prstGeom prst="straightConnector1">
            <a:avLst/>
          </a:prstGeom>
          <a:ln w="762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kstfelt 14">
            <a:extLst>
              <a:ext uri="{FF2B5EF4-FFF2-40B4-BE49-F238E27FC236}">
                <a16:creationId xmlns:a16="http://schemas.microsoft.com/office/drawing/2014/main" id="{4ACCE0AF-AD4F-0D91-3EA3-8DAEE3A11BF1}"/>
              </a:ext>
            </a:extLst>
          </p:cNvPr>
          <p:cNvSpPr txBox="1"/>
          <p:nvPr/>
        </p:nvSpPr>
        <p:spPr>
          <a:xfrm>
            <a:off x="2580031" y="3214398"/>
            <a:ext cx="888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Creates</a:t>
            </a:r>
            <a:endParaRPr lang="da-DK" b="1" dirty="0"/>
          </a:p>
        </p:txBody>
      </p:sp>
      <p:sp>
        <p:nvSpPr>
          <p:cNvPr id="20" name="Rektangel 19">
            <a:extLst>
              <a:ext uri="{FF2B5EF4-FFF2-40B4-BE49-F238E27FC236}">
                <a16:creationId xmlns:a16="http://schemas.microsoft.com/office/drawing/2014/main" id="{AD97BC34-5487-5809-1E8C-DDD9FF50DBC3}"/>
              </a:ext>
            </a:extLst>
          </p:cNvPr>
          <p:cNvSpPr/>
          <p:nvPr/>
        </p:nvSpPr>
        <p:spPr>
          <a:xfrm>
            <a:off x="8825729" y="4993821"/>
            <a:ext cx="2374445" cy="972911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Master</a:t>
            </a:r>
            <a:endParaRPr lang="da-DK" dirty="0"/>
          </a:p>
        </p:txBody>
      </p:sp>
      <p:cxnSp>
        <p:nvCxnSpPr>
          <p:cNvPr id="17" name="Lige pilforbindelse 16">
            <a:extLst>
              <a:ext uri="{FF2B5EF4-FFF2-40B4-BE49-F238E27FC236}">
                <a16:creationId xmlns:a16="http://schemas.microsoft.com/office/drawing/2014/main" id="{7BD60D9F-FEBB-9073-BB56-B5E767B58123}"/>
              </a:ext>
            </a:extLst>
          </p:cNvPr>
          <p:cNvCxnSpPr>
            <a:cxnSpLocks/>
          </p:cNvCxnSpPr>
          <p:nvPr/>
        </p:nvCxnSpPr>
        <p:spPr>
          <a:xfrm>
            <a:off x="4937760" y="2177551"/>
            <a:ext cx="4579754" cy="2995340"/>
          </a:xfrm>
          <a:prstGeom prst="straightConnector1">
            <a:avLst/>
          </a:prstGeom>
          <a:ln w="762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kstfelt 20">
            <a:extLst>
              <a:ext uri="{FF2B5EF4-FFF2-40B4-BE49-F238E27FC236}">
                <a16:creationId xmlns:a16="http://schemas.microsoft.com/office/drawing/2014/main" id="{1BDE615F-4BD2-4B89-224E-EA6DB961B710}"/>
              </a:ext>
            </a:extLst>
          </p:cNvPr>
          <p:cNvSpPr txBox="1"/>
          <p:nvPr/>
        </p:nvSpPr>
        <p:spPr>
          <a:xfrm>
            <a:off x="7290705" y="3244334"/>
            <a:ext cx="816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Clones</a:t>
            </a:r>
            <a:endParaRPr lang="da-DK" b="1" dirty="0"/>
          </a:p>
        </p:txBody>
      </p:sp>
    </p:spTree>
    <p:extLst>
      <p:ext uri="{BB962C8B-B14F-4D97-AF65-F5344CB8AC3E}">
        <p14:creationId xmlns:p14="http://schemas.microsoft.com/office/powerpoint/2010/main" val="2229228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35E11D-C520-3FD0-9F36-C1956E85F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person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7EE084F-232F-AC9A-79FE-877E27E4A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57139" cy="4351338"/>
          </a:xfrm>
        </p:spPr>
        <p:txBody>
          <a:bodyPr/>
          <a:lstStyle/>
          <a:p>
            <a:r>
              <a:rPr lang="en-US" dirty="0"/>
              <a:t>Person A creates new VS solution</a:t>
            </a:r>
          </a:p>
          <a:p>
            <a:r>
              <a:rPr lang="en-US" dirty="0"/>
              <a:t>Person A adds solution to Source Control (local + GitHub repo created)</a:t>
            </a:r>
          </a:p>
          <a:p>
            <a:r>
              <a:rPr lang="en-US" dirty="0"/>
              <a:t>Person A can update code, commit and push </a:t>
            </a:r>
          </a:p>
          <a:p>
            <a:r>
              <a:rPr lang="en-US" b="1" dirty="0">
                <a:solidFill>
                  <a:srgbClr val="FF0000"/>
                </a:solidFill>
              </a:rPr>
              <a:t>Remember</a:t>
            </a:r>
            <a:r>
              <a:rPr lang="en-US" dirty="0"/>
              <a:t>: getting code from local PC to GitHub repository is a two-step procedure:</a:t>
            </a:r>
          </a:p>
          <a:p>
            <a:pPr lvl="1"/>
            <a:r>
              <a:rPr lang="en-US" b="1" dirty="0"/>
              <a:t>Commit</a:t>
            </a:r>
            <a:r>
              <a:rPr lang="en-US" dirty="0"/>
              <a:t> changes (to local repository)</a:t>
            </a:r>
          </a:p>
          <a:p>
            <a:pPr lvl="1"/>
            <a:r>
              <a:rPr lang="en-US" b="1" dirty="0"/>
              <a:t>Push</a:t>
            </a:r>
            <a:r>
              <a:rPr lang="en-US" dirty="0"/>
              <a:t> commit to Origin (i.e. to GitHub repository)</a:t>
            </a:r>
          </a:p>
          <a:p>
            <a:endParaRPr lang="en-US" dirty="0"/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612146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35E11D-C520-3FD0-9F36-C1956E85F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person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7EE084F-232F-AC9A-79FE-877E27E4A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57139" cy="4351338"/>
          </a:xfrm>
        </p:spPr>
        <p:txBody>
          <a:bodyPr/>
          <a:lstStyle/>
          <a:p>
            <a:r>
              <a:rPr lang="en-US" b="1" dirty="0"/>
              <a:t>Save</a:t>
            </a:r>
            <a:r>
              <a:rPr lang="en-US" dirty="0"/>
              <a:t>: Local </a:t>
            </a:r>
            <a:r>
              <a:rPr lang="en-US" u="sng" dirty="0"/>
              <a:t>files</a:t>
            </a:r>
            <a:r>
              <a:rPr lang="en-US" dirty="0"/>
              <a:t> are updated, local </a:t>
            </a:r>
            <a:r>
              <a:rPr lang="en-US" u="sng" dirty="0"/>
              <a:t>repository</a:t>
            </a:r>
            <a:r>
              <a:rPr lang="en-US" dirty="0"/>
              <a:t> is </a:t>
            </a:r>
            <a:r>
              <a:rPr lang="en-US" dirty="0">
                <a:solidFill>
                  <a:srgbClr val="FF0000"/>
                </a:solidFill>
              </a:rPr>
              <a:t>not</a:t>
            </a:r>
            <a:r>
              <a:rPr lang="en-US" dirty="0"/>
              <a:t> updated.</a:t>
            </a:r>
          </a:p>
          <a:p>
            <a:r>
              <a:rPr lang="en-US" b="1" dirty="0"/>
              <a:t>Commit</a:t>
            </a:r>
            <a:r>
              <a:rPr lang="en-US" dirty="0"/>
              <a:t>: </a:t>
            </a:r>
            <a:r>
              <a:rPr lang="en-US" u="sng" dirty="0"/>
              <a:t>Local repository</a:t>
            </a:r>
            <a:r>
              <a:rPr lang="en-US" dirty="0"/>
              <a:t> is updated, </a:t>
            </a:r>
            <a:r>
              <a:rPr lang="en-US" u="sng" dirty="0"/>
              <a:t>GitHub repository</a:t>
            </a:r>
            <a:r>
              <a:rPr lang="en-US" dirty="0"/>
              <a:t> is </a:t>
            </a:r>
            <a:r>
              <a:rPr lang="en-US" dirty="0">
                <a:solidFill>
                  <a:srgbClr val="FF0000"/>
                </a:solidFill>
              </a:rPr>
              <a:t>not</a:t>
            </a:r>
            <a:r>
              <a:rPr lang="en-US" dirty="0"/>
              <a:t> updated.</a:t>
            </a:r>
          </a:p>
          <a:p>
            <a:r>
              <a:rPr lang="en-US" b="1" dirty="0"/>
              <a:t>Push</a:t>
            </a:r>
            <a:r>
              <a:rPr lang="en-US" dirty="0"/>
              <a:t>: </a:t>
            </a:r>
            <a:r>
              <a:rPr lang="en-US" u="sng" dirty="0"/>
              <a:t>GitHub repository</a:t>
            </a:r>
            <a:r>
              <a:rPr lang="en-US" dirty="0"/>
              <a:t> is updated.</a:t>
            </a:r>
          </a:p>
          <a:p>
            <a:endParaRPr lang="en-US" dirty="0"/>
          </a:p>
          <a:p>
            <a:endParaRPr lang="en-US" dirty="0"/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73904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D794AA80-D126-501E-668D-C254793731F7}"/>
              </a:ext>
            </a:extLst>
          </p:cNvPr>
          <p:cNvSpPr/>
          <p:nvPr/>
        </p:nvSpPr>
        <p:spPr>
          <a:xfrm>
            <a:off x="518432" y="371475"/>
            <a:ext cx="11225893" cy="20614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GitHub (person A)</a:t>
            </a:r>
            <a:endParaRPr lang="da-DK" dirty="0"/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CDFBF60B-1A16-1578-C1A9-6A10A5E7D5A6}"/>
              </a:ext>
            </a:extLst>
          </p:cNvPr>
          <p:cNvSpPr/>
          <p:nvPr/>
        </p:nvSpPr>
        <p:spPr>
          <a:xfrm>
            <a:off x="683079" y="785133"/>
            <a:ext cx="10289722" cy="149270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Repository </a:t>
            </a: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C41704E4-2685-6B2C-47D8-F589C7294839}"/>
              </a:ext>
            </a:extLst>
          </p:cNvPr>
          <p:cNvSpPr/>
          <p:nvPr/>
        </p:nvSpPr>
        <p:spPr>
          <a:xfrm>
            <a:off x="518431" y="4365171"/>
            <a:ext cx="11225893" cy="20614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Person A local PC</a:t>
            </a:r>
            <a:endParaRPr lang="da-DK" dirty="0"/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2E71B9D9-BAFF-48FA-59E9-74F895BE7E21}"/>
              </a:ext>
            </a:extLst>
          </p:cNvPr>
          <p:cNvSpPr/>
          <p:nvPr/>
        </p:nvSpPr>
        <p:spPr>
          <a:xfrm>
            <a:off x="6766560" y="4781551"/>
            <a:ext cx="4824549" cy="149270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Repository</a:t>
            </a: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27075996-7E44-E3BA-73B0-582EDBD09986}"/>
              </a:ext>
            </a:extLst>
          </p:cNvPr>
          <p:cNvSpPr/>
          <p:nvPr/>
        </p:nvSpPr>
        <p:spPr>
          <a:xfrm>
            <a:off x="8675071" y="5006884"/>
            <a:ext cx="2374445" cy="972911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Master</a:t>
            </a:r>
            <a:endParaRPr lang="da-DK" dirty="0"/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0B938953-91E3-9C21-CB5C-39184D564081}"/>
              </a:ext>
            </a:extLst>
          </p:cNvPr>
          <p:cNvSpPr/>
          <p:nvPr/>
        </p:nvSpPr>
        <p:spPr>
          <a:xfrm>
            <a:off x="2852058" y="1045028"/>
            <a:ext cx="2374445" cy="972911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Master</a:t>
            </a:r>
            <a:endParaRPr lang="da-DK" dirty="0"/>
          </a:p>
        </p:txBody>
      </p:sp>
      <p:cxnSp>
        <p:nvCxnSpPr>
          <p:cNvPr id="14" name="Lige pilforbindelse 13">
            <a:extLst>
              <a:ext uri="{FF2B5EF4-FFF2-40B4-BE49-F238E27FC236}">
                <a16:creationId xmlns:a16="http://schemas.microsoft.com/office/drawing/2014/main" id="{8C502E05-AE32-21AD-932B-D19B1DBF1BB7}"/>
              </a:ext>
            </a:extLst>
          </p:cNvPr>
          <p:cNvCxnSpPr>
            <a:cxnSpLocks/>
          </p:cNvCxnSpPr>
          <p:nvPr/>
        </p:nvCxnSpPr>
        <p:spPr>
          <a:xfrm flipH="1" flipV="1">
            <a:off x="4201886" y="2124891"/>
            <a:ext cx="5529943" cy="2756263"/>
          </a:xfrm>
          <a:prstGeom prst="straightConnector1">
            <a:avLst/>
          </a:prstGeom>
          <a:ln w="762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kstfelt 14">
            <a:extLst>
              <a:ext uri="{FF2B5EF4-FFF2-40B4-BE49-F238E27FC236}">
                <a16:creationId xmlns:a16="http://schemas.microsoft.com/office/drawing/2014/main" id="{4ACCE0AF-AD4F-0D91-3EA3-8DAEE3A11BF1}"/>
              </a:ext>
            </a:extLst>
          </p:cNvPr>
          <p:cNvSpPr txBox="1"/>
          <p:nvPr/>
        </p:nvSpPr>
        <p:spPr>
          <a:xfrm>
            <a:off x="6966857" y="315093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Push</a:t>
            </a:r>
            <a:endParaRPr lang="da-DK" b="1" dirty="0"/>
          </a:p>
        </p:txBody>
      </p:sp>
      <p:sp>
        <p:nvSpPr>
          <p:cNvPr id="2" name="Rektangel 1">
            <a:extLst>
              <a:ext uri="{FF2B5EF4-FFF2-40B4-BE49-F238E27FC236}">
                <a16:creationId xmlns:a16="http://schemas.microsoft.com/office/drawing/2014/main" id="{C722B38B-06DD-A64A-B2AD-DA39EF23E452}"/>
              </a:ext>
            </a:extLst>
          </p:cNvPr>
          <p:cNvSpPr/>
          <p:nvPr/>
        </p:nvSpPr>
        <p:spPr>
          <a:xfrm>
            <a:off x="2091391" y="4781552"/>
            <a:ext cx="2374445" cy="149270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Source code</a:t>
            </a:r>
            <a:endParaRPr lang="da-DK" dirty="0"/>
          </a:p>
        </p:txBody>
      </p:sp>
      <p:cxnSp>
        <p:nvCxnSpPr>
          <p:cNvPr id="3" name="Lige pilforbindelse 2">
            <a:extLst>
              <a:ext uri="{FF2B5EF4-FFF2-40B4-BE49-F238E27FC236}">
                <a16:creationId xmlns:a16="http://schemas.microsoft.com/office/drawing/2014/main" id="{A22DEC2B-E76E-32BB-F912-8F43E3301EBF}"/>
              </a:ext>
            </a:extLst>
          </p:cNvPr>
          <p:cNvCxnSpPr>
            <a:cxnSpLocks/>
          </p:cNvCxnSpPr>
          <p:nvPr/>
        </p:nvCxnSpPr>
        <p:spPr>
          <a:xfrm>
            <a:off x="4609555" y="5586684"/>
            <a:ext cx="3981451" cy="0"/>
          </a:xfrm>
          <a:prstGeom prst="straightConnector1">
            <a:avLst/>
          </a:prstGeom>
          <a:ln w="76200">
            <a:solidFill>
              <a:srgbClr val="FFFF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kstfelt 12">
            <a:extLst>
              <a:ext uri="{FF2B5EF4-FFF2-40B4-BE49-F238E27FC236}">
                <a16:creationId xmlns:a16="http://schemas.microsoft.com/office/drawing/2014/main" id="{5B482216-8613-509B-5BB1-EDB2A811BA75}"/>
              </a:ext>
            </a:extLst>
          </p:cNvPr>
          <p:cNvSpPr txBox="1"/>
          <p:nvPr/>
        </p:nvSpPr>
        <p:spPr>
          <a:xfrm>
            <a:off x="5097513" y="5158570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Commit</a:t>
            </a:r>
            <a:endParaRPr lang="da-DK" b="1" dirty="0">
              <a:solidFill>
                <a:srgbClr val="FFFF00"/>
              </a:solidFill>
            </a:endParaRPr>
          </a:p>
        </p:txBody>
      </p:sp>
      <p:sp>
        <p:nvSpPr>
          <p:cNvPr id="16" name="Rektangel 15">
            <a:extLst>
              <a:ext uri="{FF2B5EF4-FFF2-40B4-BE49-F238E27FC236}">
                <a16:creationId xmlns:a16="http://schemas.microsoft.com/office/drawing/2014/main" id="{CBC511F7-2EE5-4D27-AADE-2CD1FBC02CEE}"/>
              </a:ext>
            </a:extLst>
          </p:cNvPr>
          <p:cNvSpPr/>
          <p:nvPr/>
        </p:nvSpPr>
        <p:spPr>
          <a:xfrm>
            <a:off x="2870719" y="5335944"/>
            <a:ext cx="815788" cy="486183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/>
              <a:t>Save</a:t>
            </a:r>
            <a:endParaRPr lang="da-DK" b="1" dirty="0"/>
          </a:p>
        </p:txBody>
      </p:sp>
    </p:spTree>
    <p:extLst>
      <p:ext uri="{BB962C8B-B14F-4D97-AF65-F5344CB8AC3E}">
        <p14:creationId xmlns:p14="http://schemas.microsoft.com/office/powerpoint/2010/main" val="1237503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lede 4">
            <a:extLst>
              <a:ext uri="{FF2B5EF4-FFF2-40B4-BE49-F238E27FC236}">
                <a16:creationId xmlns:a16="http://schemas.microsoft.com/office/drawing/2014/main" id="{54BCEF64-07B6-BAF2-BE6F-7A34E14BB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291" y="489890"/>
            <a:ext cx="9729315" cy="5852220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5F769625-95C4-A99F-5ABA-7A5FCE21E18D}"/>
              </a:ext>
            </a:extLst>
          </p:cNvPr>
          <p:cNvSpPr/>
          <p:nvPr/>
        </p:nvSpPr>
        <p:spPr>
          <a:xfrm>
            <a:off x="6709326" y="5667197"/>
            <a:ext cx="3448595" cy="674913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20542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id="{AE5B26A3-26AE-C89E-7DB1-B07E0E605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296" y="601646"/>
            <a:ext cx="10436247" cy="5846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350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>
            <a:extLst>
              <a:ext uri="{FF2B5EF4-FFF2-40B4-BE49-F238E27FC236}">
                <a16:creationId xmlns:a16="http://schemas.microsoft.com/office/drawing/2014/main" id="{10AF5493-7329-4561-AEBB-A944AC099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792" y="448599"/>
            <a:ext cx="10630702" cy="5791945"/>
          </a:xfrm>
          <a:prstGeom prst="rect">
            <a:avLst/>
          </a:prstGeom>
        </p:spPr>
      </p:pic>
      <p:sp>
        <p:nvSpPr>
          <p:cNvPr id="5" name="Ellipse 4">
            <a:extLst>
              <a:ext uri="{FF2B5EF4-FFF2-40B4-BE49-F238E27FC236}">
                <a16:creationId xmlns:a16="http://schemas.microsoft.com/office/drawing/2014/main" id="{BA23F670-5D82-8C33-13B2-FE62F1D51BC1}"/>
              </a:ext>
            </a:extLst>
          </p:cNvPr>
          <p:cNvSpPr/>
          <p:nvPr/>
        </p:nvSpPr>
        <p:spPr>
          <a:xfrm>
            <a:off x="7743899" y="5734488"/>
            <a:ext cx="3448595" cy="674913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92144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>
            <a:extLst>
              <a:ext uri="{FF2B5EF4-FFF2-40B4-BE49-F238E27FC236}">
                <a16:creationId xmlns:a16="http://schemas.microsoft.com/office/drawing/2014/main" id="{07A83621-6D5B-9274-9793-AEB1EF144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242" y="556102"/>
            <a:ext cx="11359820" cy="4458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869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id="{6E9FC809-1F86-8557-3B59-44A450E00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596" y="444694"/>
            <a:ext cx="10060229" cy="6050374"/>
          </a:xfrm>
          <a:prstGeom prst="rect">
            <a:avLst/>
          </a:prstGeom>
        </p:spPr>
      </p:pic>
      <p:sp>
        <p:nvSpPr>
          <p:cNvPr id="5" name="Ellipse 4">
            <a:extLst>
              <a:ext uri="{FF2B5EF4-FFF2-40B4-BE49-F238E27FC236}">
                <a16:creationId xmlns:a16="http://schemas.microsoft.com/office/drawing/2014/main" id="{8B9E011F-49A5-E4AE-C20B-198910EAF294}"/>
              </a:ext>
            </a:extLst>
          </p:cNvPr>
          <p:cNvSpPr/>
          <p:nvPr/>
        </p:nvSpPr>
        <p:spPr>
          <a:xfrm>
            <a:off x="6729164" y="1192530"/>
            <a:ext cx="4187075" cy="674913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14152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>
            <a:extLst>
              <a:ext uri="{FF2B5EF4-FFF2-40B4-BE49-F238E27FC236}">
                <a16:creationId xmlns:a16="http://schemas.microsoft.com/office/drawing/2014/main" id="{6AFADDBD-508F-F205-95A0-BC7CD55FE8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812" y="379429"/>
            <a:ext cx="11361145" cy="6099142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C1C7430C-7184-4BAD-84BC-83D370CA6BBF}"/>
              </a:ext>
            </a:extLst>
          </p:cNvPr>
          <p:cNvSpPr/>
          <p:nvPr/>
        </p:nvSpPr>
        <p:spPr>
          <a:xfrm>
            <a:off x="7900153" y="1240023"/>
            <a:ext cx="3448595" cy="1380853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20263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id="{B82D0187-5A93-7F97-636F-5D3ECF5FB4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761" y="783371"/>
            <a:ext cx="10695470" cy="4655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325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id="{C4D2258D-44A9-B205-83DF-8539882CB9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67" y="750255"/>
            <a:ext cx="9314089" cy="5000195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C1C7430C-7184-4BAD-84BC-83D370CA6BBF}"/>
              </a:ext>
            </a:extLst>
          </p:cNvPr>
          <p:cNvSpPr/>
          <p:nvPr/>
        </p:nvSpPr>
        <p:spPr>
          <a:xfrm>
            <a:off x="6789851" y="1107550"/>
            <a:ext cx="3448595" cy="1380853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Håndskrift 6">
                <a:extLst>
                  <a:ext uri="{FF2B5EF4-FFF2-40B4-BE49-F238E27FC236}">
                    <a16:creationId xmlns:a16="http://schemas.microsoft.com/office/drawing/2014/main" id="{4AA465AB-BA28-FA40-72CF-F139934BCFA5}"/>
                  </a:ext>
                </a:extLst>
              </p14:cNvPr>
              <p14:cNvContentPartPr/>
              <p14:nvPr/>
            </p14:nvContentPartPr>
            <p14:xfrm>
              <a:off x="9644882" y="1636033"/>
              <a:ext cx="304920" cy="282960"/>
            </p14:xfrm>
          </p:contentPart>
        </mc:Choice>
        <mc:Fallback xmlns="">
          <p:pic>
            <p:nvPicPr>
              <p:cNvPr id="7" name="Håndskrift 6">
                <a:extLst>
                  <a:ext uri="{FF2B5EF4-FFF2-40B4-BE49-F238E27FC236}">
                    <a16:creationId xmlns:a16="http://schemas.microsoft.com/office/drawing/2014/main" id="{4AA465AB-BA28-FA40-72CF-F139934BCFA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635882" y="1627393"/>
                <a:ext cx="322560" cy="300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13794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>
            <a:extLst>
              <a:ext uri="{FF2B5EF4-FFF2-40B4-BE49-F238E27FC236}">
                <a16:creationId xmlns:a16="http://schemas.microsoft.com/office/drawing/2014/main" id="{7685A853-ADEF-44D3-CE74-EBCF90714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367" y="679054"/>
            <a:ext cx="9750879" cy="5234682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C1C7430C-7184-4BAD-84BC-83D370CA6BBF}"/>
              </a:ext>
            </a:extLst>
          </p:cNvPr>
          <p:cNvSpPr/>
          <p:nvPr/>
        </p:nvSpPr>
        <p:spPr>
          <a:xfrm>
            <a:off x="7867537" y="1083057"/>
            <a:ext cx="3448595" cy="1380853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56492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id="{0E814B1F-80AD-3266-2493-C20E2936D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553" y="1120051"/>
            <a:ext cx="10402455" cy="4072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986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>
            <a:extLst>
              <a:ext uri="{FF2B5EF4-FFF2-40B4-BE49-F238E27FC236}">
                <a16:creationId xmlns:a16="http://schemas.microsoft.com/office/drawing/2014/main" id="{6E096532-E643-90E2-E739-B46DBDA31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869" y="1116616"/>
            <a:ext cx="9906000" cy="42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749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58B3C0-4B42-7178-86C1-0022BB7B7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is my (local) repository…!?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B30459D-E2A7-ACCC-49D8-D10712DD8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35929" cy="4351338"/>
          </a:xfrm>
        </p:spPr>
        <p:txBody>
          <a:bodyPr/>
          <a:lstStyle/>
          <a:p>
            <a:r>
              <a:rPr lang="en-US" dirty="0"/>
              <a:t>On your local PC, you have two </a:t>
            </a:r>
            <a:r>
              <a:rPr lang="en-US" b="1" dirty="0"/>
              <a:t>logical</a:t>
            </a:r>
            <a:r>
              <a:rPr lang="en-US" dirty="0"/>
              <a:t> entities</a:t>
            </a:r>
          </a:p>
          <a:p>
            <a:pPr lvl="1"/>
            <a:r>
              <a:rPr lang="en-US" dirty="0"/>
              <a:t>Your </a:t>
            </a:r>
            <a:r>
              <a:rPr lang="en-US" b="1" dirty="0"/>
              <a:t>source code</a:t>
            </a:r>
          </a:p>
          <a:p>
            <a:pPr lvl="1"/>
            <a:r>
              <a:rPr lang="en-US" dirty="0"/>
              <a:t>Your </a:t>
            </a:r>
            <a:r>
              <a:rPr lang="en-US" b="1" dirty="0"/>
              <a:t>repository</a:t>
            </a:r>
          </a:p>
          <a:p>
            <a:r>
              <a:rPr lang="en-US" dirty="0"/>
              <a:t>The repository is </a:t>
            </a:r>
            <a:r>
              <a:rPr lang="en-US" b="1" dirty="0"/>
              <a:t>physically</a:t>
            </a:r>
            <a:r>
              <a:rPr lang="en-US" dirty="0"/>
              <a:t> represented by a hidden folder named </a:t>
            </a:r>
            <a:r>
              <a:rPr lang="en-US" b="1" dirty="0"/>
              <a:t>.git</a:t>
            </a:r>
            <a:r>
              <a:rPr lang="en-US" dirty="0"/>
              <a:t> in your source code folder</a:t>
            </a:r>
            <a:endParaRPr lang="da-DK" dirty="0"/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A673091E-06AF-6532-238D-C2815FFA6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4515" y="1753018"/>
            <a:ext cx="5925529" cy="1675982"/>
          </a:xfrm>
          <a:prstGeom prst="rect">
            <a:avLst/>
          </a:prstGeom>
        </p:spPr>
      </p:pic>
      <p:pic>
        <p:nvPicPr>
          <p:cNvPr id="7" name="Billede 6">
            <a:extLst>
              <a:ext uri="{FF2B5EF4-FFF2-40B4-BE49-F238E27FC236}">
                <a16:creationId xmlns:a16="http://schemas.microsoft.com/office/drawing/2014/main" id="{2CA23C29-5326-0825-F8D1-1B609C2577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4515" y="3727855"/>
            <a:ext cx="5925529" cy="2469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65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35E11D-C520-3FD0-9F36-C1956E85F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Two+ persons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7EE084F-232F-AC9A-79FE-877E27E4A8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Person A invites Person B/C/… to be a </a:t>
            </a:r>
            <a:r>
              <a:rPr lang="en-US" b="1" dirty="0"/>
              <a:t>collaborator</a:t>
            </a:r>
            <a:r>
              <a:rPr lang="en-US" dirty="0"/>
              <a:t> on repository</a:t>
            </a:r>
          </a:p>
          <a:p>
            <a:r>
              <a:rPr lang="en-US" dirty="0"/>
              <a:t>Person B/C/… accepts invitation</a:t>
            </a:r>
          </a:p>
          <a:p>
            <a:r>
              <a:rPr lang="en-US" dirty="0"/>
              <a:t>Person B/C/… can now (in VS) </a:t>
            </a:r>
            <a:r>
              <a:rPr lang="en-US" u="sng" dirty="0"/>
              <a:t>clone</a:t>
            </a:r>
            <a:r>
              <a:rPr lang="en-US" dirty="0"/>
              <a:t> repository (cloning is done </a:t>
            </a:r>
            <a:r>
              <a:rPr lang="en-US" u="sng" dirty="0"/>
              <a:t>once</a:t>
            </a:r>
            <a:r>
              <a:rPr lang="en-US" dirty="0"/>
              <a:t>)</a:t>
            </a:r>
          </a:p>
          <a:p>
            <a:r>
              <a:rPr lang="en-US" dirty="0"/>
              <a:t>Person B/C/… can now also update code, commit and push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409458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D794AA80-D126-501E-668D-C254793731F7}"/>
              </a:ext>
            </a:extLst>
          </p:cNvPr>
          <p:cNvSpPr/>
          <p:nvPr/>
        </p:nvSpPr>
        <p:spPr>
          <a:xfrm>
            <a:off x="518432" y="371475"/>
            <a:ext cx="11225893" cy="20614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GitHub (person A)</a:t>
            </a:r>
            <a:endParaRPr lang="da-DK" dirty="0"/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CDFBF60B-1A16-1578-C1A9-6A10A5E7D5A6}"/>
              </a:ext>
            </a:extLst>
          </p:cNvPr>
          <p:cNvSpPr/>
          <p:nvPr/>
        </p:nvSpPr>
        <p:spPr>
          <a:xfrm>
            <a:off x="683079" y="785133"/>
            <a:ext cx="10289722" cy="149270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Repository </a:t>
            </a: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C41704E4-2685-6B2C-47D8-F589C7294839}"/>
              </a:ext>
            </a:extLst>
          </p:cNvPr>
          <p:cNvSpPr/>
          <p:nvPr/>
        </p:nvSpPr>
        <p:spPr>
          <a:xfrm>
            <a:off x="518431" y="4365171"/>
            <a:ext cx="11225893" cy="20614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Person B local PC</a:t>
            </a:r>
            <a:endParaRPr lang="da-DK" dirty="0"/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2E71B9D9-BAFF-48FA-59E9-74F895BE7E21}"/>
              </a:ext>
            </a:extLst>
          </p:cNvPr>
          <p:cNvSpPr/>
          <p:nvPr/>
        </p:nvSpPr>
        <p:spPr>
          <a:xfrm>
            <a:off x="6766560" y="4781551"/>
            <a:ext cx="4824549" cy="149270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Repository</a:t>
            </a: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27075996-7E44-E3BA-73B0-582EDBD09986}"/>
              </a:ext>
            </a:extLst>
          </p:cNvPr>
          <p:cNvSpPr/>
          <p:nvPr/>
        </p:nvSpPr>
        <p:spPr>
          <a:xfrm>
            <a:off x="8675071" y="5006884"/>
            <a:ext cx="2374445" cy="972911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Master</a:t>
            </a:r>
            <a:endParaRPr lang="da-DK" dirty="0"/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0B938953-91E3-9C21-CB5C-39184D564081}"/>
              </a:ext>
            </a:extLst>
          </p:cNvPr>
          <p:cNvSpPr/>
          <p:nvPr/>
        </p:nvSpPr>
        <p:spPr>
          <a:xfrm>
            <a:off x="2852058" y="1045028"/>
            <a:ext cx="2374445" cy="972911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Master</a:t>
            </a:r>
            <a:endParaRPr lang="da-DK" dirty="0"/>
          </a:p>
        </p:txBody>
      </p:sp>
      <p:cxnSp>
        <p:nvCxnSpPr>
          <p:cNvPr id="14" name="Lige pilforbindelse 13">
            <a:extLst>
              <a:ext uri="{FF2B5EF4-FFF2-40B4-BE49-F238E27FC236}">
                <a16:creationId xmlns:a16="http://schemas.microsoft.com/office/drawing/2014/main" id="{8C502E05-AE32-21AD-932B-D19B1DBF1BB7}"/>
              </a:ext>
            </a:extLst>
          </p:cNvPr>
          <p:cNvCxnSpPr>
            <a:cxnSpLocks/>
          </p:cNvCxnSpPr>
          <p:nvPr/>
        </p:nvCxnSpPr>
        <p:spPr>
          <a:xfrm>
            <a:off x="4102554" y="2076449"/>
            <a:ext cx="5808889" cy="2875190"/>
          </a:xfrm>
          <a:prstGeom prst="straightConnector1">
            <a:avLst/>
          </a:prstGeom>
          <a:ln w="762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kstfelt 14">
            <a:extLst>
              <a:ext uri="{FF2B5EF4-FFF2-40B4-BE49-F238E27FC236}">
                <a16:creationId xmlns:a16="http://schemas.microsoft.com/office/drawing/2014/main" id="{4ACCE0AF-AD4F-0D91-3EA3-8DAEE3A11BF1}"/>
              </a:ext>
            </a:extLst>
          </p:cNvPr>
          <p:cNvSpPr txBox="1"/>
          <p:nvPr/>
        </p:nvSpPr>
        <p:spPr>
          <a:xfrm>
            <a:off x="6966857" y="3150938"/>
            <a:ext cx="724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Clone</a:t>
            </a:r>
            <a:endParaRPr lang="da-DK" b="1" dirty="0"/>
          </a:p>
        </p:txBody>
      </p:sp>
    </p:spTree>
    <p:extLst>
      <p:ext uri="{BB962C8B-B14F-4D97-AF65-F5344CB8AC3E}">
        <p14:creationId xmlns:p14="http://schemas.microsoft.com/office/powerpoint/2010/main" val="1307028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D794AA80-D126-501E-668D-C254793731F7}"/>
              </a:ext>
            </a:extLst>
          </p:cNvPr>
          <p:cNvSpPr/>
          <p:nvPr/>
        </p:nvSpPr>
        <p:spPr>
          <a:xfrm>
            <a:off x="518432" y="371475"/>
            <a:ext cx="11225893" cy="20614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GitHub (person A)</a:t>
            </a:r>
            <a:endParaRPr lang="da-DK" dirty="0"/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CDFBF60B-1A16-1578-C1A9-6A10A5E7D5A6}"/>
              </a:ext>
            </a:extLst>
          </p:cNvPr>
          <p:cNvSpPr/>
          <p:nvPr/>
        </p:nvSpPr>
        <p:spPr>
          <a:xfrm>
            <a:off x="683079" y="785133"/>
            <a:ext cx="10289722" cy="149270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Repository </a:t>
            </a: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C41704E4-2685-6B2C-47D8-F589C7294839}"/>
              </a:ext>
            </a:extLst>
          </p:cNvPr>
          <p:cNvSpPr/>
          <p:nvPr/>
        </p:nvSpPr>
        <p:spPr>
          <a:xfrm>
            <a:off x="518431" y="4365171"/>
            <a:ext cx="11225893" cy="20614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Person B local PC</a:t>
            </a:r>
            <a:endParaRPr lang="da-DK" dirty="0"/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2E71B9D9-BAFF-48FA-59E9-74F895BE7E21}"/>
              </a:ext>
            </a:extLst>
          </p:cNvPr>
          <p:cNvSpPr/>
          <p:nvPr/>
        </p:nvSpPr>
        <p:spPr>
          <a:xfrm>
            <a:off x="6766560" y="4781551"/>
            <a:ext cx="4824549" cy="149270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Repository</a:t>
            </a: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27075996-7E44-E3BA-73B0-582EDBD09986}"/>
              </a:ext>
            </a:extLst>
          </p:cNvPr>
          <p:cNvSpPr/>
          <p:nvPr/>
        </p:nvSpPr>
        <p:spPr>
          <a:xfrm>
            <a:off x="8675071" y="5006884"/>
            <a:ext cx="2374445" cy="972911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Master</a:t>
            </a:r>
            <a:endParaRPr lang="da-DK" dirty="0"/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0B938953-91E3-9C21-CB5C-39184D564081}"/>
              </a:ext>
            </a:extLst>
          </p:cNvPr>
          <p:cNvSpPr/>
          <p:nvPr/>
        </p:nvSpPr>
        <p:spPr>
          <a:xfrm>
            <a:off x="2852058" y="1045028"/>
            <a:ext cx="2374445" cy="972911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Master</a:t>
            </a:r>
            <a:endParaRPr lang="da-DK" dirty="0"/>
          </a:p>
        </p:txBody>
      </p:sp>
      <p:cxnSp>
        <p:nvCxnSpPr>
          <p:cNvPr id="14" name="Lige pilforbindelse 13">
            <a:extLst>
              <a:ext uri="{FF2B5EF4-FFF2-40B4-BE49-F238E27FC236}">
                <a16:creationId xmlns:a16="http://schemas.microsoft.com/office/drawing/2014/main" id="{8C502E05-AE32-21AD-932B-D19B1DBF1BB7}"/>
              </a:ext>
            </a:extLst>
          </p:cNvPr>
          <p:cNvCxnSpPr>
            <a:cxnSpLocks/>
          </p:cNvCxnSpPr>
          <p:nvPr/>
        </p:nvCxnSpPr>
        <p:spPr>
          <a:xfrm flipH="1" flipV="1">
            <a:off x="4201886" y="2124891"/>
            <a:ext cx="5529943" cy="2756263"/>
          </a:xfrm>
          <a:prstGeom prst="straightConnector1">
            <a:avLst/>
          </a:prstGeom>
          <a:ln w="762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kstfelt 14">
            <a:extLst>
              <a:ext uri="{FF2B5EF4-FFF2-40B4-BE49-F238E27FC236}">
                <a16:creationId xmlns:a16="http://schemas.microsoft.com/office/drawing/2014/main" id="{4ACCE0AF-AD4F-0D91-3EA3-8DAEE3A11BF1}"/>
              </a:ext>
            </a:extLst>
          </p:cNvPr>
          <p:cNvSpPr txBox="1"/>
          <p:nvPr/>
        </p:nvSpPr>
        <p:spPr>
          <a:xfrm>
            <a:off x="6966857" y="315093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Push</a:t>
            </a:r>
            <a:endParaRPr lang="da-DK" b="1" dirty="0"/>
          </a:p>
        </p:txBody>
      </p:sp>
      <p:sp>
        <p:nvSpPr>
          <p:cNvPr id="2" name="Rektangel 1">
            <a:extLst>
              <a:ext uri="{FF2B5EF4-FFF2-40B4-BE49-F238E27FC236}">
                <a16:creationId xmlns:a16="http://schemas.microsoft.com/office/drawing/2014/main" id="{C722B38B-06DD-A64A-B2AD-DA39EF23E452}"/>
              </a:ext>
            </a:extLst>
          </p:cNvPr>
          <p:cNvSpPr/>
          <p:nvPr/>
        </p:nvSpPr>
        <p:spPr>
          <a:xfrm>
            <a:off x="2091391" y="4781552"/>
            <a:ext cx="2374445" cy="149270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Source code</a:t>
            </a:r>
            <a:endParaRPr lang="da-DK" dirty="0"/>
          </a:p>
        </p:txBody>
      </p:sp>
      <p:cxnSp>
        <p:nvCxnSpPr>
          <p:cNvPr id="3" name="Lige pilforbindelse 2">
            <a:extLst>
              <a:ext uri="{FF2B5EF4-FFF2-40B4-BE49-F238E27FC236}">
                <a16:creationId xmlns:a16="http://schemas.microsoft.com/office/drawing/2014/main" id="{A22DEC2B-E76E-32BB-F912-8F43E3301EBF}"/>
              </a:ext>
            </a:extLst>
          </p:cNvPr>
          <p:cNvCxnSpPr>
            <a:cxnSpLocks/>
          </p:cNvCxnSpPr>
          <p:nvPr/>
        </p:nvCxnSpPr>
        <p:spPr>
          <a:xfrm>
            <a:off x="4609555" y="5586684"/>
            <a:ext cx="3981451" cy="0"/>
          </a:xfrm>
          <a:prstGeom prst="straightConnector1">
            <a:avLst/>
          </a:prstGeom>
          <a:ln w="76200">
            <a:solidFill>
              <a:srgbClr val="FFFF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kstfelt 12">
            <a:extLst>
              <a:ext uri="{FF2B5EF4-FFF2-40B4-BE49-F238E27FC236}">
                <a16:creationId xmlns:a16="http://schemas.microsoft.com/office/drawing/2014/main" id="{5B482216-8613-509B-5BB1-EDB2A811BA75}"/>
              </a:ext>
            </a:extLst>
          </p:cNvPr>
          <p:cNvSpPr txBox="1"/>
          <p:nvPr/>
        </p:nvSpPr>
        <p:spPr>
          <a:xfrm>
            <a:off x="5097513" y="5158570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Commit</a:t>
            </a:r>
            <a:endParaRPr lang="da-DK" b="1" dirty="0">
              <a:solidFill>
                <a:srgbClr val="FFFF00"/>
              </a:solidFill>
            </a:endParaRPr>
          </a:p>
        </p:txBody>
      </p:sp>
      <p:sp>
        <p:nvSpPr>
          <p:cNvPr id="16" name="Rektangel 15">
            <a:extLst>
              <a:ext uri="{FF2B5EF4-FFF2-40B4-BE49-F238E27FC236}">
                <a16:creationId xmlns:a16="http://schemas.microsoft.com/office/drawing/2014/main" id="{5DD7A457-A05C-4119-918B-333DFD8E1F46}"/>
              </a:ext>
            </a:extLst>
          </p:cNvPr>
          <p:cNvSpPr/>
          <p:nvPr/>
        </p:nvSpPr>
        <p:spPr>
          <a:xfrm>
            <a:off x="2870719" y="5335944"/>
            <a:ext cx="815788" cy="486183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/>
              <a:t>Save</a:t>
            </a:r>
            <a:endParaRPr lang="da-DK" b="1" dirty="0"/>
          </a:p>
        </p:txBody>
      </p:sp>
    </p:spTree>
    <p:extLst>
      <p:ext uri="{BB962C8B-B14F-4D97-AF65-F5344CB8AC3E}">
        <p14:creationId xmlns:p14="http://schemas.microsoft.com/office/powerpoint/2010/main" val="601781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id="{6F7B47BC-57EB-326E-86CC-460E1B2078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416" y="1118124"/>
            <a:ext cx="9775371" cy="462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64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>
            <a:extLst>
              <a:ext uri="{FF2B5EF4-FFF2-40B4-BE49-F238E27FC236}">
                <a16:creationId xmlns:a16="http://schemas.microsoft.com/office/drawing/2014/main" id="{21A47CE8-33D9-296B-1712-0E7AB2783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5220" y="1035057"/>
            <a:ext cx="8121559" cy="4436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116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id="{E9E26978-76DB-DFB4-C086-315A4B219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851" y="698810"/>
            <a:ext cx="6219306" cy="3929797"/>
          </a:xfrm>
          <a:prstGeom prst="rect">
            <a:avLst/>
          </a:prstGeom>
        </p:spPr>
      </p:pic>
      <p:sp>
        <p:nvSpPr>
          <p:cNvPr id="5" name="Ellipse 4">
            <a:extLst>
              <a:ext uri="{FF2B5EF4-FFF2-40B4-BE49-F238E27FC236}">
                <a16:creationId xmlns:a16="http://schemas.microsoft.com/office/drawing/2014/main" id="{4FEE3034-B4D2-9737-7997-B383760C97D4}"/>
              </a:ext>
            </a:extLst>
          </p:cNvPr>
          <p:cNvSpPr/>
          <p:nvPr/>
        </p:nvSpPr>
        <p:spPr>
          <a:xfrm>
            <a:off x="5691051" y="3156857"/>
            <a:ext cx="1249680" cy="361406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10B825B5-5FE6-DB53-A61D-8BACF75C00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6863" y="1436915"/>
            <a:ext cx="3808843" cy="3540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267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id="{8E6FCE45-FF5A-5B9C-A5F6-335F70D66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547" y="1150741"/>
            <a:ext cx="8913223" cy="3805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217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>
            <a:extLst>
              <a:ext uri="{FF2B5EF4-FFF2-40B4-BE49-F238E27FC236}">
                <a16:creationId xmlns:a16="http://schemas.microsoft.com/office/drawing/2014/main" id="{77F3D9C9-F847-E0F3-C0B2-1208B2331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9212" y="915619"/>
            <a:ext cx="7466637" cy="5236985"/>
          </a:xfrm>
          <a:prstGeom prst="rect">
            <a:avLst/>
          </a:prstGeom>
        </p:spPr>
      </p:pic>
      <p:sp>
        <p:nvSpPr>
          <p:cNvPr id="5" name="Ellipse 4">
            <a:extLst>
              <a:ext uri="{FF2B5EF4-FFF2-40B4-BE49-F238E27FC236}">
                <a16:creationId xmlns:a16="http://schemas.microsoft.com/office/drawing/2014/main" id="{76EE9EBE-C83B-662E-7D8D-69E4169953F7}"/>
              </a:ext>
            </a:extLst>
          </p:cNvPr>
          <p:cNvSpPr/>
          <p:nvPr/>
        </p:nvSpPr>
        <p:spPr>
          <a:xfrm>
            <a:off x="7206344" y="1489166"/>
            <a:ext cx="2477588" cy="979714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91232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id="{8B4CD3B0-52B7-7222-D297-7153B8EB0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705" y="280535"/>
            <a:ext cx="8446417" cy="5932753"/>
          </a:xfrm>
          <a:prstGeom prst="rect">
            <a:avLst/>
          </a:prstGeom>
        </p:spPr>
      </p:pic>
      <p:sp>
        <p:nvSpPr>
          <p:cNvPr id="5" name="Ellipse 4">
            <a:extLst>
              <a:ext uri="{FF2B5EF4-FFF2-40B4-BE49-F238E27FC236}">
                <a16:creationId xmlns:a16="http://schemas.microsoft.com/office/drawing/2014/main" id="{76EE9EBE-C83B-662E-7D8D-69E4169953F7}"/>
              </a:ext>
            </a:extLst>
          </p:cNvPr>
          <p:cNvSpPr/>
          <p:nvPr/>
        </p:nvSpPr>
        <p:spPr>
          <a:xfrm>
            <a:off x="311085" y="1187777"/>
            <a:ext cx="6620394" cy="1992211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60462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>
            <a:extLst>
              <a:ext uri="{FF2B5EF4-FFF2-40B4-BE49-F238E27FC236}">
                <a16:creationId xmlns:a16="http://schemas.microsoft.com/office/drawing/2014/main" id="{B24BFFB1-55C2-2FA4-6BA9-C5036CD63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773" y="594302"/>
            <a:ext cx="10289508" cy="5495413"/>
          </a:xfrm>
          <a:prstGeom prst="rect">
            <a:avLst/>
          </a:prstGeom>
        </p:spPr>
      </p:pic>
      <p:sp>
        <p:nvSpPr>
          <p:cNvPr id="5" name="Ellipse 4">
            <a:extLst>
              <a:ext uri="{FF2B5EF4-FFF2-40B4-BE49-F238E27FC236}">
                <a16:creationId xmlns:a16="http://schemas.microsoft.com/office/drawing/2014/main" id="{76EE9EBE-C83B-662E-7D8D-69E4169953F7}"/>
              </a:ext>
            </a:extLst>
          </p:cNvPr>
          <p:cNvSpPr/>
          <p:nvPr/>
        </p:nvSpPr>
        <p:spPr>
          <a:xfrm>
            <a:off x="6994142" y="1112363"/>
            <a:ext cx="4355730" cy="1809945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87022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35E11D-C520-3FD0-9F36-C1956E85F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Two+ persons – getting changes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7EE084F-232F-AC9A-79FE-877E27E4A8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person has made changes and has </a:t>
            </a:r>
            <a:r>
              <a:rPr lang="en-US" dirty="0" err="1"/>
              <a:t>committed+pushed</a:t>
            </a:r>
            <a:r>
              <a:rPr lang="en-US" dirty="0"/>
              <a:t> to GitHub</a:t>
            </a:r>
          </a:p>
          <a:p>
            <a:r>
              <a:rPr lang="en-US" dirty="0"/>
              <a:t>How do other persons get these changes onto their local PC…?</a:t>
            </a:r>
          </a:p>
          <a:p>
            <a:r>
              <a:rPr lang="da-DK" dirty="0" err="1"/>
              <a:t>These</a:t>
            </a:r>
            <a:r>
              <a:rPr lang="da-DK" dirty="0"/>
              <a:t> operations </a:t>
            </a:r>
            <a:r>
              <a:rPr lang="da-DK" dirty="0" err="1"/>
              <a:t>are</a:t>
            </a:r>
            <a:r>
              <a:rPr lang="da-DK" dirty="0"/>
              <a:t> </a:t>
            </a:r>
            <a:r>
              <a:rPr lang="da-DK" dirty="0" err="1"/>
              <a:t>available</a:t>
            </a:r>
            <a:r>
              <a:rPr lang="da-DK" dirty="0"/>
              <a:t>:</a:t>
            </a:r>
          </a:p>
          <a:p>
            <a:pPr lvl="1"/>
            <a:r>
              <a:rPr lang="da-DK" b="1" dirty="0" err="1"/>
              <a:t>Fetch</a:t>
            </a:r>
            <a:r>
              <a:rPr lang="da-DK" dirty="0"/>
              <a:t>: </a:t>
            </a:r>
            <a:r>
              <a:rPr lang="da-DK" dirty="0" err="1"/>
              <a:t>Get</a:t>
            </a:r>
            <a:r>
              <a:rPr lang="da-DK" dirty="0"/>
              <a:t> </a:t>
            </a:r>
            <a:r>
              <a:rPr lang="da-DK" dirty="0" err="1"/>
              <a:t>changes</a:t>
            </a:r>
            <a:r>
              <a:rPr lang="da-DK" dirty="0"/>
              <a:t> </a:t>
            </a:r>
            <a:r>
              <a:rPr lang="da-DK" u="sng" dirty="0"/>
              <a:t>from</a:t>
            </a:r>
            <a:r>
              <a:rPr lang="da-DK" dirty="0"/>
              <a:t> GitHub </a:t>
            </a:r>
            <a:r>
              <a:rPr lang="da-DK" u="sng" dirty="0"/>
              <a:t>to</a:t>
            </a:r>
            <a:r>
              <a:rPr lang="da-DK" dirty="0"/>
              <a:t> </a:t>
            </a:r>
            <a:r>
              <a:rPr lang="da-DK" dirty="0" err="1"/>
              <a:t>your</a:t>
            </a:r>
            <a:r>
              <a:rPr lang="da-DK" dirty="0"/>
              <a:t> </a:t>
            </a:r>
            <a:r>
              <a:rPr lang="da-DK" dirty="0" err="1"/>
              <a:t>local</a:t>
            </a:r>
            <a:r>
              <a:rPr lang="da-DK" dirty="0"/>
              <a:t> </a:t>
            </a:r>
            <a:r>
              <a:rPr lang="da-DK" dirty="0" err="1"/>
              <a:t>repository</a:t>
            </a:r>
            <a:r>
              <a:rPr lang="da-DK" dirty="0"/>
              <a:t>. </a:t>
            </a:r>
            <a:r>
              <a:rPr lang="da-DK" b="1" dirty="0">
                <a:solidFill>
                  <a:srgbClr val="FF0000"/>
                </a:solidFill>
              </a:rPr>
              <a:t>NB</a:t>
            </a:r>
            <a:r>
              <a:rPr lang="da-DK" dirty="0"/>
              <a:t>: This </a:t>
            </a:r>
            <a:r>
              <a:rPr lang="da-DK" dirty="0" err="1"/>
              <a:t>does</a:t>
            </a:r>
            <a:r>
              <a:rPr lang="da-DK" dirty="0"/>
              <a:t> </a:t>
            </a:r>
            <a:r>
              <a:rPr lang="da-DK" u="sng" dirty="0"/>
              <a:t>not</a:t>
            </a:r>
            <a:r>
              <a:rPr lang="da-DK" dirty="0"/>
              <a:t> </a:t>
            </a:r>
            <a:r>
              <a:rPr lang="da-DK" dirty="0" err="1"/>
              <a:t>update</a:t>
            </a:r>
            <a:r>
              <a:rPr lang="da-DK" dirty="0"/>
              <a:t> </a:t>
            </a:r>
            <a:r>
              <a:rPr lang="da-DK" dirty="0" err="1"/>
              <a:t>your</a:t>
            </a:r>
            <a:r>
              <a:rPr lang="da-DK" dirty="0"/>
              <a:t> </a:t>
            </a:r>
            <a:r>
              <a:rPr lang="da-DK" dirty="0" err="1"/>
              <a:t>actual</a:t>
            </a:r>
            <a:r>
              <a:rPr lang="da-DK" dirty="0"/>
              <a:t> source </a:t>
            </a:r>
            <a:r>
              <a:rPr lang="da-DK" dirty="0" err="1"/>
              <a:t>code</a:t>
            </a:r>
            <a:r>
              <a:rPr lang="da-DK" dirty="0"/>
              <a:t> files!</a:t>
            </a:r>
          </a:p>
          <a:p>
            <a:pPr lvl="1"/>
            <a:r>
              <a:rPr lang="da-DK" b="1" dirty="0" err="1"/>
              <a:t>Merge</a:t>
            </a:r>
            <a:r>
              <a:rPr lang="da-DK" dirty="0"/>
              <a:t>: </a:t>
            </a:r>
            <a:r>
              <a:rPr lang="da-DK" dirty="0" err="1"/>
              <a:t>Merge</a:t>
            </a:r>
            <a:r>
              <a:rPr lang="da-DK" dirty="0"/>
              <a:t> </a:t>
            </a:r>
            <a:r>
              <a:rPr lang="da-DK" dirty="0" err="1"/>
              <a:t>changes</a:t>
            </a:r>
            <a:r>
              <a:rPr lang="da-DK" dirty="0"/>
              <a:t> in </a:t>
            </a:r>
            <a:r>
              <a:rPr lang="da-DK" dirty="0" err="1"/>
              <a:t>your</a:t>
            </a:r>
            <a:r>
              <a:rPr lang="da-DK" dirty="0"/>
              <a:t> </a:t>
            </a:r>
            <a:r>
              <a:rPr lang="da-DK" dirty="0" err="1"/>
              <a:t>local</a:t>
            </a:r>
            <a:r>
              <a:rPr lang="da-DK" dirty="0"/>
              <a:t> </a:t>
            </a:r>
            <a:r>
              <a:rPr lang="da-DK" dirty="0" err="1"/>
              <a:t>repository</a:t>
            </a:r>
            <a:r>
              <a:rPr lang="da-DK" dirty="0"/>
              <a:t> </a:t>
            </a:r>
            <a:r>
              <a:rPr lang="da-DK" dirty="0" err="1"/>
              <a:t>into</a:t>
            </a:r>
            <a:r>
              <a:rPr lang="da-DK" dirty="0"/>
              <a:t> </a:t>
            </a:r>
            <a:r>
              <a:rPr lang="da-DK" dirty="0" err="1"/>
              <a:t>your</a:t>
            </a:r>
            <a:r>
              <a:rPr lang="da-DK" dirty="0"/>
              <a:t> source </a:t>
            </a:r>
            <a:r>
              <a:rPr lang="da-DK" dirty="0" err="1"/>
              <a:t>code</a:t>
            </a:r>
            <a:r>
              <a:rPr lang="da-DK" dirty="0"/>
              <a:t> files.</a:t>
            </a:r>
          </a:p>
          <a:p>
            <a:pPr lvl="1"/>
            <a:r>
              <a:rPr lang="da-DK" b="1" dirty="0" err="1"/>
              <a:t>Pull</a:t>
            </a:r>
            <a:r>
              <a:rPr lang="da-DK" dirty="0"/>
              <a:t>: </a:t>
            </a:r>
            <a:r>
              <a:rPr lang="da-DK" dirty="0" err="1"/>
              <a:t>Does</a:t>
            </a:r>
            <a:r>
              <a:rPr lang="da-DK" dirty="0"/>
              <a:t> </a:t>
            </a:r>
            <a:r>
              <a:rPr lang="da-DK" dirty="0" err="1"/>
              <a:t>Fetch</a:t>
            </a:r>
            <a:r>
              <a:rPr lang="da-DK" dirty="0"/>
              <a:t> and </a:t>
            </a:r>
            <a:r>
              <a:rPr lang="da-DK" dirty="0" err="1"/>
              <a:t>Merge</a:t>
            </a:r>
            <a:r>
              <a:rPr lang="da-DK" dirty="0"/>
              <a:t> in a single operation</a:t>
            </a:r>
          </a:p>
          <a:p>
            <a:pPr lvl="1"/>
            <a:r>
              <a:rPr lang="da-DK" b="1" dirty="0" err="1"/>
              <a:t>Sync</a:t>
            </a:r>
            <a:r>
              <a:rPr lang="da-DK" dirty="0"/>
              <a:t>: </a:t>
            </a:r>
            <a:r>
              <a:rPr lang="da-DK" dirty="0" err="1"/>
              <a:t>Does</a:t>
            </a:r>
            <a:r>
              <a:rPr lang="da-DK" dirty="0"/>
              <a:t> </a:t>
            </a:r>
            <a:r>
              <a:rPr lang="da-DK" dirty="0" err="1"/>
              <a:t>Pull</a:t>
            </a:r>
            <a:r>
              <a:rPr lang="da-DK" dirty="0"/>
              <a:t> and Push in a single operation</a:t>
            </a:r>
          </a:p>
        </p:txBody>
      </p:sp>
    </p:spTree>
    <p:extLst>
      <p:ext uri="{BB962C8B-B14F-4D97-AF65-F5344CB8AC3E}">
        <p14:creationId xmlns:p14="http://schemas.microsoft.com/office/powerpoint/2010/main" val="3640590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35E11D-C520-3FD0-9F36-C1956E85F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Two+ persons – getting changes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7EE084F-232F-AC9A-79FE-877E27E4A8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b="1" dirty="0"/>
              <a:t>My </a:t>
            </a:r>
            <a:r>
              <a:rPr lang="da-DK" b="1" dirty="0" err="1"/>
              <a:t>advice</a:t>
            </a:r>
            <a:r>
              <a:rPr lang="da-DK" dirty="0"/>
              <a:t>: </a:t>
            </a:r>
            <a:r>
              <a:rPr lang="da-DK" dirty="0" err="1"/>
              <a:t>use</a:t>
            </a:r>
            <a:r>
              <a:rPr lang="da-DK" dirty="0"/>
              <a:t> </a:t>
            </a:r>
            <a:r>
              <a:rPr lang="da-DK" b="1" dirty="0" err="1"/>
              <a:t>Pull</a:t>
            </a:r>
            <a:r>
              <a:rPr lang="da-DK" dirty="0"/>
              <a:t> (in </a:t>
            </a:r>
            <a:r>
              <a:rPr lang="en-US" dirty="0"/>
              <a:t>the </a:t>
            </a:r>
            <a:r>
              <a:rPr lang="en-US" b="1" dirty="0"/>
              <a:t>Git Changes</a:t>
            </a:r>
            <a:r>
              <a:rPr lang="en-US" dirty="0"/>
              <a:t> view</a:t>
            </a:r>
            <a:r>
              <a:rPr lang="da-DK" dirty="0"/>
              <a:t>) to </a:t>
            </a:r>
            <a:r>
              <a:rPr lang="da-DK" dirty="0" err="1"/>
              <a:t>get</a:t>
            </a:r>
            <a:r>
              <a:rPr lang="da-DK" dirty="0"/>
              <a:t> </a:t>
            </a:r>
            <a:r>
              <a:rPr lang="da-DK" dirty="0" err="1"/>
              <a:t>changes</a:t>
            </a:r>
            <a:r>
              <a:rPr lang="da-DK" dirty="0"/>
              <a:t>.</a:t>
            </a:r>
          </a:p>
          <a:p>
            <a:r>
              <a:rPr lang="da-DK" u="sng" dirty="0"/>
              <a:t>Talk</a:t>
            </a:r>
            <a:r>
              <a:rPr lang="da-DK" dirty="0"/>
              <a:t> to </a:t>
            </a:r>
            <a:r>
              <a:rPr lang="da-DK" dirty="0" err="1"/>
              <a:t>each</a:t>
            </a:r>
            <a:r>
              <a:rPr lang="da-DK" dirty="0"/>
              <a:t> </a:t>
            </a:r>
            <a:r>
              <a:rPr lang="da-DK" dirty="0" err="1"/>
              <a:t>other</a:t>
            </a:r>
            <a:r>
              <a:rPr lang="da-DK" dirty="0"/>
              <a:t>! </a:t>
            </a:r>
          </a:p>
          <a:p>
            <a:r>
              <a:rPr lang="da-DK" u="sng" dirty="0" err="1"/>
              <a:t>Inform</a:t>
            </a:r>
            <a:r>
              <a:rPr lang="da-DK" dirty="0"/>
              <a:t> </a:t>
            </a:r>
            <a:r>
              <a:rPr lang="da-DK" dirty="0" err="1"/>
              <a:t>each</a:t>
            </a:r>
            <a:r>
              <a:rPr lang="da-DK" dirty="0"/>
              <a:t> </a:t>
            </a:r>
            <a:r>
              <a:rPr lang="da-DK" dirty="0" err="1"/>
              <a:t>other</a:t>
            </a:r>
            <a:r>
              <a:rPr lang="da-DK" dirty="0"/>
              <a:t> as </a:t>
            </a:r>
            <a:r>
              <a:rPr lang="da-DK" dirty="0" err="1"/>
              <a:t>soon</a:t>
            </a:r>
            <a:r>
              <a:rPr lang="da-DK" dirty="0"/>
              <a:t> as </a:t>
            </a:r>
            <a:r>
              <a:rPr lang="da-DK" dirty="0" err="1"/>
              <a:t>changes</a:t>
            </a:r>
            <a:r>
              <a:rPr lang="da-DK" dirty="0"/>
              <a:t> </a:t>
            </a:r>
            <a:r>
              <a:rPr lang="da-DK" err="1"/>
              <a:t>are</a:t>
            </a:r>
            <a:r>
              <a:rPr lang="da-DK"/>
              <a:t> made!</a:t>
            </a:r>
            <a:endParaRPr lang="da-DK" dirty="0"/>
          </a:p>
          <a:p>
            <a:r>
              <a:rPr lang="da-DK" dirty="0"/>
              <a:t>Do </a:t>
            </a:r>
            <a:r>
              <a:rPr lang="da-DK" u="sng" dirty="0"/>
              <a:t>not</a:t>
            </a:r>
            <a:r>
              <a:rPr lang="da-DK" dirty="0"/>
              <a:t> </a:t>
            </a:r>
            <a:r>
              <a:rPr lang="da-DK" err="1"/>
              <a:t>build</a:t>
            </a:r>
            <a:r>
              <a:rPr lang="da-DK"/>
              <a:t> up </a:t>
            </a:r>
            <a:r>
              <a:rPr lang="da-DK" dirty="0"/>
              <a:t>”</a:t>
            </a:r>
            <a:r>
              <a:rPr lang="da-DK" dirty="0" err="1"/>
              <a:t>backlogs</a:t>
            </a:r>
            <a:r>
              <a:rPr lang="da-DK" dirty="0"/>
              <a:t>” of </a:t>
            </a:r>
            <a:r>
              <a:rPr lang="da-DK" dirty="0" err="1"/>
              <a:t>uncommitted</a:t>
            </a:r>
            <a:r>
              <a:rPr lang="da-DK" dirty="0"/>
              <a:t>/</a:t>
            </a:r>
            <a:r>
              <a:rPr lang="da-DK" err="1"/>
              <a:t>unpulled</a:t>
            </a:r>
            <a:r>
              <a:rPr lang="da-DK"/>
              <a:t> changes!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748969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7C08E59-3A21-D11D-A6C0-ADD1393C8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Best advice (once more)…</a:t>
            </a:r>
            <a:endParaRPr lang="da-DK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0232727-BFFC-7C1B-A968-085A4CB1EC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4800" dirty="0"/>
              <a:t>KEEP IT SIMPLE!!</a:t>
            </a:r>
          </a:p>
          <a:p>
            <a:pPr marL="0" indent="0">
              <a:buNone/>
            </a:pPr>
            <a:endParaRPr lang="en-US" sz="2600" dirty="0"/>
          </a:p>
          <a:p>
            <a:r>
              <a:rPr lang="en-US" sz="2600" dirty="0"/>
              <a:t>Figure out a </a:t>
            </a:r>
            <a:r>
              <a:rPr lang="en-US" sz="2600" u="sng" dirty="0"/>
              <a:t>simple</a:t>
            </a:r>
            <a:r>
              <a:rPr lang="en-US" sz="2600" dirty="0"/>
              <a:t> scheme for using GitHub, and stick to it.</a:t>
            </a:r>
          </a:p>
          <a:p>
            <a:r>
              <a:rPr lang="en-US" sz="2600" dirty="0"/>
              <a:t>Be very careful about multiple persons working on same files.</a:t>
            </a:r>
          </a:p>
          <a:p>
            <a:r>
              <a:rPr lang="en-US" sz="2600" dirty="0"/>
              <a:t>In particular, be aware of changes that changes the </a:t>
            </a:r>
            <a:r>
              <a:rPr lang="en-US" sz="2600" b="1" dirty="0"/>
              <a:t>.</a:t>
            </a:r>
            <a:r>
              <a:rPr lang="en-US" sz="2600" b="1" dirty="0" err="1"/>
              <a:t>csproj</a:t>
            </a:r>
            <a:r>
              <a:rPr lang="en-US" sz="2600" b="1" dirty="0"/>
              <a:t> </a:t>
            </a:r>
            <a:r>
              <a:rPr lang="en-US" sz="2600" dirty="0"/>
              <a:t>file!</a:t>
            </a:r>
          </a:p>
          <a:p>
            <a:r>
              <a:rPr lang="en-US" sz="2600"/>
              <a:t>GitHub does </a:t>
            </a:r>
            <a:r>
              <a:rPr lang="en-US" sz="2600" u="sng"/>
              <a:t>not</a:t>
            </a:r>
            <a:r>
              <a:rPr lang="en-US" sz="2600"/>
              <a:t> </a:t>
            </a:r>
            <a:r>
              <a:rPr lang="en-US" sz="2600" dirty="0"/>
              <a:t>replace communication and common sense…</a:t>
            </a:r>
            <a:endParaRPr lang="da-DK" sz="2600" dirty="0"/>
          </a:p>
        </p:txBody>
      </p:sp>
    </p:spTree>
    <p:extLst>
      <p:ext uri="{BB962C8B-B14F-4D97-AF65-F5344CB8AC3E}">
        <p14:creationId xmlns:p14="http://schemas.microsoft.com/office/powerpoint/2010/main" val="4198901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7C08E59-3A21-D11D-A6C0-ADD1393C8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GitHub playbook</a:t>
            </a:r>
            <a:endParaRPr lang="da-DK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0232727-BFFC-7C1B-A968-085A4CB1EC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sz="2600" dirty="0"/>
              <a:t>Agree upfront on a simple and realistic protocol</a:t>
            </a:r>
          </a:p>
          <a:p>
            <a:r>
              <a:rPr lang="en-US" sz="2600" dirty="0"/>
              <a:t>All group members have a GitHub account</a:t>
            </a:r>
          </a:p>
          <a:p>
            <a:r>
              <a:rPr lang="en-US" sz="2600" dirty="0"/>
              <a:t>One member creates </a:t>
            </a:r>
            <a:r>
              <a:rPr lang="en-US" sz="2600"/>
              <a:t>the solution </a:t>
            </a:r>
            <a:r>
              <a:rPr lang="en-US" sz="2600" dirty="0"/>
              <a:t>in VS, and creates repository</a:t>
            </a:r>
          </a:p>
          <a:p>
            <a:r>
              <a:rPr lang="en-US" sz="2600" dirty="0"/>
              <a:t>Creator invites all group members to be collaborators</a:t>
            </a:r>
          </a:p>
          <a:p>
            <a:r>
              <a:rPr lang="en-US" sz="2600" dirty="0"/>
              <a:t>Never accumulate large sets of unmerged changes!</a:t>
            </a:r>
            <a:endParaRPr lang="da-DK" sz="2600" dirty="0"/>
          </a:p>
        </p:txBody>
      </p:sp>
    </p:spTree>
    <p:extLst>
      <p:ext uri="{BB962C8B-B14F-4D97-AF65-F5344CB8AC3E}">
        <p14:creationId xmlns:p14="http://schemas.microsoft.com/office/powerpoint/2010/main" val="2633314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364</TotalTime>
  <Words>653</Words>
  <Application>Microsoft Office PowerPoint</Application>
  <PresentationFormat>Widescreen</PresentationFormat>
  <Paragraphs>104</Paragraphs>
  <Slides>34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34</vt:i4>
      </vt:variant>
    </vt:vector>
  </HeadingPairs>
  <TitlesOfParts>
    <vt:vector size="38" baseType="lpstr">
      <vt:lpstr>Arial</vt:lpstr>
      <vt:lpstr>Calibri</vt:lpstr>
      <vt:lpstr>Calibri Light</vt:lpstr>
      <vt:lpstr>Office-tema</vt:lpstr>
      <vt:lpstr>GitHub Essentials (simplified version)</vt:lpstr>
      <vt:lpstr>Best advice…</vt:lpstr>
      <vt:lpstr>Main concepts</vt:lpstr>
      <vt:lpstr>Main concepts</vt:lpstr>
      <vt:lpstr>PowerPoint-præsentation</vt:lpstr>
      <vt:lpstr>Single person</vt:lpstr>
      <vt:lpstr>Single person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Where is my (local) repository…!?</vt:lpstr>
      <vt:lpstr>Two+ persons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Two+ persons – getting changes</vt:lpstr>
      <vt:lpstr>Two+ persons – getting changes</vt:lpstr>
      <vt:lpstr>Best advice (once more)…</vt:lpstr>
      <vt:lpstr>GitHub playbook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Essentials</dc:title>
  <dc:creator>per</dc:creator>
  <cp:lastModifiedBy>Per Storgård Laursen</cp:lastModifiedBy>
  <cp:revision>30</cp:revision>
  <dcterms:created xsi:type="dcterms:W3CDTF">2023-04-20T13:55:56Z</dcterms:created>
  <dcterms:modified xsi:type="dcterms:W3CDTF">2025-11-30T13:14:37Z</dcterms:modified>
</cp:coreProperties>
</file>