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3" r:id="rId3"/>
    <p:sldId id="307" r:id="rId4"/>
    <p:sldId id="308" r:id="rId5"/>
    <p:sldId id="309" r:id="rId6"/>
    <p:sldId id="310" r:id="rId7"/>
    <p:sldId id="311" r:id="rId8"/>
    <p:sldId id="312" r:id="rId9"/>
    <p:sldId id="257" r:id="rId10"/>
    <p:sldId id="299" r:id="rId11"/>
    <p:sldId id="300" r:id="rId12"/>
    <p:sldId id="301" r:id="rId13"/>
    <p:sldId id="313" r:id="rId14"/>
    <p:sldId id="298" r:id="rId15"/>
    <p:sldId id="302" r:id="rId16"/>
    <p:sldId id="303" r:id="rId17"/>
    <p:sldId id="304" r:id="rId18"/>
    <p:sldId id="314" r:id="rId19"/>
    <p:sldId id="317" r:id="rId20"/>
    <p:sldId id="318" r:id="rId21"/>
    <p:sldId id="305" r:id="rId22"/>
    <p:sldId id="306" r:id="rId23"/>
    <p:sldId id="315" r:id="rId24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Ingen typografi, tabelgit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05-01-2026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99083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05-01-2026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2300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05-01-2026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53966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05-01-2026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22946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05-01-2026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98004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05-01-2026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47017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05-01-2026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17531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05-01-2026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03729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05-01-2026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87932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05-01-2026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30215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05-01-2026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26370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5B7D8E-2A20-4C0E-991C-872DBB7459A8}" type="datetimeFigureOut">
              <a:rPr lang="da-DK" smtClean="0"/>
              <a:t>05-01-2026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3729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a-DK" sz="9600"/>
              <a:t>Boolean Logic</a:t>
            </a:r>
          </a:p>
        </p:txBody>
      </p:sp>
    </p:spTree>
    <p:extLst>
      <p:ext uri="{BB962C8B-B14F-4D97-AF65-F5344CB8AC3E}">
        <p14:creationId xmlns:p14="http://schemas.microsoft.com/office/powerpoint/2010/main" val="1201956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182729"/>
              </p:ext>
            </p:extLst>
          </p:nvPr>
        </p:nvGraphicFramePr>
        <p:xfrm>
          <a:off x="2310062" y="1182881"/>
          <a:ext cx="7561848" cy="42072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5231">
                  <a:extLst>
                    <a:ext uri="{9D8B030D-6E8A-4147-A177-3AD203B41FA5}">
                      <a16:colId xmlns:a16="http://schemas.microsoft.com/office/drawing/2014/main" val="47363412"/>
                    </a:ext>
                  </a:extLst>
                </a:gridCol>
                <a:gridCol w="945231">
                  <a:extLst>
                    <a:ext uri="{9D8B030D-6E8A-4147-A177-3AD203B41FA5}">
                      <a16:colId xmlns:a16="http://schemas.microsoft.com/office/drawing/2014/main" val="3935601631"/>
                    </a:ext>
                  </a:extLst>
                </a:gridCol>
                <a:gridCol w="945231">
                  <a:extLst>
                    <a:ext uri="{9D8B030D-6E8A-4147-A177-3AD203B41FA5}">
                      <a16:colId xmlns:a16="http://schemas.microsoft.com/office/drawing/2014/main" val="4119078486"/>
                    </a:ext>
                  </a:extLst>
                </a:gridCol>
                <a:gridCol w="945231">
                  <a:extLst>
                    <a:ext uri="{9D8B030D-6E8A-4147-A177-3AD203B41FA5}">
                      <a16:colId xmlns:a16="http://schemas.microsoft.com/office/drawing/2014/main" val="371862353"/>
                    </a:ext>
                  </a:extLst>
                </a:gridCol>
                <a:gridCol w="945231">
                  <a:extLst>
                    <a:ext uri="{9D8B030D-6E8A-4147-A177-3AD203B41FA5}">
                      <a16:colId xmlns:a16="http://schemas.microsoft.com/office/drawing/2014/main" val="3060256990"/>
                    </a:ext>
                  </a:extLst>
                </a:gridCol>
                <a:gridCol w="945231">
                  <a:extLst>
                    <a:ext uri="{9D8B030D-6E8A-4147-A177-3AD203B41FA5}">
                      <a16:colId xmlns:a16="http://schemas.microsoft.com/office/drawing/2014/main" val="1328836194"/>
                    </a:ext>
                  </a:extLst>
                </a:gridCol>
                <a:gridCol w="945231">
                  <a:extLst>
                    <a:ext uri="{9D8B030D-6E8A-4147-A177-3AD203B41FA5}">
                      <a16:colId xmlns:a16="http://schemas.microsoft.com/office/drawing/2014/main" val="156318183"/>
                    </a:ext>
                  </a:extLst>
                </a:gridCol>
                <a:gridCol w="945231">
                  <a:extLst>
                    <a:ext uri="{9D8B030D-6E8A-4147-A177-3AD203B41FA5}">
                      <a16:colId xmlns:a16="http://schemas.microsoft.com/office/drawing/2014/main" val="1893003832"/>
                    </a:ext>
                  </a:extLst>
                </a:gridCol>
              </a:tblGrid>
              <a:tr h="525908"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163691"/>
                  </a:ext>
                </a:extLst>
              </a:tr>
              <a:tr h="525908"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597378"/>
                  </a:ext>
                </a:extLst>
              </a:tr>
              <a:tr h="525908"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639513"/>
                  </a:ext>
                </a:extLst>
              </a:tr>
              <a:tr h="525908"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0531286"/>
                  </a:ext>
                </a:extLst>
              </a:tr>
              <a:tr h="525908"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942850"/>
                  </a:ext>
                </a:extLst>
              </a:tr>
              <a:tr h="525908"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1557111"/>
                  </a:ext>
                </a:extLst>
              </a:tr>
              <a:tr h="525908"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124640"/>
                  </a:ext>
                </a:extLst>
              </a:tr>
              <a:tr h="525908"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133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9552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felt 3"/>
          <p:cNvSpPr txBox="1"/>
          <p:nvPr/>
        </p:nvSpPr>
        <p:spPr>
          <a:xfrm>
            <a:off x="3709852" y="875212"/>
            <a:ext cx="4049507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6000" dirty="0">
                <a:solidFill>
                  <a:schemeClr val="accent6">
                    <a:lumMod val="75000"/>
                  </a:schemeClr>
                </a:solidFill>
              </a:rPr>
              <a:t>true</a:t>
            </a:r>
          </a:p>
          <a:p>
            <a:r>
              <a:rPr lang="da-DK" sz="16000" dirty="0">
                <a:solidFill>
                  <a:srgbClr val="FF0000"/>
                </a:solidFill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916824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felt 5"/>
          <p:cNvSpPr txBox="1"/>
          <p:nvPr/>
        </p:nvSpPr>
        <p:spPr>
          <a:xfrm>
            <a:off x="1457826" y="2207795"/>
            <a:ext cx="93314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7200">
                <a:solidFill>
                  <a:srgbClr val="0070C0"/>
                </a:solidFill>
                <a:latin typeface="Consolas" panose="020B0609020204030204" pitchFamily="49" charset="0"/>
              </a:rPr>
              <a:t>bool</a:t>
            </a:r>
            <a:r>
              <a:rPr lang="da-DK" sz="7200">
                <a:latin typeface="Consolas" panose="020B0609020204030204" pitchFamily="49" charset="0"/>
              </a:rPr>
              <a:t> alive = </a:t>
            </a:r>
            <a:r>
              <a:rPr lang="da-DK" sz="7200">
                <a:solidFill>
                  <a:srgbClr val="0070C0"/>
                </a:solidFill>
                <a:latin typeface="Consolas" panose="020B0609020204030204" pitchFamily="49" charset="0"/>
              </a:rPr>
              <a:t>true</a:t>
            </a:r>
            <a:r>
              <a:rPr lang="da-DK" sz="7200"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668502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felt 5"/>
          <p:cNvSpPr txBox="1"/>
          <p:nvPr/>
        </p:nvSpPr>
        <p:spPr>
          <a:xfrm>
            <a:off x="1409700" y="1209174"/>
            <a:ext cx="907171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6000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6000">
                <a:latin typeface="Consolas" panose="020B0609020204030204" pitchFamily="49" charset="0"/>
              </a:rPr>
              <a:t> a = 12;</a:t>
            </a:r>
          </a:p>
          <a:p>
            <a:r>
              <a:rPr lang="da-DK" sz="6000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6000">
                <a:latin typeface="Consolas" panose="020B0609020204030204" pitchFamily="49" charset="0"/>
              </a:rPr>
              <a:t> b = 10;</a:t>
            </a:r>
            <a:endParaRPr lang="da-DK" sz="600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da-DK" sz="6000">
                <a:solidFill>
                  <a:srgbClr val="0070C0"/>
                </a:solidFill>
                <a:latin typeface="Consolas" panose="020B0609020204030204" pitchFamily="49" charset="0"/>
              </a:rPr>
              <a:t>bool</a:t>
            </a:r>
            <a:r>
              <a:rPr lang="da-DK" sz="6000">
                <a:latin typeface="Consolas" panose="020B0609020204030204" pitchFamily="49" charset="0"/>
              </a:rPr>
              <a:t> same = (a == b);</a:t>
            </a:r>
          </a:p>
        </p:txBody>
      </p:sp>
    </p:spTree>
    <p:extLst>
      <p:ext uri="{BB962C8B-B14F-4D97-AF65-F5344CB8AC3E}">
        <p14:creationId xmlns:p14="http://schemas.microsoft.com/office/powerpoint/2010/main" val="133117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felt 5"/>
          <p:cNvSpPr txBox="1"/>
          <p:nvPr/>
        </p:nvSpPr>
        <p:spPr>
          <a:xfrm>
            <a:off x="1409700" y="1209174"/>
            <a:ext cx="991810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6000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6000">
                <a:latin typeface="Consolas" panose="020B0609020204030204" pitchFamily="49" charset="0"/>
              </a:rPr>
              <a:t> a = 12;</a:t>
            </a:r>
          </a:p>
          <a:p>
            <a:r>
              <a:rPr lang="da-DK" sz="6000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6000">
                <a:latin typeface="Consolas" panose="020B0609020204030204" pitchFamily="49" charset="0"/>
              </a:rPr>
              <a:t> b = 10;</a:t>
            </a:r>
            <a:endParaRPr lang="da-DK" sz="600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da-DK" sz="6000">
                <a:solidFill>
                  <a:srgbClr val="0070C0"/>
                </a:solidFill>
                <a:latin typeface="Consolas" panose="020B0609020204030204" pitchFamily="49" charset="0"/>
              </a:rPr>
              <a:t>bool</a:t>
            </a:r>
            <a:r>
              <a:rPr lang="da-DK" sz="6000">
                <a:latin typeface="Consolas" panose="020B0609020204030204" pitchFamily="49" charset="0"/>
              </a:rPr>
              <a:t> greater = (a &gt; b);</a:t>
            </a:r>
          </a:p>
        </p:txBody>
      </p:sp>
    </p:spTree>
    <p:extLst>
      <p:ext uri="{BB962C8B-B14F-4D97-AF65-F5344CB8AC3E}">
        <p14:creationId xmlns:p14="http://schemas.microsoft.com/office/powerpoint/2010/main" val="707996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928135"/>
              </p:ext>
            </p:extLst>
          </p:nvPr>
        </p:nvGraphicFramePr>
        <p:xfrm>
          <a:off x="1344796" y="867469"/>
          <a:ext cx="9447529" cy="463697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934301">
                  <a:extLst>
                    <a:ext uri="{9D8B030D-6E8A-4147-A177-3AD203B41FA5}">
                      <a16:colId xmlns:a16="http://schemas.microsoft.com/office/drawing/2014/main" val="3226110471"/>
                    </a:ext>
                  </a:extLst>
                </a:gridCol>
                <a:gridCol w="6513228">
                  <a:extLst>
                    <a:ext uri="{9D8B030D-6E8A-4147-A177-3AD203B41FA5}">
                      <a16:colId xmlns:a16="http://schemas.microsoft.com/office/drawing/2014/main" val="904143746"/>
                    </a:ext>
                  </a:extLst>
                </a:gridCol>
              </a:tblGrid>
              <a:tr h="75485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b="1">
                          <a:effectLst/>
                        </a:rPr>
                        <a:t>Operator</a:t>
                      </a:r>
                      <a:endParaRPr lang="da-DK" sz="32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b="1">
                          <a:effectLst/>
                        </a:rPr>
                        <a:t>Meaning</a:t>
                      </a:r>
                      <a:endParaRPr lang="da-DK" sz="32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83181945"/>
                  </a:ext>
                </a:extLst>
              </a:tr>
              <a:tr h="6470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a </a:t>
                      </a:r>
                      <a:r>
                        <a:rPr lang="en-US" sz="3200" b="1" dirty="0">
                          <a:solidFill>
                            <a:srgbClr val="0070C0"/>
                          </a:solidFill>
                          <a:effectLst/>
                        </a:rPr>
                        <a:t>==</a:t>
                      </a:r>
                      <a:r>
                        <a:rPr lang="en-US" sz="3200" dirty="0">
                          <a:effectLst/>
                        </a:rPr>
                        <a:t> b</a:t>
                      </a:r>
                      <a:endParaRPr lang="da-DK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a is </a:t>
                      </a:r>
                      <a:r>
                        <a:rPr lang="en-US" sz="3200" b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equal</a:t>
                      </a:r>
                      <a:r>
                        <a:rPr lang="en-US" sz="3200" dirty="0">
                          <a:effectLst/>
                        </a:rPr>
                        <a:t> to b</a:t>
                      </a:r>
                      <a:endParaRPr lang="da-DK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89392126"/>
                  </a:ext>
                </a:extLst>
              </a:tr>
              <a:tr h="6470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a </a:t>
                      </a:r>
                      <a:r>
                        <a:rPr lang="en-US" sz="3200" b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!=</a:t>
                      </a:r>
                      <a:r>
                        <a:rPr lang="en-US" sz="3200" dirty="0">
                          <a:effectLst/>
                        </a:rPr>
                        <a:t> b</a:t>
                      </a:r>
                      <a:endParaRPr lang="da-DK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a is </a:t>
                      </a:r>
                      <a:r>
                        <a:rPr lang="en-US" sz="3200" b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equal </a:t>
                      </a:r>
                      <a:r>
                        <a:rPr lang="en-US" sz="3200" dirty="0">
                          <a:effectLst/>
                        </a:rPr>
                        <a:t>to b</a:t>
                      </a:r>
                      <a:endParaRPr lang="da-DK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1799426"/>
                  </a:ext>
                </a:extLst>
              </a:tr>
              <a:tr h="6470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a </a:t>
                      </a:r>
                      <a:r>
                        <a:rPr lang="en-US" sz="3200" b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en-US" sz="3200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3200" dirty="0">
                          <a:effectLst/>
                        </a:rPr>
                        <a:t>b</a:t>
                      </a:r>
                      <a:endParaRPr lang="da-DK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a is </a:t>
                      </a:r>
                      <a:r>
                        <a:rPr lang="en-US" sz="3200" b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strictly greater </a:t>
                      </a:r>
                      <a:r>
                        <a:rPr lang="en-US" sz="3200" dirty="0">
                          <a:effectLst/>
                        </a:rPr>
                        <a:t>than b </a:t>
                      </a:r>
                      <a:endParaRPr lang="da-DK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3746762"/>
                  </a:ext>
                </a:extLst>
              </a:tr>
              <a:tr h="6470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a </a:t>
                      </a:r>
                      <a:r>
                        <a:rPr lang="en-US" sz="3200" b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&gt;=</a:t>
                      </a:r>
                      <a:r>
                        <a:rPr lang="en-US" sz="3200" dirty="0">
                          <a:effectLst/>
                        </a:rPr>
                        <a:t> b</a:t>
                      </a:r>
                      <a:endParaRPr lang="da-DK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a is </a:t>
                      </a:r>
                      <a:r>
                        <a:rPr lang="en-US" sz="3200" b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greater than or equal </a:t>
                      </a:r>
                      <a:r>
                        <a:rPr lang="en-US" sz="3200" dirty="0">
                          <a:effectLst/>
                        </a:rPr>
                        <a:t>to b</a:t>
                      </a:r>
                      <a:endParaRPr lang="da-DK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2439399"/>
                  </a:ext>
                </a:extLst>
              </a:tr>
              <a:tr h="6470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a </a:t>
                      </a:r>
                      <a:r>
                        <a:rPr lang="en-US" sz="3200" b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3200" dirty="0">
                          <a:effectLst/>
                        </a:rPr>
                        <a:t> b</a:t>
                      </a:r>
                      <a:endParaRPr lang="da-DK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a is </a:t>
                      </a:r>
                      <a:r>
                        <a:rPr lang="en-US" sz="3200" b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strictly smaller </a:t>
                      </a:r>
                      <a:r>
                        <a:rPr lang="en-US" sz="3200" dirty="0">
                          <a:effectLst/>
                        </a:rPr>
                        <a:t>than b</a:t>
                      </a:r>
                      <a:endParaRPr lang="da-DK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15869641"/>
                  </a:ext>
                </a:extLst>
              </a:tr>
              <a:tr h="6470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a </a:t>
                      </a:r>
                      <a:r>
                        <a:rPr lang="en-US" sz="3200" b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&lt;=</a:t>
                      </a:r>
                      <a:r>
                        <a:rPr lang="en-US" sz="3200" dirty="0">
                          <a:effectLst/>
                        </a:rPr>
                        <a:t> b</a:t>
                      </a:r>
                      <a:endParaRPr lang="da-DK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a is </a:t>
                      </a:r>
                      <a:r>
                        <a:rPr lang="en-US" sz="3200" b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smaller than or equal </a:t>
                      </a:r>
                      <a:r>
                        <a:rPr lang="en-US" sz="3200" dirty="0">
                          <a:effectLst/>
                        </a:rPr>
                        <a:t>to b</a:t>
                      </a:r>
                      <a:endParaRPr lang="da-DK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5780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3931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felt 5"/>
          <p:cNvSpPr txBox="1"/>
          <p:nvPr/>
        </p:nvSpPr>
        <p:spPr>
          <a:xfrm>
            <a:off x="832184" y="1515979"/>
            <a:ext cx="10669909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4800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4800">
                <a:latin typeface="Consolas" panose="020B0609020204030204" pitchFamily="49" charset="0"/>
              </a:rPr>
              <a:t> age = 14;</a:t>
            </a:r>
          </a:p>
          <a:p>
            <a:r>
              <a:rPr lang="da-DK" sz="4800">
                <a:solidFill>
                  <a:srgbClr val="0070C0"/>
                </a:solidFill>
                <a:latin typeface="Consolas" panose="020B0609020204030204" pitchFamily="49" charset="0"/>
              </a:rPr>
              <a:t>bool</a:t>
            </a:r>
            <a:r>
              <a:rPr lang="da-DK" sz="4800">
                <a:latin typeface="Consolas" panose="020B0609020204030204" pitchFamily="49" charset="0"/>
              </a:rPr>
              <a:t> above12 = (age &gt; 12);</a:t>
            </a:r>
          </a:p>
          <a:p>
            <a:r>
              <a:rPr lang="da-DK" sz="4800">
                <a:solidFill>
                  <a:srgbClr val="0070C0"/>
                </a:solidFill>
                <a:latin typeface="Consolas" panose="020B0609020204030204" pitchFamily="49" charset="0"/>
              </a:rPr>
              <a:t>bool</a:t>
            </a:r>
            <a:r>
              <a:rPr lang="da-DK" sz="4800">
                <a:latin typeface="Consolas" panose="020B0609020204030204" pitchFamily="49" charset="0"/>
              </a:rPr>
              <a:t> below20 = (age &lt; 20);</a:t>
            </a:r>
          </a:p>
          <a:p>
            <a:r>
              <a:rPr lang="da-DK" sz="4800">
                <a:solidFill>
                  <a:srgbClr val="0070C0"/>
                </a:solidFill>
                <a:latin typeface="Consolas" panose="020B0609020204030204" pitchFamily="49" charset="0"/>
              </a:rPr>
              <a:t>bool</a:t>
            </a:r>
            <a:r>
              <a:rPr lang="da-DK" sz="4800">
                <a:latin typeface="Consolas" panose="020B0609020204030204" pitchFamily="49" charset="0"/>
              </a:rPr>
              <a:t> teen = above12 </a:t>
            </a:r>
            <a:r>
              <a:rPr lang="da-DK" sz="4800" b="1">
                <a:latin typeface="Consolas" panose="020B0609020204030204" pitchFamily="49" charset="0"/>
              </a:rPr>
              <a:t>&amp;&amp;</a:t>
            </a:r>
            <a:r>
              <a:rPr lang="da-DK" sz="4800">
                <a:latin typeface="Consolas" panose="020B0609020204030204" pitchFamily="49" charset="0"/>
              </a:rPr>
              <a:t> below20;</a:t>
            </a:r>
          </a:p>
        </p:txBody>
      </p:sp>
    </p:spTree>
    <p:extLst>
      <p:ext uri="{BB962C8B-B14F-4D97-AF65-F5344CB8AC3E}">
        <p14:creationId xmlns:p14="http://schemas.microsoft.com/office/powerpoint/2010/main" val="3914821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Lige forbindelse 5"/>
          <p:cNvCxnSpPr/>
          <p:nvPr/>
        </p:nvCxnSpPr>
        <p:spPr>
          <a:xfrm>
            <a:off x="2671010" y="2021307"/>
            <a:ext cx="5895474" cy="352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Lige forbindelse 8"/>
          <p:cNvCxnSpPr/>
          <p:nvPr/>
        </p:nvCxnSpPr>
        <p:spPr>
          <a:xfrm>
            <a:off x="2671009" y="4537912"/>
            <a:ext cx="6009775" cy="105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Lige forbindelse 9"/>
          <p:cNvCxnSpPr/>
          <p:nvPr/>
        </p:nvCxnSpPr>
        <p:spPr>
          <a:xfrm flipV="1">
            <a:off x="4632160" y="2051384"/>
            <a:ext cx="0" cy="2516605"/>
          </a:xfrm>
          <a:prstGeom prst="line">
            <a:avLst/>
          </a:prstGeom>
          <a:ln w="762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Lige forbindelse 12"/>
          <p:cNvCxnSpPr/>
          <p:nvPr/>
        </p:nvCxnSpPr>
        <p:spPr>
          <a:xfrm flipV="1">
            <a:off x="6823913" y="2051384"/>
            <a:ext cx="0" cy="2516605"/>
          </a:xfrm>
          <a:prstGeom prst="line">
            <a:avLst/>
          </a:prstGeom>
          <a:ln w="762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kstfelt 13"/>
          <p:cNvSpPr txBox="1"/>
          <p:nvPr/>
        </p:nvSpPr>
        <p:spPr>
          <a:xfrm>
            <a:off x="7534721" y="2389501"/>
            <a:ext cx="8082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9600">
                <a:solidFill>
                  <a:schemeClr val="accent4">
                    <a:lumMod val="75000"/>
                  </a:schemeClr>
                </a:solidFill>
              </a:rPr>
              <a:t>$</a:t>
            </a:r>
          </a:p>
        </p:txBody>
      </p:sp>
      <p:sp>
        <p:nvSpPr>
          <p:cNvPr id="16" name="Tekstfelt 15"/>
          <p:cNvSpPr txBox="1"/>
          <p:nvPr/>
        </p:nvSpPr>
        <p:spPr>
          <a:xfrm>
            <a:off x="4276169" y="851055"/>
            <a:ext cx="289694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7200">
                <a:solidFill>
                  <a:srgbClr val="FF0000"/>
                </a:solidFill>
              </a:rPr>
              <a:t>A </a:t>
            </a:r>
            <a:r>
              <a:rPr lang="da-DK" sz="7200"/>
              <a:t>&amp;&amp;</a:t>
            </a:r>
            <a:r>
              <a:rPr lang="da-DK" sz="7200">
                <a:solidFill>
                  <a:srgbClr val="FF0000"/>
                </a:solidFill>
              </a:rPr>
              <a:t> B</a:t>
            </a:r>
          </a:p>
        </p:txBody>
      </p:sp>
      <p:sp>
        <p:nvSpPr>
          <p:cNvPr id="17" name="Smilende ansigt 16"/>
          <p:cNvSpPr/>
          <p:nvPr/>
        </p:nvSpPr>
        <p:spPr>
          <a:xfrm>
            <a:off x="2671009" y="2743200"/>
            <a:ext cx="1094875" cy="1082841"/>
          </a:xfrm>
          <a:prstGeom prst="smileyFac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24100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Lige forbindelse 5"/>
          <p:cNvCxnSpPr/>
          <p:nvPr/>
        </p:nvCxnSpPr>
        <p:spPr>
          <a:xfrm>
            <a:off x="2671010" y="2021307"/>
            <a:ext cx="5895474" cy="352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Lige forbindelse 8"/>
          <p:cNvCxnSpPr/>
          <p:nvPr/>
        </p:nvCxnSpPr>
        <p:spPr>
          <a:xfrm>
            <a:off x="2671009" y="4537912"/>
            <a:ext cx="6009775" cy="105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Lige forbindelse 9"/>
          <p:cNvCxnSpPr/>
          <p:nvPr/>
        </p:nvCxnSpPr>
        <p:spPr>
          <a:xfrm flipV="1">
            <a:off x="4632160" y="2051384"/>
            <a:ext cx="0" cy="2516605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Lige forbindelse 12"/>
          <p:cNvCxnSpPr/>
          <p:nvPr/>
        </p:nvCxnSpPr>
        <p:spPr>
          <a:xfrm flipV="1">
            <a:off x="6823913" y="2051384"/>
            <a:ext cx="0" cy="2516605"/>
          </a:xfrm>
          <a:prstGeom prst="line">
            <a:avLst/>
          </a:prstGeom>
          <a:ln w="762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kstfelt 15"/>
          <p:cNvSpPr txBox="1"/>
          <p:nvPr/>
        </p:nvSpPr>
        <p:spPr>
          <a:xfrm>
            <a:off x="4276169" y="851055"/>
            <a:ext cx="289694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720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da-DK" sz="7200">
                <a:solidFill>
                  <a:srgbClr val="FF0000"/>
                </a:solidFill>
              </a:rPr>
              <a:t> </a:t>
            </a:r>
            <a:r>
              <a:rPr lang="da-DK" sz="7200"/>
              <a:t>&amp;&amp;</a:t>
            </a:r>
            <a:r>
              <a:rPr lang="da-DK" sz="7200">
                <a:solidFill>
                  <a:srgbClr val="FF0000"/>
                </a:solidFill>
              </a:rPr>
              <a:t> B</a:t>
            </a:r>
          </a:p>
        </p:txBody>
      </p:sp>
      <p:sp>
        <p:nvSpPr>
          <p:cNvPr id="17" name="Smilende ansigt 16"/>
          <p:cNvSpPr/>
          <p:nvPr/>
        </p:nvSpPr>
        <p:spPr>
          <a:xfrm>
            <a:off x="2671009" y="2743200"/>
            <a:ext cx="1094875" cy="1082841"/>
          </a:xfrm>
          <a:prstGeom prst="smileyFac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" name="Tekstfelt 10"/>
          <p:cNvSpPr txBox="1"/>
          <p:nvPr/>
        </p:nvSpPr>
        <p:spPr>
          <a:xfrm>
            <a:off x="7534721" y="2389501"/>
            <a:ext cx="8082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9600">
                <a:solidFill>
                  <a:schemeClr val="accent4">
                    <a:lumMod val="75000"/>
                  </a:schemeClr>
                </a:solidFill>
              </a:rPr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3504282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Lige forbindelse 5"/>
          <p:cNvCxnSpPr/>
          <p:nvPr/>
        </p:nvCxnSpPr>
        <p:spPr>
          <a:xfrm>
            <a:off x="2671010" y="2021307"/>
            <a:ext cx="5895474" cy="352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Lige forbindelse 8"/>
          <p:cNvCxnSpPr/>
          <p:nvPr/>
        </p:nvCxnSpPr>
        <p:spPr>
          <a:xfrm>
            <a:off x="2671009" y="4537912"/>
            <a:ext cx="6009775" cy="105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Lige forbindelse 9"/>
          <p:cNvCxnSpPr/>
          <p:nvPr/>
        </p:nvCxnSpPr>
        <p:spPr>
          <a:xfrm flipV="1">
            <a:off x="4632160" y="2051384"/>
            <a:ext cx="0" cy="2516605"/>
          </a:xfrm>
          <a:prstGeom prst="line">
            <a:avLst/>
          </a:prstGeom>
          <a:ln w="762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Lige forbindelse 12"/>
          <p:cNvCxnSpPr/>
          <p:nvPr/>
        </p:nvCxnSpPr>
        <p:spPr>
          <a:xfrm flipV="1">
            <a:off x="6823913" y="2051384"/>
            <a:ext cx="0" cy="2516605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kstfelt 15"/>
          <p:cNvSpPr txBox="1"/>
          <p:nvPr/>
        </p:nvSpPr>
        <p:spPr>
          <a:xfrm>
            <a:off x="4276169" y="851055"/>
            <a:ext cx="289694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7200">
                <a:solidFill>
                  <a:srgbClr val="FF0000"/>
                </a:solidFill>
              </a:rPr>
              <a:t>A </a:t>
            </a:r>
            <a:r>
              <a:rPr lang="da-DK" sz="7200"/>
              <a:t>&amp;&amp;</a:t>
            </a:r>
            <a:r>
              <a:rPr lang="da-DK" sz="7200">
                <a:solidFill>
                  <a:srgbClr val="FF0000"/>
                </a:solidFill>
              </a:rPr>
              <a:t> </a:t>
            </a:r>
            <a:r>
              <a:rPr lang="da-DK" sz="7200">
                <a:solidFill>
                  <a:schemeClr val="accent6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17" name="Smilende ansigt 16"/>
          <p:cNvSpPr/>
          <p:nvPr/>
        </p:nvSpPr>
        <p:spPr>
          <a:xfrm>
            <a:off x="2671009" y="2743200"/>
            <a:ext cx="1094875" cy="1082841"/>
          </a:xfrm>
          <a:prstGeom prst="smileyFac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" name="Tekstfelt 10"/>
          <p:cNvSpPr txBox="1"/>
          <p:nvPr/>
        </p:nvSpPr>
        <p:spPr>
          <a:xfrm>
            <a:off x="7534721" y="2389501"/>
            <a:ext cx="8082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9600">
                <a:solidFill>
                  <a:schemeClr val="accent4">
                    <a:lumMod val="75000"/>
                  </a:schemeClr>
                </a:solidFill>
              </a:rPr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1000225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Lige forbindelse 5"/>
          <p:cNvCxnSpPr/>
          <p:nvPr/>
        </p:nvCxnSpPr>
        <p:spPr>
          <a:xfrm>
            <a:off x="2671010" y="2021307"/>
            <a:ext cx="5895474" cy="352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Lige forbindelse 8"/>
          <p:cNvCxnSpPr/>
          <p:nvPr/>
        </p:nvCxnSpPr>
        <p:spPr>
          <a:xfrm>
            <a:off x="2671009" y="4537912"/>
            <a:ext cx="6009775" cy="105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Lige forbindelse 9"/>
          <p:cNvCxnSpPr/>
          <p:nvPr/>
        </p:nvCxnSpPr>
        <p:spPr>
          <a:xfrm flipV="1">
            <a:off x="4632160" y="2051384"/>
            <a:ext cx="0" cy="2516605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Lige forbindelse 12"/>
          <p:cNvCxnSpPr/>
          <p:nvPr/>
        </p:nvCxnSpPr>
        <p:spPr>
          <a:xfrm flipV="1">
            <a:off x="6823913" y="2051384"/>
            <a:ext cx="0" cy="2516605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kstfelt 15"/>
          <p:cNvSpPr txBox="1"/>
          <p:nvPr/>
        </p:nvSpPr>
        <p:spPr>
          <a:xfrm>
            <a:off x="4276169" y="851055"/>
            <a:ext cx="289694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720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da-DK" sz="7200">
                <a:solidFill>
                  <a:srgbClr val="FF0000"/>
                </a:solidFill>
              </a:rPr>
              <a:t> </a:t>
            </a:r>
            <a:r>
              <a:rPr lang="da-DK" sz="7200"/>
              <a:t>&amp;&amp;</a:t>
            </a:r>
            <a:r>
              <a:rPr lang="da-DK" sz="7200">
                <a:solidFill>
                  <a:srgbClr val="FF0000"/>
                </a:solidFill>
              </a:rPr>
              <a:t> </a:t>
            </a:r>
            <a:r>
              <a:rPr lang="da-DK" sz="7200">
                <a:solidFill>
                  <a:schemeClr val="accent6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17" name="Smilende ansigt 16"/>
          <p:cNvSpPr/>
          <p:nvPr/>
        </p:nvSpPr>
        <p:spPr>
          <a:xfrm>
            <a:off x="2671009" y="2743200"/>
            <a:ext cx="1094875" cy="1082841"/>
          </a:xfrm>
          <a:prstGeom prst="smileyFac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" name="Tekstfelt 10"/>
          <p:cNvSpPr txBox="1"/>
          <p:nvPr/>
        </p:nvSpPr>
        <p:spPr>
          <a:xfrm>
            <a:off x="7534721" y="2389501"/>
            <a:ext cx="8082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9600">
                <a:solidFill>
                  <a:schemeClr val="accent4">
                    <a:lumMod val="75000"/>
                  </a:schemeClr>
                </a:solidFill>
              </a:rPr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1739408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felt 5"/>
          <p:cNvSpPr txBox="1"/>
          <p:nvPr/>
        </p:nvSpPr>
        <p:spPr>
          <a:xfrm>
            <a:off x="832184" y="1515979"/>
            <a:ext cx="9777035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4000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4000">
                <a:latin typeface="Consolas" panose="020B0609020204030204" pitchFamily="49" charset="0"/>
              </a:rPr>
              <a:t> age = 14;</a:t>
            </a:r>
          </a:p>
          <a:p>
            <a:r>
              <a:rPr lang="da-DK" sz="4000">
                <a:solidFill>
                  <a:srgbClr val="0070C0"/>
                </a:solidFill>
                <a:latin typeface="Consolas" panose="020B0609020204030204" pitchFamily="49" charset="0"/>
              </a:rPr>
              <a:t>bool</a:t>
            </a:r>
            <a:r>
              <a:rPr lang="da-DK" sz="4000">
                <a:latin typeface="Consolas" panose="020B0609020204030204" pitchFamily="49" charset="0"/>
              </a:rPr>
              <a:t> below13 = (age &lt; 13);</a:t>
            </a:r>
          </a:p>
          <a:p>
            <a:r>
              <a:rPr lang="da-DK" sz="4000">
                <a:solidFill>
                  <a:srgbClr val="0070C0"/>
                </a:solidFill>
                <a:latin typeface="Consolas" panose="020B0609020204030204" pitchFamily="49" charset="0"/>
              </a:rPr>
              <a:t>bool</a:t>
            </a:r>
            <a:r>
              <a:rPr lang="da-DK" sz="4000">
                <a:latin typeface="Consolas" panose="020B0609020204030204" pitchFamily="49" charset="0"/>
              </a:rPr>
              <a:t> above19 = (age &gt; 19);</a:t>
            </a:r>
          </a:p>
          <a:p>
            <a:r>
              <a:rPr lang="da-DK" sz="4000">
                <a:solidFill>
                  <a:srgbClr val="0070C0"/>
                </a:solidFill>
                <a:latin typeface="Consolas" panose="020B0609020204030204" pitchFamily="49" charset="0"/>
              </a:rPr>
              <a:t>bool</a:t>
            </a:r>
            <a:r>
              <a:rPr lang="da-DK" sz="4000">
                <a:latin typeface="Consolas" panose="020B0609020204030204" pitchFamily="49" charset="0"/>
              </a:rPr>
              <a:t> notTeen = below13 </a:t>
            </a:r>
            <a:r>
              <a:rPr lang="da-DK" sz="4000" b="1">
                <a:latin typeface="Consolas" panose="020B0609020204030204" pitchFamily="49" charset="0"/>
              </a:rPr>
              <a:t>||</a:t>
            </a:r>
            <a:r>
              <a:rPr lang="da-DK" sz="4000">
                <a:latin typeface="Consolas" panose="020B0609020204030204" pitchFamily="49" charset="0"/>
              </a:rPr>
              <a:t> above19;</a:t>
            </a:r>
          </a:p>
        </p:txBody>
      </p:sp>
    </p:spTree>
    <p:extLst>
      <p:ext uri="{BB962C8B-B14F-4D97-AF65-F5344CB8AC3E}">
        <p14:creationId xmlns:p14="http://schemas.microsoft.com/office/powerpoint/2010/main" val="2946987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Lige forbindelse 5"/>
          <p:cNvCxnSpPr/>
          <p:nvPr/>
        </p:nvCxnSpPr>
        <p:spPr>
          <a:xfrm>
            <a:off x="2671010" y="2021307"/>
            <a:ext cx="5895474" cy="352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Lige forbindelse 8"/>
          <p:cNvCxnSpPr/>
          <p:nvPr/>
        </p:nvCxnSpPr>
        <p:spPr>
          <a:xfrm>
            <a:off x="2671009" y="4537912"/>
            <a:ext cx="6009775" cy="105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Lige forbindelse 9"/>
          <p:cNvCxnSpPr/>
          <p:nvPr/>
        </p:nvCxnSpPr>
        <p:spPr>
          <a:xfrm flipH="1" flipV="1">
            <a:off x="4656223" y="2051384"/>
            <a:ext cx="6014" cy="1170252"/>
          </a:xfrm>
          <a:prstGeom prst="line">
            <a:avLst/>
          </a:prstGeom>
          <a:ln w="762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Lige forbindelse 12"/>
          <p:cNvCxnSpPr/>
          <p:nvPr/>
        </p:nvCxnSpPr>
        <p:spPr>
          <a:xfrm flipV="1">
            <a:off x="6823913" y="3260556"/>
            <a:ext cx="0" cy="1247274"/>
          </a:xfrm>
          <a:prstGeom prst="line">
            <a:avLst/>
          </a:prstGeom>
          <a:ln w="762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kstfelt 15"/>
          <p:cNvSpPr txBox="1"/>
          <p:nvPr/>
        </p:nvSpPr>
        <p:spPr>
          <a:xfrm>
            <a:off x="4276169" y="851055"/>
            <a:ext cx="24865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7200">
                <a:solidFill>
                  <a:srgbClr val="FF0000"/>
                </a:solidFill>
              </a:rPr>
              <a:t>A </a:t>
            </a:r>
            <a:r>
              <a:rPr lang="da-DK" sz="7200"/>
              <a:t>||</a:t>
            </a:r>
            <a:r>
              <a:rPr lang="da-DK" sz="7200">
                <a:solidFill>
                  <a:srgbClr val="FF0000"/>
                </a:solidFill>
              </a:rPr>
              <a:t> B</a:t>
            </a:r>
          </a:p>
        </p:txBody>
      </p:sp>
      <p:cxnSp>
        <p:nvCxnSpPr>
          <p:cNvPr id="11" name="Lige forbindelse 10"/>
          <p:cNvCxnSpPr/>
          <p:nvPr/>
        </p:nvCxnSpPr>
        <p:spPr>
          <a:xfrm>
            <a:off x="4656223" y="3275778"/>
            <a:ext cx="216769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milende ansigt 14"/>
          <p:cNvSpPr/>
          <p:nvPr/>
        </p:nvSpPr>
        <p:spPr>
          <a:xfrm>
            <a:off x="2671009" y="2743200"/>
            <a:ext cx="1094875" cy="1082841"/>
          </a:xfrm>
          <a:prstGeom prst="smileyFac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8" name="Tekstfelt 17"/>
          <p:cNvSpPr txBox="1"/>
          <p:nvPr/>
        </p:nvSpPr>
        <p:spPr>
          <a:xfrm>
            <a:off x="7534721" y="2389501"/>
            <a:ext cx="8082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9600">
                <a:solidFill>
                  <a:schemeClr val="accent4">
                    <a:lumMod val="75000"/>
                  </a:schemeClr>
                </a:solidFill>
              </a:rPr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3846949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Lige forbindelse 5"/>
          <p:cNvCxnSpPr/>
          <p:nvPr/>
        </p:nvCxnSpPr>
        <p:spPr>
          <a:xfrm>
            <a:off x="2671010" y="2021307"/>
            <a:ext cx="5895474" cy="352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Lige forbindelse 8"/>
          <p:cNvCxnSpPr/>
          <p:nvPr/>
        </p:nvCxnSpPr>
        <p:spPr>
          <a:xfrm>
            <a:off x="2671009" y="4537912"/>
            <a:ext cx="6009775" cy="105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Lige forbindelse 9"/>
          <p:cNvCxnSpPr/>
          <p:nvPr/>
        </p:nvCxnSpPr>
        <p:spPr>
          <a:xfrm flipH="1" flipV="1">
            <a:off x="4656223" y="2051384"/>
            <a:ext cx="6014" cy="1170252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Lige forbindelse 12"/>
          <p:cNvCxnSpPr/>
          <p:nvPr/>
        </p:nvCxnSpPr>
        <p:spPr>
          <a:xfrm flipV="1">
            <a:off x="6823913" y="3260556"/>
            <a:ext cx="0" cy="1247274"/>
          </a:xfrm>
          <a:prstGeom prst="line">
            <a:avLst/>
          </a:prstGeom>
          <a:ln w="762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kstfelt 15"/>
          <p:cNvSpPr txBox="1"/>
          <p:nvPr/>
        </p:nvSpPr>
        <p:spPr>
          <a:xfrm>
            <a:off x="4276169" y="851055"/>
            <a:ext cx="24865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720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da-DK" sz="7200">
                <a:solidFill>
                  <a:srgbClr val="FF0000"/>
                </a:solidFill>
              </a:rPr>
              <a:t> </a:t>
            </a:r>
            <a:r>
              <a:rPr lang="da-DK" sz="7200"/>
              <a:t>||</a:t>
            </a:r>
            <a:r>
              <a:rPr lang="da-DK" sz="7200">
                <a:solidFill>
                  <a:srgbClr val="FF0000"/>
                </a:solidFill>
              </a:rPr>
              <a:t> B</a:t>
            </a:r>
          </a:p>
        </p:txBody>
      </p:sp>
      <p:cxnSp>
        <p:nvCxnSpPr>
          <p:cNvPr id="11" name="Lige forbindelse 10"/>
          <p:cNvCxnSpPr/>
          <p:nvPr/>
        </p:nvCxnSpPr>
        <p:spPr>
          <a:xfrm>
            <a:off x="4656223" y="3275778"/>
            <a:ext cx="216769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milende ansigt 14"/>
          <p:cNvSpPr/>
          <p:nvPr/>
        </p:nvSpPr>
        <p:spPr>
          <a:xfrm>
            <a:off x="2671009" y="2743200"/>
            <a:ext cx="1094875" cy="1082841"/>
          </a:xfrm>
          <a:prstGeom prst="smileyFac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" name="Tekstfelt 11"/>
          <p:cNvSpPr txBox="1"/>
          <p:nvPr/>
        </p:nvSpPr>
        <p:spPr>
          <a:xfrm>
            <a:off x="7534721" y="2389501"/>
            <a:ext cx="8082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9600">
                <a:solidFill>
                  <a:schemeClr val="accent4">
                    <a:lumMod val="75000"/>
                  </a:schemeClr>
                </a:solidFill>
              </a:rPr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3801383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Lige forbindelse 5"/>
          <p:cNvCxnSpPr/>
          <p:nvPr/>
        </p:nvCxnSpPr>
        <p:spPr>
          <a:xfrm>
            <a:off x="2671010" y="2021307"/>
            <a:ext cx="5895474" cy="352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Lige forbindelse 8"/>
          <p:cNvCxnSpPr/>
          <p:nvPr/>
        </p:nvCxnSpPr>
        <p:spPr>
          <a:xfrm>
            <a:off x="2671009" y="4537912"/>
            <a:ext cx="6009775" cy="105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Lige forbindelse 9"/>
          <p:cNvCxnSpPr/>
          <p:nvPr/>
        </p:nvCxnSpPr>
        <p:spPr>
          <a:xfrm flipH="1" flipV="1">
            <a:off x="4656223" y="2051384"/>
            <a:ext cx="6014" cy="1170252"/>
          </a:xfrm>
          <a:prstGeom prst="line">
            <a:avLst/>
          </a:prstGeom>
          <a:ln w="762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Lige forbindelse 12"/>
          <p:cNvCxnSpPr/>
          <p:nvPr/>
        </p:nvCxnSpPr>
        <p:spPr>
          <a:xfrm flipV="1">
            <a:off x="6823913" y="3260556"/>
            <a:ext cx="0" cy="1247274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kstfelt 15"/>
          <p:cNvSpPr txBox="1"/>
          <p:nvPr/>
        </p:nvSpPr>
        <p:spPr>
          <a:xfrm>
            <a:off x="4276169" y="851055"/>
            <a:ext cx="24865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7200">
                <a:solidFill>
                  <a:srgbClr val="FF0000"/>
                </a:solidFill>
              </a:rPr>
              <a:t>A </a:t>
            </a:r>
            <a:r>
              <a:rPr lang="da-DK" sz="7200"/>
              <a:t>||</a:t>
            </a:r>
            <a:r>
              <a:rPr lang="da-DK" sz="7200">
                <a:solidFill>
                  <a:srgbClr val="FF0000"/>
                </a:solidFill>
              </a:rPr>
              <a:t> </a:t>
            </a:r>
            <a:r>
              <a:rPr lang="da-DK" sz="7200">
                <a:solidFill>
                  <a:schemeClr val="accent6">
                    <a:lumMod val="75000"/>
                  </a:schemeClr>
                </a:solidFill>
              </a:rPr>
              <a:t>B</a:t>
            </a:r>
          </a:p>
        </p:txBody>
      </p:sp>
      <p:cxnSp>
        <p:nvCxnSpPr>
          <p:cNvPr id="11" name="Lige forbindelse 10"/>
          <p:cNvCxnSpPr/>
          <p:nvPr/>
        </p:nvCxnSpPr>
        <p:spPr>
          <a:xfrm>
            <a:off x="4656223" y="3275778"/>
            <a:ext cx="216769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milende ansigt 14"/>
          <p:cNvSpPr/>
          <p:nvPr/>
        </p:nvSpPr>
        <p:spPr>
          <a:xfrm>
            <a:off x="2671009" y="2743200"/>
            <a:ext cx="1094875" cy="1082841"/>
          </a:xfrm>
          <a:prstGeom prst="smileyFac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" name="Tekstfelt 11"/>
          <p:cNvSpPr txBox="1"/>
          <p:nvPr/>
        </p:nvSpPr>
        <p:spPr>
          <a:xfrm>
            <a:off x="7534721" y="2389501"/>
            <a:ext cx="8082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9600">
                <a:solidFill>
                  <a:schemeClr val="accent4">
                    <a:lumMod val="75000"/>
                  </a:schemeClr>
                </a:solidFill>
              </a:rPr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966183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Lige forbindelse 5"/>
          <p:cNvCxnSpPr/>
          <p:nvPr/>
        </p:nvCxnSpPr>
        <p:spPr>
          <a:xfrm>
            <a:off x="2671010" y="2021307"/>
            <a:ext cx="5895474" cy="352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Lige forbindelse 8"/>
          <p:cNvCxnSpPr/>
          <p:nvPr/>
        </p:nvCxnSpPr>
        <p:spPr>
          <a:xfrm>
            <a:off x="2671009" y="4537912"/>
            <a:ext cx="6009775" cy="105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Lige forbindelse 9"/>
          <p:cNvCxnSpPr/>
          <p:nvPr/>
        </p:nvCxnSpPr>
        <p:spPr>
          <a:xfrm flipH="1" flipV="1">
            <a:off x="4656223" y="2051384"/>
            <a:ext cx="6014" cy="1170252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Lige forbindelse 12"/>
          <p:cNvCxnSpPr/>
          <p:nvPr/>
        </p:nvCxnSpPr>
        <p:spPr>
          <a:xfrm flipV="1">
            <a:off x="6823913" y="3260556"/>
            <a:ext cx="0" cy="1247274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kstfelt 15"/>
          <p:cNvSpPr txBox="1"/>
          <p:nvPr/>
        </p:nvSpPr>
        <p:spPr>
          <a:xfrm>
            <a:off x="4276169" y="851055"/>
            <a:ext cx="24865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720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da-DK" sz="7200">
                <a:solidFill>
                  <a:srgbClr val="FF0000"/>
                </a:solidFill>
              </a:rPr>
              <a:t> </a:t>
            </a:r>
            <a:r>
              <a:rPr lang="da-DK" sz="7200"/>
              <a:t>||</a:t>
            </a:r>
            <a:r>
              <a:rPr lang="da-DK" sz="7200">
                <a:solidFill>
                  <a:srgbClr val="FF0000"/>
                </a:solidFill>
              </a:rPr>
              <a:t> </a:t>
            </a:r>
            <a:r>
              <a:rPr lang="da-DK" sz="7200">
                <a:solidFill>
                  <a:schemeClr val="accent6">
                    <a:lumMod val="75000"/>
                  </a:schemeClr>
                </a:solidFill>
              </a:rPr>
              <a:t>B</a:t>
            </a:r>
          </a:p>
        </p:txBody>
      </p:sp>
      <p:cxnSp>
        <p:nvCxnSpPr>
          <p:cNvPr id="11" name="Lige forbindelse 10"/>
          <p:cNvCxnSpPr/>
          <p:nvPr/>
        </p:nvCxnSpPr>
        <p:spPr>
          <a:xfrm>
            <a:off x="4656223" y="3275778"/>
            <a:ext cx="216769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milende ansigt 14"/>
          <p:cNvSpPr/>
          <p:nvPr/>
        </p:nvSpPr>
        <p:spPr>
          <a:xfrm>
            <a:off x="2671009" y="2743200"/>
            <a:ext cx="1094875" cy="1082841"/>
          </a:xfrm>
          <a:prstGeom prst="smileyFac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" name="Tekstfelt 11"/>
          <p:cNvSpPr txBox="1"/>
          <p:nvPr/>
        </p:nvSpPr>
        <p:spPr>
          <a:xfrm>
            <a:off x="7534721" y="2389501"/>
            <a:ext cx="8082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9600">
                <a:solidFill>
                  <a:schemeClr val="accent4">
                    <a:lumMod val="75000"/>
                  </a:schemeClr>
                </a:solidFill>
              </a:rPr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3457274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felt 5"/>
          <p:cNvSpPr txBox="1"/>
          <p:nvPr/>
        </p:nvSpPr>
        <p:spPr>
          <a:xfrm>
            <a:off x="832184" y="1515979"/>
            <a:ext cx="10669909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4800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4800">
                <a:latin typeface="Consolas" panose="020B0609020204030204" pitchFamily="49" charset="0"/>
              </a:rPr>
              <a:t> age = 14;</a:t>
            </a:r>
          </a:p>
          <a:p>
            <a:r>
              <a:rPr lang="da-DK" sz="4800">
                <a:solidFill>
                  <a:srgbClr val="0070C0"/>
                </a:solidFill>
                <a:latin typeface="Consolas" panose="020B0609020204030204" pitchFamily="49" charset="0"/>
              </a:rPr>
              <a:t>bool</a:t>
            </a:r>
            <a:r>
              <a:rPr lang="da-DK" sz="4800">
                <a:latin typeface="Consolas" panose="020B0609020204030204" pitchFamily="49" charset="0"/>
              </a:rPr>
              <a:t> above12 = (age &gt; 12);</a:t>
            </a:r>
          </a:p>
          <a:p>
            <a:r>
              <a:rPr lang="da-DK" sz="4800">
                <a:solidFill>
                  <a:srgbClr val="0070C0"/>
                </a:solidFill>
                <a:latin typeface="Consolas" panose="020B0609020204030204" pitchFamily="49" charset="0"/>
              </a:rPr>
              <a:t>bool</a:t>
            </a:r>
            <a:r>
              <a:rPr lang="da-DK" sz="4800">
                <a:latin typeface="Consolas" panose="020B0609020204030204" pitchFamily="49" charset="0"/>
              </a:rPr>
              <a:t> below20 = (age &lt; 20);</a:t>
            </a:r>
          </a:p>
          <a:p>
            <a:r>
              <a:rPr lang="da-DK" sz="4800">
                <a:solidFill>
                  <a:srgbClr val="0070C0"/>
                </a:solidFill>
                <a:latin typeface="Consolas" panose="020B0609020204030204" pitchFamily="49" charset="0"/>
              </a:rPr>
              <a:t>bool</a:t>
            </a:r>
            <a:r>
              <a:rPr lang="da-DK" sz="4800">
                <a:latin typeface="Consolas" panose="020B0609020204030204" pitchFamily="49" charset="0"/>
              </a:rPr>
              <a:t> teen = above12 &amp;&amp; below20;</a:t>
            </a:r>
          </a:p>
          <a:p>
            <a:r>
              <a:rPr lang="da-DK" sz="4800">
                <a:solidFill>
                  <a:srgbClr val="0070C0"/>
                </a:solidFill>
                <a:latin typeface="Consolas" panose="020B0609020204030204" pitchFamily="49" charset="0"/>
              </a:rPr>
              <a:t>bool</a:t>
            </a:r>
            <a:r>
              <a:rPr lang="da-DK" sz="4800">
                <a:latin typeface="Consolas" panose="020B0609020204030204" pitchFamily="49" charset="0"/>
              </a:rPr>
              <a:t> notTeen = </a:t>
            </a:r>
            <a:r>
              <a:rPr lang="da-DK" sz="4800" b="1">
                <a:latin typeface="Consolas" panose="020B0609020204030204" pitchFamily="49" charset="0"/>
              </a:rPr>
              <a:t>!</a:t>
            </a:r>
            <a:r>
              <a:rPr lang="da-DK" sz="4800">
                <a:latin typeface="Consolas" panose="020B0609020204030204" pitchFamily="49" charset="0"/>
              </a:rPr>
              <a:t>teen;</a:t>
            </a:r>
          </a:p>
        </p:txBody>
      </p:sp>
    </p:spTree>
    <p:extLst>
      <p:ext uri="{BB962C8B-B14F-4D97-AF65-F5344CB8AC3E}">
        <p14:creationId xmlns:p14="http://schemas.microsoft.com/office/powerpoint/2010/main" val="2636590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felt 5"/>
          <p:cNvSpPr txBox="1"/>
          <p:nvPr/>
        </p:nvSpPr>
        <p:spPr>
          <a:xfrm>
            <a:off x="832183" y="1515979"/>
            <a:ext cx="1050816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4800" b="1">
                <a:latin typeface="Consolas" panose="020B0609020204030204" pitchFamily="49" charset="0"/>
              </a:rPr>
              <a:t>(teen == </a:t>
            </a:r>
            <a:r>
              <a:rPr lang="da-DK" sz="48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true</a:t>
            </a:r>
            <a:r>
              <a:rPr lang="da-DK" sz="4800" b="1">
                <a:latin typeface="Consolas" panose="020B0609020204030204" pitchFamily="49" charset="0"/>
              </a:rPr>
              <a:t>)</a:t>
            </a:r>
          </a:p>
          <a:p>
            <a:endParaRPr lang="da-DK" sz="4800">
              <a:latin typeface="Consolas" panose="020B0609020204030204" pitchFamily="49" charset="0"/>
            </a:endParaRPr>
          </a:p>
          <a:p>
            <a:pPr algn="ctr"/>
            <a:r>
              <a:rPr lang="da-DK" sz="4800" i="1">
                <a:latin typeface="Consolas" panose="020B0609020204030204" pitchFamily="49" charset="0"/>
              </a:rPr>
              <a:t>…is the same as</a:t>
            </a:r>
          </a:p>
          <a:p>
            <a:endParaRPr lang="da-DK" sz="4800">
              <a:latin typeface="Consolas" panose="020B0609020204030204" pitchFamily="49" charset="0"/>
            </a:endParaRPr>
          </a:p>
          <a:p>
            <a:r>
              <a:rPr lang="da-DK" sz="4800" b="1">
                <a:latin typeface="Consolas" panose="020B0609020204030204" pitchFamily="49" charset="0"/>
              </a:rPr>
              <a:t>teen</a:t>
            </a:r>
          </a:p>
        </p:txBody>
      </p:sp>
    </p:spTree>
    <p:extLst>
      <p:ext uri="{BB962C8B-B14F-4D97-AF65-F5344CB8AC3E}">
        <p14:creationId xmlns:p14="http://schemas.microsoft.com/office/powerpoint/2010/main" val="3214600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felt 5"/>
          <p:cNvSpPr txBox="1"/>
          <p:nvPr/>
        </p:nvSpPr>
        <p:spPr>
          <a:xfrm>
            <a:off x="832183" y="1515979"/>
            <a:ext cx="1050816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4800" b="1">
                <a:latin typeface="Consolas" panose="020B0609020204030204" pitchFamily="49" charset="0"/>
              </a:rPr>
              <a:t>(teen == </a:t>
            </a:r>
            <a:r>
              <a:rPr lang="da-DK" sz="48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false</a:t>
            </a:r>
            <a:r>
              <a:rPr lang="da-DK" sz="4800" b="1">
                <a:latin typeface="Consolas" panose="020B0609020204030204" pitchFamily="49" charset="0"/>
              </a:rPr>
              <a:t>)</a:t>
            </a:r>
          </a:p>
          <a:p>
            <a:endParaRPr lang="da-DK" sz="4800">
              <a:latin typeface="Consolas" panose="020B0609020204030204" pitchFamily="49" charset="0"/>
            </a:endParaRPr>
          </a:p>
          <a:p>
            <a:pPr algn="ctr"/>
            <a:r>
              <a:rPr lang="da-DK" sz="4800" i="1">
                <a:latin typeface="Consolas" panose="020B0609020204030204" pitchFamily="49" charset="0"/>
              </a:rPr>
              <a:t>…is the same as</a:t>
            </a:r>
          </a:p>
          <a:p>
            <a:endParaRPr lang="da-DK" sz="4800">
              <a:latin typeface="Consolas" panose="020B0609020204030204" pitchFamily="49" charset="0"/>
            </a:endParaRPr>
          </a:p>
          <a:p>
            <a:r>
              <a:rPr lang="da-DK" sz="4800" b="1">
                <a:latin typeface="Consolas" panose="020B0609020204030204" pitchFamily="49" charset="0"/>
              </a:rPr>
              <a:t>!teen</a:t>
            </a:r>
          </a:p>
        </p:txBody>
      </p:sp>
    </p:spTree>
    <p:extLst>
      <p:ext uri="{BB962C8B-B14F-4D97-AF65-F5344CB8AC3E}">
        <p14:creationId xmlns:p14="http://schemas.microsoft.com/office/powerpoint/2010/main" val="1735589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Lige forbindelse 5"/>
          <p:cNvCxnSpPr/>
          <p:nvPr/>
        </p:nvCxnSpPr>
        <p:spPr>
          <a:xfrm>
            <a:off x="2671010" y="2021307"/>
            <a:ext cx="5895474" cy="352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Lige forbindelse 8"/>
          <p:cNvCxnSpPr/>
          <p:nvPr/>
        </p:nvCxnSpPr>
        <p:spPr>
          <a:xfrm>
            <a:off x="2671009" y="4537912"/>
            <a:ext cx="6009775" cy="105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Lige forbindelse 9"/>
          <p:cNvCxnSpPr/>
          <p:nvPr/>
        </p:nvCxnSpPr>
        <p:spPr>
          <a:xfrm flipV="1">
            <a:off x="5636798" y="2003256"/>
            <a:ext cx="0" cy="2516605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kstfelt 15"/>
          <p:cNvSpPr txBox="1"/>
          <p:nvPr/>
        </p:nvSpPr>
        <p:spPr>
          <a:xfrm>
            <a:off x="5108831" y="820978"/>
            <a:ext cx="10198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7200"/>
              <a:t>!</a:t>
            </a:r>
            <a:r>
              <a:rPr lang="da-DK" sz="72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7" name="Smilende ansigt 16"/>
          <p:cNvSpPr/>
          <p:nvPr/>
        </p:nvSpPr>
        <p:spPr>
          <a:xfrm>
            <a:off x="2671009" y="2743200"/>
            <a:ext cx="1094875" cy="1082841"/>
          </a:xfrm>
          <a:prstGeom prst="smileyFac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" name="Tekstfelt 10"/>
          <p:cNvSpPr txBox="1"/>
          <p:nvPr/>
        </p:nvSpPr>
        <p:spPr>
          <a:xfrm>
            <a:off x="7534721" y="2389501"/>
            <a:ext cx="8082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9600">
                <a:solidFill>
                  <a:schemeClr val="accent4">
                    <a:lumMod val="75000"/>
                  </a:schemeClr>
                </a:solidFill>
              </a:rPr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3686444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Lige forbindelse 5"/>
          <p:cNvCxnSpPr/>
          <p:nvPr/>
        </p:nvCxnSpPr>
        <p:spPr>
          <a:xfrm>
            <a:off x="2671010" y="2021307"/>
            <a:ext cx="5895474" cy="352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Lige forbindelse 8"/>
          <p:cNvCxnSpPr/>
          <p:nvPr/>
        </p:nvCxnSpPr>
        <p:spPr>
          <a:xfrm>
            <a:off x="2671009" y="4537912"/>
            <a:ext cx="6009775" cy="105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Lige forbindelse 9"/>
          <p:cNvCxnSpPr/>
          <p:nvPr/>
        </p:nvCxnSpPr>
        <p:spPr>
          <a:xfrm flipV="1">
            <a:off x="5636798" y="2003256"/>
            <a:ext cx="0" cy="2516605"/>
          </a:xfrm>
          <a:prstGeom prst="line">
            <a:avLst/>
          </a:prstGeom>
          <a:ln w="762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kstfelt 15"/>
          <p:cNvSpPr txBox="1"/>
          <p:nvPr/>
        </p:nvSpPr>
        <p:spPr>
          <a:xfrm>
            <a:off x="5108831" y="820978"/>
            <a:ext cx="10198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7200"/>
              <a:t>!</a:t>
            </a:r>
            <a:r>
              <a:rPr lang="da-DK" sz="7200">
                <a:solidFill>
                  <a:schemeClr val="accent6">
                    <a:lumMod val="75000"/>
                  </a:schemeClr>
                </a:solidFill>
              </a:rPr>
              <a:t>A</a:t>
            </a:r>
          </a:p>
        </p:txBody>
      </p:sp>
      <p:sp>
        <p:nvSpPr>
          <p:cNvPr id="17" name="Smilende ansigt 16"/>
          <p:cNvSpPr/>
          <p:nvPr/>
        </p:nvSpPr>
        <p:spPr>
          <a:xfrm>
            <a:off x="2671009" y="2743200"/>
            <a:ext cx="1094875" cy="1082841"/>
          </a:xfrm>
          <a:prstGeom prst="smileyFac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" name="Tekstfelt 7"/>
          <p:cNvSpPr txBox="1"/>
          <p:nvPr/>
        </p:nvSpPr>
        <p:spPr>
          <a:xfrm>
            <a:off x="7534721" y="2389501"/>
            <a:ext cx="8082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9600">
                <a:solidFill>
                  <a:schemeClr val="accent4">
                    <a:lumMod val="75000"/>
                  </a:schemeClr>
                </a:solidFill>
              </a:rPr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2128302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116266"/>
              </p:ext>
            </p:extLst>
          </p:nvPr>
        </p:nvGraphicFramePr>
        <p:xfrm>
          <a:off x="2272632" y="2349944"/>
          <a:ext cx="8128000" cy="194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01778626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81147665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77355771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261012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3128665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a-DK" sz="2400" b="1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400" b="1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400" b="1"/>
                        <a:t>A &amp;&amp;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400" b="1"/>
                        <a:t>A ||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400" b="1"/>
                        <a:t>!A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632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lang="en-US" sz="2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da-DK" sz="2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da-DK" sz="2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da-DK" sz="2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da-DK" sz="2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da-DK" sz="2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19334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da-DK" sz="2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da-DK" sz="2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da-DK" sz="2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da-DK" sz="2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da-DK" sz="2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14615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da-DK" sz="2400" b="1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da-DK" sz="2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da-DK" sz="2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da-DK" sz="2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da-DK" sz="2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3060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da-DK" sz="2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da-DK" sz="2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da-DK" sz="2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da-DK" sz="2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da-DK" sz="2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03636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2824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</TotalTime>
  <Words>349</Words>
  <Application>Microsoft Office PowerPoint</Application>
  <PresentationFormat>Widescreen</PresentationFormat>
  <Paragraphs>156</Paragraphs>
  <Slides>23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Consolas</vt:lpstr>
      <vt:lpstr>Times New Roman</vt:lpstr>
      <vt:lpstr>Office-tema</vt:lpstr>
      <vt:lpstr>Boolean Logic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Company>Køge Handelsskole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Per Laursen</dc:creator>
  <cp:lastModifiedBy>Per Storgård Laursen</cp:lastModifiedBy>
  <cp:revision>37</cp:revision>
  <dcterms:created xsi:type="dcterms:W3CDTF">2017-09-05T14:00:27Z</dcterms:created>
  <dcterms:modified xsi:type="dcterms:W3CDTF">2026-01-05T18:26:52Z</dcterms:modified>
</cp:coreProperties>
</file>