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1" r:id="rId7"/>
    <p:sldId id="260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7B3EE8-C5F9-4F77-97F9-9BAE4269D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853377A-343D-47F1-ADD2-6F8B96852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0304A31-3C1B-4076-A6C0-03201A87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BE03362-A59F-4A6C-832D-D79AA366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368F215-4D66-4238-98BB-E7203C29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8571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201CC-F0FE-4D2A-BA96-7AA09DAC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43B36C5-3F89-473F-96EA-6CEB94D0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0D9C53E-39F3-4923-808F-701D1C61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49FE54A-577F-4DA3-8659-6ED78E5C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00062F-2E6E-4299-B467-A97A9E6E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2469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906BD-6E7C-4E21-A937-4F154159C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D0E09B5-7072-44B2-AEB2-80AAFDB05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10AFC8C-FDCF-4276-A666-808EF269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FE914E-3D62-477F-81B0-54360B29D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B1F45CC-F2FD-4770-B79F-6CBCFD88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8074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F5DAA-560C-44F8-A28A-F64F9D58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3D053C1-B207-4E91-A488-D5C65A70B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7A31EBB-0D7A-4D3E-8277-813236C7C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5495FBD-F473-44AD-A4AF-77AA1D7A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7AD9C86-E1F6-4DB8-9DFC-14EF68D8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E6E3A1D-0AC7-4F4A-8654-C6DF22E2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8514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AF09AF-1A39-4191-82CB-21C6E37E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1E803CE-A6F9-48EC-8290-0C119656D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F2D5FDD-DB2D-477D-AED0-03E321D66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954FB6E-74DD-4010-9CE1-6870420639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F4730E0-8847-4D08-A870-052224289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00F4522-5D11-42AF-8DC1-41772F1D1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100A84F-022B-48F0-94F9-CCAEFA79B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F863DB8-EC25-4BF6-9B70-9FAA3B76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0927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E62765-2227-425A-8192-D6F7AF55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F4AFEB7-CAA1-4612-B6BB-E9C98A7D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779A9B9-0183-4D6D-8BCA-60761887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2B5B637-7E7B-4195-9C00-F99BAB5E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9581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3EAB416-6983-4DD4-9ADA-F4E39E505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229408F7-14C5-499B-AA63-D1DBFAF1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DEB775B-AEE2-4C83-AF1D-B2E588A0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8611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8CB3A-FA9D-45B1-8E1A-EA6E54B3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4231A81-F035-4882-BCC0-7824B8C2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EF84EA9-40CB-4EAE-91CF-ABC5A987F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07C5516-C34E-4424-8447-CB73E95A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90903F9-361A-4D8F-9C72-C7ED8E41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E8ABC95-4867-4AA1-ABC4-8092E9481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4734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82D30C-D6BA-4108-BE3D-B2A63ED0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012CF1E3-7BF2-4852-A16C-B1571F4E6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D96925F-3172-4192-9DEB-309FB1C05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9F26D1F-87BD-4A7F-A75E-E788FB50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4DD3626-C562-4DD7-97DB-EFB699A0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D547463-1141-4B6D-BA8F-8C669114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8270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2FFF7-35F8-4F63-9826-079E717E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B46FAEC-3D9A-443B-8A90-51AE886C6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0B6C50-1FE9-4F2B-A3A1-F62E4D7F7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D5DE69F-6DF9-4AEF-8B14-017CDDA5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CD5C262-64F1-4AB0-BCE3-1696327D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5917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2F3C4A47-8D16-4A49-BCF0-5857FACE0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4B93471-8C2E-4E3D-BCD1-FD8E3474E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EA41741-B10F-4308-AB3E-FE58AA33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64400F1-32A5-44BB-AFF1-4541D2E1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F8CFA3C-D7D8-47BD-935C-8FE5448B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3293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37773B16-B005-45C5-9213-EB0D5628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877AA5F-D4A5-4598-BF78-69BC36FFE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571583B-9103-4B3A-93BA-D5DBDECD6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A5C12-5044-43FC-A9E1-FC82233BC2D1}" type="datetimeFigureOut">
              <a:rPr lang="da-DK" smtClean="0"/>
              <a:t>15-04-2026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D14E962-AB2A-4D5C-AF71-F22B70581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AB3EFBC-21F1-4C68-88F3-7E5490874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4F28D-44CC-4439-9239-A8BB906583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477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38A11-F995-45F8-BA7B-F91592357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69770"/>
          </a:xfrm>
        </p:spPr>
        <p:txBody>
          <a:bodyPr>
            <a:normAutofit/>
          </a:bodyPr>
          <a:lstStyle/>
          <a:p>
            <a:r>
              <a:rPr lang="da-DK" sz="7200" b="1"/>
              <a:t>Razor Pages</a:t>
            </a:r>
            <a:br>
              <a:rPr lang="da-DK"/>
            </a:br>
            <a:br>
              <a:rPr lang="da-DK"/>
            </a:br>
            <a:r>
              <a:rPr lang="da-DK"/>
              <a:t>sammenhænge</a:t>
            </a:r>
          </a:p>
        </p:txBody>
      </p:sp>
    </p:spTree>
    <p:extLst>
      <p:ext uri="{BB962C8B-B14F-4D97-AF65-F5344CB8AC3E}">
        <p14:creationId xmlns:p14="http://schemas.microsoft.com/office/powerpoint/2010/main" val="2751203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ktangel: afrundede hjørner 23">
            <a:extLst>
              <a:ext uri="{FF2B5EF4-FFF2-40B4-BE49-F238E27FC236}">
                <a16:creationId xmlns:a16="http://schemas.microsoft.com/office/drawing/2014/main" id="{62850822-4D16-496E-AEF5-C3F86D5BA270}"/>
              </a:ext>
            </a:extLst>
          </p:cNvPr>
          <p:cNvSpPr/>
          <p:nvPr/>
        </p:nvSpPr>
        <p:spPr>
          <a:xfrm>
            <a:off x="8026316" y="56221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ktangel: afrundede hjørner 21">
            <a:extLst>
              <a:ext uri="{FF2B5EF4-FFF2-40B4-BE49-F238E27FC236}">
                <a16:creationId xmlns:a16="http://schemas.microsoft.com/office/drawing/2014/main" id="{FE3D08A7-1EC5-455B-9068-94F88C157F13}"/>
              </a:ext>
            </a:extLst>
          </p:cNvPr>
          <p:cNvSpPr/>
          <p:nvPr/>
        </p:nvSpPr>
        <p:spPr>
          <a:xfrm>
            <a:off x="7873916" y="54697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18A2BAF2-BBA5-4EDA-B741-87455D868D25}"/>
              </a:ext>
            </a:extLst>
          </p:cNvPr>
          <p:cNvSpPr/>
          <p:nvPr/>
        </p:nvSpPr>
        <p:spPr>
          <a:xfrm>
            <a:off x="309984" y="296160"/>
            <a:ext cx="5240867" cy="1456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/>
              <a:t>Page Layout (.cshtml)</a:t>
            </a:r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53D6EC9F-CCCF-447C-A370-1CF6F8D0E6BD}"/>
              </a:ext>
            </a:extLst>
          </p:cNvPr>
          <p:cNvSpPr/>
          <p:nvPr/>
        </p:nvSpPr>
        <p:spPr>
          <a:xfrm>
            <a:off x="309984" y="3008518"/>
            <a:ext cx="5240867" cy="145626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/>
              <a:t>Page Model (.cshtml.cs)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0AD58871-08A9-474B-965A-FC10D3B2F982}"/>
              </a:ext>
            </a:extLst>
          </p:cNvPr>
          <p:cNvSpPr/>
          <p:nvPr/>
        </p:nvSpPr>
        <p:spPr>
          <a:xfrm>
            <a:off x="1636140" y="867399"/>
            <a:ext cx="838200" cy="3042128"/>
          </a:xfrm>
          <a:prstGeom prst="roundRect">
            <a:avLst/>
          </a:prstGeom>
          <a:solidFill>
            <a:schemeClr val="bg1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Page</a:t>
            </a: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45150929-0E59-42E6-A8E6-FE9928C9500E}"/>
              </a:ext>
            </a:extLst>
          </p:cNvPr>
          <p:cNvSpPr/>
          <p:nvPr/>
        </p:nvSpPr>
        <p:spPr>
          <a:xfrm>
            <a:off x="2766353" y="867399"/>
            <a:ext cx="838200" cy="3042128"/>
          </a:xfrm>
          <a:prstGeom prst="roundRect">
            <a:avLst/>
          </a:prstGeom>
          <a:solidFill>
            <a:schemeClr val="bg1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Page</a:t>
            </a:r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A4624F7A-0D3C-4C60-9237-E883AC0BD77E}"/>
              </a:ext>
            </a:extLst>
          </p:cNvPr>
          <p:cNvSpPr/>
          <p:nvPr/>
        </p:nvSpPr>
        <p:spPr>
          <a:xfrm>
            <a:off x="3896566" y="862131"/>
            <a:ext cx="838200" cy="3042128"/>
          </a:xfrm>
          <a:prstGeom prst="roundRect">
            <a:avLst/>
          </a:prstGeom>
          <a:solidFill>
            <a:schemeClr val="bg1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Page</a:t>
            </a:r>
          </a:p>
        </p:txBody>
      </p: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EC50E270-A8D9-492A-913F-907FC52AA61A}"/>
              </a:ext>
            </a:extLst>
          </p:cNvPr>
          <p:cNvCxnSpPr>
            <a:cxnSpLocks/>
          </p:cNvCxnSpPr>
          <p:nvPr/>
        </p:nvCxnSpPr>
        <p:spPr>
          <a:xfrm>
            <a:off x="5026779" y="1772254"/>
            <a:ext cx="0" cy="123626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91DE818-EEE3-4664-86A6-A5D898E6EB74}"/>
              </a:ext>
            </a:extLst>
          </p:cNvPr>
          <p:cNvSpPr/>
          <p:nvPr/>
        </p:nvSpPr>
        <p:spPr>
          <a:xfrm>
            <a:off x="7380514" y="3008518"/>
            <a:ext cx="4501504" cy="145626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/>
              <a:t>Services (.cs)</a:t>
            </a:r>
          </a:p>
        </p:txBody>
      </p: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ABCF20EE-29E6-4C0B-A944-911F44FA8AE0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5550851" y="3736651"/>
            <a:ext cx="182966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ktangel: afrundede hjørner 15">
            <a:extLst>
              <a:ext uri="{FF2B5EF4-FFF2-40B4-BE49-F238E27FC236}">
                <a16:creationId xmlns:a16="http://schemas.microsoft.com/office/drawing/2014/main" id="{4409979D-295F-44A5-98D0-8F99493253EC}"/>
              </a:ext>
            </a:extLst>
          </p:cNvPr>
          <p:cNvSpPr/>
          <p:nvPr/>
        </p:nvSpPr>
        <p:spPr>
          <a:xfrm>
            <a:off x="7777499" y="3652332"/>
            <a:ext cx="838200" cy="10596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Inter</a:t>
            </a:r>
          </a:p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face</a:t>
            </a:r>
          </a:p>
        </p:txBody>
      </p:sp>
      <p:sp>
        <p:nvSpPr>
          <p:cNvPr id="17" name="Rektangel: afrundede hjørner 16">
            <a:extLst>
              <a:ext uri="{FF2B5EF4-FFF2-40B4-BE49-F238E27FC236}">
                <a16:creationId xmlns:a16="http://schemas.microsoft.com/office/drawing/2014/main" id="{636E2D61-593B-4DB9-A9B4-4550344BA0EA}"/>
              </a:ext>
            </a:extLst>
          </p:cNvPr>
          <p:cNvSpPr/>
          <p:nvPr/>
        </p:nvSpPr>
        <p:spPr>
          <a:xfrm>
            <a:off x="9094324" y="3652332"/>
            <a:ext cx="838200" cy="10596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Inter</a:t>
            </a:r>
          </a:p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face</a:t>
            </a:r>
          </a:p>
        </p:txBody>
      </p:sp>
      <p:sp>
        <p:nvSpPr>
          <p:cNvPr id="18" name="Rektangel: afrundede hjørner 17">
            <a:extLst>
              <a:ext uri="{FF2B5EF4-FFF2-40B4-BE49-F238E27FC236}">
                <a16:creationId xmlns:a16="http://schemas.microsoft.com/office/drawing/2014/main" id="{D8C997D0-F92D-445C-B069-5C7BC0ED790C}"/>
              </a:ext>
            </a:extLst>
          </p:cNvPr>
          <p:cNvSpPr/>
          <p:nvPr/>
        </p:nvSpPr>
        <p:spPr>
          <a:xfrm>
            <a:off x="7777499" y="53557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Impl.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FFD24C90-16AC-49DB-A146-0B4D4260B4C5}"/>
              </a:ext>
            </a:extLst>
          </p:cNvPr>
          <p:cNvCxnSpPr>
            <a:cxnSpLocks/>
            <a:stCxn id="18" idx="0"/>
            <a:endCxn id="16" idx="2"/>
          </p:cNvCxnSpPr>
          <p:nvPr/>
        </p:nvCxnSpPr>
        <p:spPr>
          <a:xfrm flipV="1">
            <a:off x="8196599" y="4711960"/>
            <a:ext cx="0" cy="64381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ktangel: afrundede hjørner 24">
            <a:extLst>
              <a:ext uri="{FF2B5EF4-FFF2-40B4-BE49-F238E27FC236}">
                <a16:creationId xmlns:a16="http://schemas.microsoft.com/office/drawing/2014/main" id="{794AEE6A-0DF1-4B4B-941C-E39D76603DA3}"/>
              </a:ext>
            </a:extLst>
          </p:cNvPr>
          <p:cNvSpPr/>
          <p:nvPr/>
        </p:nvSpPr>
        <p:spPr>
          <a:xfrm>
            <a:off x="9380033" y="56221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Rektangel: afrundede hjørner 25">
            <a:extLst>
              <a:ext uri="{FF2B5EF4-FFF2-40B4-BE49-F238E27FC236}">
                <a16:creationId xmlns:a16="http://schemas.microsoft.com/office/drawing/2014/main" id="{986E2334-0337-484F-AB4E-39D1B538FE3B}"/>
              </a:ext>
            </a:extLst>
          </p:cNvPr>
          <p:cNvSpPr/>
          <p:nvPr/>
        </p:nvSpPr>
        <p:spPr>
          <a:xfrm>
            <a:off x="9227633" y="54697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Rektangel: afrundede hjørner 26">
            <a:extLst>
              <a:ext uri="{FF2B5EF4-FFF2-40B4-BE49-F238E27FC236}">
                <a16:creationId xmlns:a16="http://schemas.microsoft.com/office/drawing/2014/main" id="{E2A7A97C-DE11-4DFB-930A-F8ABACE45979}"/>
              </a:ext>
            </a:extLst>
          </p:cNvPr>
          <p:cNvSpPr/>
          <p:nvPr/>
        </p:nvSpPr>
        <p:spPr>
          <a:xfrm>
            <a:off x="9131216" y="53557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Impl.</a:t>
            </a:r>
          </a:p>
        </p:txBody>
      </p:sp>
      <p:cxnSp>
        <p:nvCxnSpPr>
          <p:cNvPr id="28" name="Lige pilforbindelse 27">
            <a:extLst>
              <a:ext uri="{FF2B5EF4-FFF2-40B4-BE49-F238E27FC236}">
                <a16:creationId xmlns:a16="http://schemas.microsoft.com/office/drawing/2014/main" id="{B625A67B-6260-4862-897A-14768E3B480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9550316" y="4711960"/>
            <a:ext cx="0" cy="64381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ktangel: afrundede hjørner 28">
            <a:extLst>
              <a:ext uri="{FF2B5EF4-FFF2-40B4-BE49-F238E27FC236}">
                <a16:creationId xmlns:a16="http://schemas.microsoft.com/office/drawing/2014/main" id="{53720C44-01AF-4E36-810C-7467CFEBCB40}"/>
              </a:ext>
            </a:extLst>
          </p:cNvPr>
          <p:cNvSpPr/>
          <p:nvPr/>
        </p:nvSpPr>
        <p:spPr>
          <a:xfrm>
            <a:off x="2929813" y="5192917"/>
            <a:ext cx="2621038" cy="145626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>
                <a:solidFill>
                  <a:schemeClr val="bg1"/>
                </a:solidFill>
              </a:rPr>
              <a:t>Program.cs</a:t>
            </a:r>
          </a:p>
        </p:txBody>
      </p:sp>
    </p:spTree>
    <p:extLst>
      <p:ext uri="{BB962C8B-B14F-4D97-AF65-F5344CB8AC3E}">
        <p14:creationId xmlns:p14="http://schemas.microsoft.com/office/powerpoint/2010/main" val="746159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18A2BAF2-BBA5-4EDA-B741-87455D868D25}"/>
              </a:ext>
            </a:extLst>
          </p:cNvPr>
          <p:cNvSpPr/>
          <p:nvPr/>
        </p:nvSpPr>
        <p:spPr>
          <a:xfrm>
            <a:off x="309984" y="296160"/>
            <a:ext cx="5240867" cy="14562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>
                <a:solidFill>
                  <a:schemeClr val="accent4"/>
                </a:solidFill>
              </a:rPr>
              <a:t>Page Layout</a:t>
            </a:r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53D6EC9F-CCCF-447C-A370-1CF6F8D0E6BD}"/>
              </a:ext>
            </a:extLst>
          </p:cNvPr>
          <p:cNvSpPr/>
          <p:nvPr/>
        </p:nvSpPr>
        <p:spPr>
          <a:xfrm>
            <a:off x="309984" y="3008518"/>
            <a:ext cx="5240867" cy="145626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/>
              <a:t>Page Model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0AD58871-08A9-474B-965A-FC10D3B2F982}"/>
              </a:ext>
            </a:extLst>
          </p:cNvPr>
          <p:cNvSpPr/>
          <p:nvPr/>
        </p:nvSpPr>
        <p:spPr>
          <a:xfrm>
            <a:off x="1636140" y="867399"/>
            <a:ext cx="838200" cy="3042128"/>
          </a:xfrm>
          <a:prstGeom prst="roundRect">
            <a:avLst/>
          </a:prstGeom>
          <a:solidFill>
            <a:schemeClr val="bg1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Page</a:t>
            </a: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45150929-0E59-42E6-A8E6-FE9928C9500E}"/>
              </a:ext>
            </a:extLst>
          </p:cNvPr>
          <p:cNvSpPr/>
          <p:nvPr/>
        </p:nvSpPr>
        <p:spPr>
          <a:xfrm>
            <a:off x="2766353" y="867399"/>
            <a:ext cx="838200" cy="3042128"/>
          </a:xfrm>
          <a:prstGeom prst="roundRect">
            <a:avLst/>
          </a:prstGeom>
          <a:solidFill>
            <a:schemeClr val="bg1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Page</a:t>
            </a:r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A4624F7A-0D3C-4C60-9237-E883AC0BD77E}"/>
              </a:ext>
            </a:extLst>
          </p:cNvPr>
          <p:cNvSpPr/>
          <p:nvPr/>
        </p:nvSpPr>
        <p:spPr>
          <a:xfrm>
            <a:off x="3896566" y="862131"/>
            <a:ext cx="838200" cy="3042128"/>
          </a:xfrm>
          <a:prstGeom prst="roundRect">
            <a:avLst/>
          </a:prstGeom>
          <a:solidFill>
            <a:schemeClr val="bg1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Page</a:t>
            </a:r>
          </a:p>
        </p:txBody>
      </p: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EC50E270-A8D9-492A-913F-907FC52AA61A}"/>
              </a:ext>
            </a:extLst>
          </p:cNvPr>
          <p:cNvCxnSpPr>
            <a:cxnSpLocks/>
          </p:cNvCxnSpPr>
          <p:nvPr/>
        </p:nvCxnSpPr>
        <p:spPr>
          <a:xfrm>
            <a:off x="5026779" y="1772254"/>
            <a:ext cx="0" cy="123626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341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53D6EC9F-CCCF-447C-A370-1CF6F8D0E6BD}"/>
              </a:ext>
            </a:extLst>
          </p:cNvPr>
          <p:cNvSpPr/>
          <p:nvPr/>
        </p:nvSpPr>
        <p:spPr>
          <a:xfrm>
            <a:off x="309984" y="3008518"/>
            <a:ext cx="5240867" cy="145626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>
                <a:solidFill>
                  <a:schemeClr val="accent4"/>
                </a:solidFill>
              </a:rPr>
              <a:t>Page Model</a:t>
            </a:r>
          </a:p>
        </p:txBody>
      </p: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91DE818-EEE3-4664-86A6-A5D898E6EB74}"/>
              </a:ext>
            </a:extLst>
          </p:cNvPr>
          <p:cNvSpPr/>
          <p:nvPr/>
        </p:nvSpPr>
        <p:spPr>
          <a:xfrm>
            <a:off x="7380514" y="3008518"/>
            <a:ext cx="4501504" cy="145626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/>
              <a:t>Services</a:t>
            </a:r>
          </a:p>
        </p:txBody>
      </p: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ABCF20EE-29E6-4C0B-A944-911F44FA8AE0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5550851" y="3736651"/>
            <a:ext cx="182966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ktangel: afrundede hjørner 15">
            <a:extLst>
              <a:ext uri="{FF2B5EF4-FFF2-40B4-BE49-F238E27FC236}">
                <a16:creationId xmlns:a16="http://schemas.microsoft.com/office/drawing/2014/main" id="{4409979D-295F-44A5-98D0-8F99493253EC}"/>
              </a:ext>
            </a:extLst>
          </p:cNvPr>
          <p:cNvSpPr/>
          <p:nvPr/>
        </p:nvSpPr>
        <p:spPr>
          <a:xfrm>
            <a:off x="7777499" y="3652332"/>
            <a:ext cx="838200" cy="10596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Inter</a:t>
            </a:r>
          </a:p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face</a:t>
            </a:r>
          </a:p>
        </p:txBody>
      </p:sp>
      <p:sp>
        <p:nvSpPr>
          <p:cNvPr id="17" name="Rektangel: afrundede hjørner 16">
            <a:extLst>
              <a:ext uri="{FF2B5EF4-FFF2-40B4-BE49-F238E27FC236}">
                <a16:creationId xmlns:a16="http://schemas.microsoft.com/office/drawing/2014/main" id="{636E2D61-593B-4DB9-A9B4-4550344BA0EA}"/>
              </a:ext>
            </a:extLst>
          </p:cNvPr>
          <p:cNvSpPr/>
          <p:nvPr/>
        </p:nvSpPr>
        <p:spPr>
          <a:xfrm>
            <a:off x="9094324" y="3652332"/>
            <a:ext cx="838200" cy="10596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Inter</a:t>
            </a:r>
          </a:p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face</a:t>
            </a:r>
          </a:p>
        </p:txBody>
      </p:sp>
    </p:spTree>
    <p:extLst>
      <p:ext uri="{BB962C8B-B14F-4D97-AF65-F5344CB8AC3E}">
        <p14:creationId xmlns:p14="http://schemas.microsoft.com/office/powerpoint/2010/main" val="610283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ktangel: afrundede hjørner 23">
            <a:extLst>
              <a:ext uri="{FF2B5EF4-FFF2-40B4-BE49-F238E27FC236}">
                <a16:creationId xmlns:a16="http://schemas.microsoft.com/office/drawing/2014/main" id="{62850822-4D16-496E-AEF5-C3F86D5BA270}"/>
              </a:ext>
            </a:extLst>
          </p:cNvPr>
          <p:cNvSpPr/>
          <p:nvPr/>
        </p:nvSpPr>
        <p:spPr>
          <a:xfrm>
            <a:off x="8026316" y="56221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ktangel: afrundede hjørner 21">
            <a:extLst>
              <a:ext uri="{FF2B5EF4-FFF2-40B4-BE49-F238E27FC236}">
                <a16:creationId xmlns:a16="http://schemas.microsoft.com/office/drawing/2014/main" id="{FE3D08A7-1EC5-455B-9068-94F88C157F13}"/>
              </a:ext>
            </a:extLst>
          </p:cNvPr>
          <p:cNvSpPr/>
          <p:nvPr/>
        </p:nvSpPr>
        <p:spPr>
          <a:xfrm>
            <a:off x="7873916" y="54697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91DE818-EEE3-4664-86A6-A5D898E6EB74}"/>
              </a:ext>
            </a:extLst>
          </p:cNvPr>
          <p:cNvSpPr/>
          <p:nvPr/>
        </p:nvSpPr>
        <p:spPr>
          <a:xfrm>
            <a:off x="7380514" y="3008518"/>
            <a:ext cx="4501504" cy="145626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/>
              <a:t>Services</a:t>
            </a:r>
          </a:p>
        </p:txBody>
      </p:sp>
      <p:sp>
        <p:nvSpPr>
          <p:cNvPr id="16" name="Rektangel: afrundede hjørner 15">
            <a:extLst>
              <a:ext uri="{FF2B5EF4-FFF2-40B4-BE49-F238E27FC236}">
                <a16:creationId xmlns:a16="http://schemas.microsoft.com/office/drawing/2014/main" id="{4409979D-295F-44A5-98D0-8F99493253EC}"/>
              </a:ext>
            </a:extLst>
          </p:cNvPr>
          <p:cNvSpPr/>
          <p:nvPr/>
        </p:nvSpPr>
        <p:spPr>
          <a:xfrm>
            <a:off x="7777499" y="3652332"/>
            <a:ext cx="838200" cy="10596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Inter</a:t>
            </a:r>
          </a:p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face</a:t>
            </a:r>
          </a:p>
        </p:txBody>
      </p:sp>
      <p:sp>
        <p:nvSpPr>
          <p:cNvPr id="17" name="Rektangel: afrundede hjørner 16">
            <a:extLst>
              <a:ext uri="{FF2B5EF4-FFF2-40B4-BE49-F238E27FC236}">
                <a16:creationId xmlns:a16="http://schemas.microsoft.com/office/drawing/2014/main" id="{636E2D61-593B-4DB9-A9B4-4550344BA0EA}"/>
              </a:ext>
            </a:extLst>
          </p:cNvPr>
          <p:cNvSpPr/>
          <p:nvPr/>
        </p:nvSpPr>
        <p:spPr>
          <a:xfrm>
            <a:off x="9094324" y="3652332"/>
            <a:ext cx="838200" cy="10596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Inter</a:t>
            </a:r>
          </a:p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face</a:t>
            </a:r>
          </a:p>
        </p:txBody>
      </p:sp>
      <p:sp>
        <p:nvSpPr>
          <p:cNvPr id="18" name="Rektangel: afrundede hjørner 17">
            <a:extLst>
              <a:ext uri="{FF2B5EF4-FFF2-40B4-BE49-F238E27FC236}">
                <a16:creationId xmlns:a16="http://schemas.microsoft.com/office/drawing/2014/main" id="{D8C997D0-F92D-445C-B069-5C7BC0ED790C}"/>
              </a:ext>
            </a:extLst>
          </p:cNvPr>
          <p:cNvSpPr/>
          <p:nvPr/>
        </p:nvSpPr>
        <p:spPr>
          <a:xfrm>
            <a:off x="7777499" y="53557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Impl.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FFD24C90-16AC-49DB-A146-0B4D4260B4C5}"/>
              </a:ext>
            </a:extLst>
          </p:cNvPr>
          <p:cNvCxnSpPr>
            <a:cxnSpLocks/>
            <a:stCxn id="18" idx="0"/>
            <a:endCxn id="16" idx="2"/>
          </p:cNvCxnSpPr>
          <p:nvPr/>
        </p:nvCxnSpPr>
        <p:spPr>
          <a:xfrm flipV="1">
            <a:off x="8196599" y="4711960"/>
            <a:ext cx="0" cy="64381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ktangel: afrundede hjørner 24">
            <a:extLst>
              <a:ext uri="{FF2B5EF4-FFF2-40B4-BE49-F238E27FC236}">
                <a16:creationId xmlns:a16="http://schemas.microsoft.com/office/drawing/2014/main" id="{794AEE6A-0DF1-4B4B-941C-E39D76603DA3}"/>
              </a:ext>
            </a:extLst>
          </p:cNvPr>
          <p:cNvSpPr/>
          <p:nvPr/>
        </p:nvSpPr>
        <p:spPr>
          <a:xfrm>
            <a:off x="9380033" y="56221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Rektangel: afrundede hjørner 25">
            <a:extLst>
              <a:ext uri="{FF2B5EF4-FFF2-40B4-BE49-F238E27FC236}">
                <a16:creationId xmlns:a16="http://schemas.microsoft.com/office/drawing/2014/main" id="{986E2334-0337-484F-AB4E-39D1B538FE3B}"/>
              </a:ext>
            </a:extLst>
          </p:cNvPr>
          <p:cNvSpPr/>
          <p:nvPr/>
        </p:nvSpPr>
        <p:spPr>
          <a:xfrm>
            <a:off x="9227633" y="54697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i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Rektangel: afrundede hjørner 26">
            <a:extLst>
              <a:ext uri="{FF2B5EF4-FFF2-40B4-BE49-F238E27FC236}">
                <a16:creationId xmlns:a16="http://schemas.microsoft.com/office/drawing/2014/main" id="{E2A7A97C-DE11-4DFB-930A-F8ABACE45979}"/>
              </a:ext>
            </a:extLst>
          </p:cNvPr>
          <p:cNvSpPr/>
          <p:nvPr/>
        </p:nvSpPr>
        <p:spPr>
          <a:xfrm>
            <a:off x="9131216" y="5355774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i="1">
                <a:solidFill>
                  <a:schemeClr val="tx1">
                    <a:lumMod val="95000"/>
                    <a:lumOff val="5000"/>
                  </a:schemeClr>
                </a:solidFill>
              </a:rPr>
              <a:t>Impl.</a:t>
            </a:r>
          </a:p>
        </p:txBody>
      </p:sp>
      <p:cxnSp>
        <p:nvCxnSpPr>
          <p:cNvPr id="28" name="Lige pilforbindelse 27">
            <a:extLst>
              <a:ext uri="{FF2B5EF4-FFF2-40B4-BE49-F238E27FC236}">
                <a16:creationId xmlns:a16="http://schemas.microsoft.com/office/drawing/2014/main" id="{B625A67B-6260-4862-897A-14768E3B480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9550316" y="4711960"/>
            <a:ext cx="0" cy="64381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ktangel: afrundede hjørner 19">
            <a:extLst>
              <a:ext uri="{FF2B5EF4-FFF2-40B4-BE49-F238E27FC236}">
                <a16:creationId xmlns:a16="http://schemas.microsoft.com/office/drawing/2014/main" id="{0F6BF514-1C26-4DA3-B822-09E650776310}"/>
              </a:ext>
            </a:extLst>
          </p:cNvPr>
          <p:cNvSpPr/>
          <p:nvPr/>
        </p:nvSpPr>
        <p:spPr>
          <a:xfrm>
            <a:off x="2929813" y="5192917"/>
            <a:ext cx="2621038" cy="145626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>
                <a:solidFill>
                  <a:schemeClr val="accent4"/>
                </a:solidFill>
              </a:rPr>
              <a:t>Program.cs</a:t>
            </a:r>
          </a:p>
        </p:txBody>
      </p: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8F522F45-1E21-4636-B4C3-FFB83FE9549E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550851" y="4532866"/>
            <a:ext cx="2208765" cy="138818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ige pilforbindelse 28">
            <a:extLst>
              <a:ext uri="{FF2B5EF4-FFF2-40B4-BE49-F238E27FC236}">
                <a16:creationId xmlns:a16="http://schemas.microsoft.com/office/drawing/2014/main" id="{CE403332-7DD8-440C-BDB0-DFEA05E794BB}"/>
              </a:ext>
            </a:extLst>
          </p:cNvPr>
          <p:cNvCxnSpPr>
            <a:cxnSpLocks/>
            <a:stCxn id="20" idx="3"/>
            <a:endCxn id="18" idx="1"/>
          </p:cNvCxnSpPr>
          <p:nvPr/>
        </p:nvCxnSpPr>
        <p:spPr>
          <a:xfrm flipV="1">
            <a:off x="5550851" y="5885588"/>
            <a:ext cx="2226648" cy="35462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973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B1393-AF98-4A7C-A144-A5255B8A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Kategorier af repositories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958602C-DD61-486C-BE80-F923F8009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27733" cy="4351338"/>
          </a:xfrm>
        </p:spPr>
        <p:txBody>
          <a:bodyPr/>
          <a:lstStyle/>
          <a:p>
            <a:r>
              <a:rPr lang="da-DK" b="1"/>
              <a:t>Mock-Repo</a:t>
            </a:r>
            <a:r>
              <a:rPr lang="da-DK"/>
              <a:t>: Rummer fra starten en antal prædefinerede objekter, kan være nyttige til test.</a:t>
            </a:r>
            <a:endParaRPr lang="da-DK" b="1"/>
          </a:p>
          <a:p>
            <a:r>
              <a:rPr lang="da-DK" b="1"/>
              <a:t>RAM-Repo</a:t>
            </a:r>
            <a:r>
              <a:rPr lang="da-DK"/>
              <a:t>: 1.semester-stil, data gemmes direkte i repo-objektet, typisk i en </a:t>
            </a:r>
            <a:r>
              <a:rPr lang="da-DK" b="1"/>
              <a:t>List</a:t>
            </a:r>
            <a:r>
              <a:rPr lang="da-DK"/>
              <a:t> eller </a:t>
            </a:r>
            <a:r>
              <a:rPr lang="da-DK" b="1"/>
              <a:t>Dictionary</a:t>
            </a:r>
            <a:r>
              <a:rPr lang="da-DK"/>
              <a:t>.</a:t>
            </a:r>
          </a:p>
          <a:p>
            <a:r>
              <a:rPr lang="da-DK" b="1"/>
              <a:t>DB-Repo</a:t>
            </a:r>
            <a:r>
              <a:rPr lang="da-DK"/>
              <a:t>: 2.semester-stil, data gemmes i databasen, repo benytter </a:t>
            </a:r>
            <a:r>
              <a:rPr lang="da-DK" b="1"/>
              <a:t>ADO.Net </a:t>
            </a:r>
            <a:r>
              <a:rPr lang="da-DK"/>
              <a:t>eller</a:t>
            </a:r>
            <a:r>
              <a:rPr lang="da-DK" b="1"/>
              <a:t> EFCore </a:t>
            </a:r>
            <a:r>
              <a:rPr lang="da-DK"/>
              <a:t>til at ”mappe” objekter til/fra databasen.</a:t>
            </a:r>
          </a:p>
        </p:txBody>
      </p:sp>
    </p:spTree>
    <p:extLst>
      <p:ext uri="{BB962C8B-B14F-4D97-AF65-F5344CB8AC3E}">
        <p14:creationId xmlns:p14="http://schemas.microsoft.com/office/powerpoint/2010/main" val="2108322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91DE818-EEE3-4664-86A6-A5D898E6EB74}"/>
              </a:ext>
            </a:extLst>
          </p:cNvPr>
          <p:cNvSpPr/>
          <p:nvPr/>
        </p:nvSpPr>
        <p:spPr>
          <a:xfrm>
            <a:off x="2397967" y="955783"/>
            <a:ext cx="4501504" cy="145626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/>
              <a:t>Services</a:t>
            </a:r>
          </a:p>
        </p:txBody>
      </p:sp>
      <p:sp>
        <p:nvSpPr>
          <p:cNvPr id="16" name="Rektangel: afrundede hjørner 15">
            <a:extLst>
              <a:ext uri="{FF2B5EF4-FFF2-40B4-BE49-F238E27FC236}">
                <a16:creationId xmlns:a16="http://schemas.microsoft.com/office/drawing/2014/main" id="{4409979D-295F-44A5-98D0-8F99493253EC}"/>
              </a:ext>
            </a:extLst>
          </p:cNvPr>
          <p:cNvSpPr/>
          <p:nvPr/>
        </p:nvSpPr>
        <p:spPr>
          <a:xfrm>
            <a:off x="2794952" y="1599597"/>
            <a:ext cx="838200" cy="10596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IKundeRepo</a:t>
            </a:r>
          </a:p>
        </p:txBody>
      </p:sp>
      <p:sp>
        <p:nvSpPr>
          <p:cNvPr id="18" name="Rektangel: afrundede hjørner 17">
            <a:extLst>
              <a:ext uri="{FF2B5EF4-FFF2-40B4-BE49-F238E27FC236}">
                <a16:creationId xmlns:a16="http://schemas.microsoft.com/office/drawing/2014/main" id="{D8C997D0-F92D-445C-B069-5C7BC0ED790C}"/>
              </a:ext>
            </a:extLst>
          </p:cNvPr>
          <p:cNvSpPr/>
          <p:nvPr/>
        </p:nvSpPr>
        <p:spPr>
          <a:xfrm>
            <a:off x="1451344" y="3569439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Kunde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Mock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Repo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FFD24C90-16AC-49DB-A146-0B4D4260B4C5}"/>
              </a:ext>
            </a:extLst>
          </p:cNvPr>
          <p:cNvCxnSpPr>
            <a:cxnSpLocks/>
            <a:stCxn id="23" idx="0"/>
            <a:endCxn id="16" idx="2"/>
          </p:cNvCxnSpPr>
          <p:nvPr/>
        </p:nvCxnSpPr>
        <p:spPr>
          <a:xfrm flipV="1">
            <a:off x="3214052" y="2659225"/>
            <a:ext cx="0" cy="91021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ktangel: afrundede hjørner 22">
            <a:extLst>
              <a:ext uri="{FF2B5EF4-FFF2-40B4-BE49-F238E27FC236}">
                <a16:creationId xmlns:a16="http://schemas.microsoft.com/office/drawing/2014/main" id="{6109C556-EBB5-4681-BFA9-56A0542D7A14}"/>
              </a:ext>
            </a:extLst>
          </p:cNvPr>
          <p:cNvSpPr/>
          <p:nvPr/>
        </p:nvSpPr>
        <p:spPr>
          <a:xfrm>
            <a:off x="2794952" y="3569439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Kunde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RAM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Repo</a:t>
            </a:r>
          </a:p>
        </p:txBody>
      </p: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CC72483D-90FB-4A2C-BAE8-530354AC7A26}"/>
              </a:ext>
            </a:extLst>
          </p:cNvPr>
          <p:cNvCxnSpPr>
            <a:cxnSpLocks/>
          </p:cNvCxnSpPr>
          <p:nvPr/>
        </p:nvCxnSpPr>
        <p:spPr>
          <a:xfrm flipV="1">
            <a:off x="1870444" y="2659225"/>
            <a:ext cx="1040707" cy="91021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47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ktangel: afrundede hjørner 23">
            <a:extLst>
              <a:ext uri="{FF2B5EF4-FFF2-40B4-BE49-F238E27FC236}">
                <a16:creationId xmlns:a16="http://schemas.microsoft.com/office/drawing/2014/main" id="{62850822-4D16-496E-AEF5-C3F86D5BA270}"/>
              </a:ext>
            </a:extLst>
          </p:cNvPr>
          <p:cNvSpPr/>
          <p:nvPr/>
        </p:nvSpPr>
        <p:spPr>
          <a:xfrm>
            <a:off x="4138560" y="3569439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Kunde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DB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Repo</a:t>
            </a:r>
          </a:p>
        </p:txBody>
      </p: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91DE818-EEE3-4664-86A6-A5D898E6EB74}"/>
              </a:ext>
            </a:extLst>
          </p:cNvPr>
          <p:cNvSpPr/>
          <p:nvPr/>
        </p:nvSpPr>
        <p:spPr>
          <a:xfrm>
            <a:off x="2397967" y="955783"/>
            <a:ext cx="4501504" cy="1456266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/>
              <a:t>Services</a:t>
            </a:r>
          </a:p>
        </p:txBody>
      </p:sp>
      <p:sp>
        <p:nvSpPr>
          <p:cNvPr id="16" name="Rektangel: afrundede hjørner 15">
            <a:extLst>
              <a:ext uri="{FF2B5EF4-FFF2-40B4-BE49-F238E27FC236}">
                <a16:creationId xmlns:a16="http://schemas.microsoft.com/office/drawing/2014/main" id="{4409979D-295F-44A5-98D0-8F99493253EC}"/>
              </a:ext>
            </a:extLst>
          </p:cNvPr>
          <p:cNvSpPr/>
          <p:nvPr/>
        </p:nvSpPr>
        <p:spPr>
          <a:xfrm>
            <a:off x="2794952" y="1599597"/>
            <a:ext cx="838200" cy="10596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IKundeRepo</a:t>
            </a:r>
          </a:p>
        </p:txBody>
      </p:sp>
      <p:sp>
        <p:nvSpPr>
          <p:cNvPr id="18" name="Rektangel: afrundede hjørner 17">
            <a:extLst>
              <a:ext uri="{FF2B5EF4-FFF2-40B4-BE49-F238E27FC236}">
                <a16:creationId xmlns:a16="http://schemas.microsoft.com/office/drawing/2014/main" id="{D8C997D0-F92D-445C-B069-5C7BC0ED790C}"/>
              </a:ext>
            </a:extLst>
          </p:cNvPr>
          <p:cNvSpPr/>
          <p:nvPr/>
        </p:nvSpPr>
        <p:spPr>
          <a:xfrm>
            <a:off x="1451344" y="3569439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Kunde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Mock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Repo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FFD24C90-16AC-49DB-A146-0B4D4260B4C5}"/>
              </a:ext>
            </a:extLst>
          </p:cNvPr>
          <p:cNvCxnSpPr>
            <a:cxnSpLocks/>
            <a:stCxn id="23" idx="0"/>
            <a:endCxn id="16" idx="2"/>
          </p:cNvCxnSpPr>
          <p:nvPr/>
        </p:nvCxnSpPr>
        <p:spPr>
          <a:xfrm flipV="1">
            <a:off x="3214052" y="2659225"/>
            <a:ext cx="0" cy="91021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ktangel: afrundede hjørner 22">
            <a:extLst>
              <a:ext uri="{FF2B5EF4-FFF2-40B4-BE49-F238E27FC236}">
                <a16:creationId xmlns:a16="http://schemas.microsoft.com/office/drawing/2014/main" id="{6109C556-EBB5-4681-BFA9-56A0542D7A14}"/>
              </a:ext>
            </a:extLst>
          </p:cNvPr>
          <p:cNvSpPr/>
          <p:nvPr/>
        </p:nvSpPr>
        <p:spPr>
          <a:xfrm>
            <a:off x="2794952" y="3569439"/>
            <a:ext cx="838200" cy="1059628"/>
          </a:xfrm>
          <a:prstGeom prst="roundRect">
            <a:avLst/>
          </a:prstGeom>
          <a:solidFill>
            <a:schemeClr val="accent2">
              <a:lumMod val="5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Kunde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RAM</a:t>
            </a:r>
          </a:p>
          <a:p>
            <a:pPr algn="ctr"/>
            <a:r>
              <a:rPr lang="da-DK" sz="1600" i="1">
                <a:solidFill>
                  <a:schemeClr val="tx1">
                    <a:lumMod val="95000"/>
                    <a:lumOff val="5000"/>
                  </a:schemeClr>
                </a:solidFill>
              </a:rPr>
              <a:t>Repo</a:t>
            </a:r>
          </a:p>
        </p:txBody>
      </p: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CC72483D-90FB-4A2C-BAE8-530354AC7A26}"/>
              </a:ext>
            </a:extLst>
          </p:cNvPr>
          <p:cNvCxnSpPr>
            <a:cxnSpLocks/>
          </p:cNvCxnSpPr>
          <p:nvPr/>
        </p:nvCxnSpPr>
        <p:spPr>
          <a:xfrm flipV="1">
            <a:off x="1870444" y="2659225"/>
            <a:ext cx="1040707" cy="91021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ge pilforbindelse 30">
            <a:extLst>
              <a:ext uri="{FF2B5EF4-FFF2-40B4-BE49-F238E27FC236}">
                <a16:creationId xmlns:a16="http://schemas.microsoft.com/office/drawing/2014/main" id="{FC00C1D1-3816-4CFC-AF88-38A92058B97B}"/>
              </a:ext>
            </a:extLst>
          </p:cNvPr>
          <p:cNvCxnSpPr>
            <a:cxnSpLocks/>
          </p:cNvCxnSpPr>
          <p:nvPr/>
        </p:nvCxnSpPr>
        <p:spPr>
          <a:xfrm flipH="1" flipV="1">
            <a:off x="3541493" y="2640564"/>
            <a:ext cx="924508" cy="947536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ge pilforbindelse 31">
            <a:extLst>
              <a:ext uri="{FF2B5EF4-FFF2-40B4-BE49-F238E27FC236}">
                <a16:creationId xmlns:a16="http://schemas.microsoft.com/office/drawing/2014/main" id="{F271068D-09E4-4A83-BA31-8FEA517A1C34}"/>
              </a:ext>
            </a:extLst>
          </p:cNvPr>
          <p:cNvCxnSpPr>
            <a:cxnSpLocks/>
          </p:cNvCxnSpPr>
          <p:nvPr/>
        </p:nvCxnSpPr>
        <p:spPr>
          <a:xfrm>
            <a:off x="5181168" y="4083785"/>
            <a:ext cx="1829663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utediagram: Magnetpladelager 14">
            <a:extLst>
              <a:ext uri="{FF2B5EF4-FFF2-40B4-BE49-F238E27FC236}">
                <a16:creationId xmlns:a16="http://schemas.microsoft.com/office/drawing/2014/main" id="{A03930DB-7D75-49C8-A6AC-6FE35C66A5EA}"/>
              </a:ext>
            </a:extLst>
          </p:cNvPr>
          <p:cNvSpPr/>
          <p:nvPr/>
        </p:nvSpPr>
        <p:spPr>
          <a:xfrm>
            <a:off x="7366000" y="3553976"/>
            <a:ext cx="2031048" cy="105961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2652642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B1393-AF98-4A7C-A144-A5255B8A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Hvem ”ser” skiftet fra RAM-repo til DB-repo?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B505CDF3-99D0-47C7-8577-74EE0B966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235889"/>
              </p:ext>
            </p:extLst>
          </p:nvPr>
        </p:nvGraphicFramePr>
        <p:xfrm>
          <a:off x="838200" y="2100580"/>
          <a:ext cx="8905205" cy="200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350457684"/>
                    </a:ext>
                  </a:extLst>
                </a:gridCol>
                <a:gridCol w="6263605">
                  <a:extLst>
                    <a:ext uri="{9D8B030D-6E8A-4147-A177-3AD203B41FA5}">
                      <a16:colId xmlns:a16="http://schemas.microsoft.com/office/drawing/2014/main" val="589512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Nej</a:t>
                      </a:r>
                      <a:r>
                        <a:rPr lang="da-DK" sz="1400"/>
                        <a:t>, da </a:t>
                      </a:r>
                      <a:r>
                        <a:rPr lang="da-DK" sz="1400" b="1"/>
                        <a:t>Page Layout</a:t>
                      </a:r>
                      <a:r>
                        <a:rPr lang="da-DK" sz="1400"/>
                        <a:t>-koden udelukkende benytter (public) properties og metoder defineret i </a:t>
                      </a:r>
                      <a:r>
                        <a:rPr lang="da-DK" sz="1400" b="1"/>
                        <a:t>Page Models</a:t>
                      </a:r>
                      <a:r>
                        <a:rPr lang="da-DK" sz="140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8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(interfaces)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07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(implementation)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4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Program.cs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2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350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0D082EF-8CD5-4D7B-847B-EA80AA0B6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9" y="1748644"/>
            <a:ext cx="5319221" cy="3360711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6C8C7DFA-0273-4E86-8E50-69CC6096A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717" y="1954401"/>
            <a:ext cx="4290432" cy="2949196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CD2CA132-327A-427F-94BC-16DE4C572CEF}"/>
              </a:ext>
            </a:extLst>
          </p:cNvPr>
          <p:cNvSpPr/>
          <p:nvPr/>
        </p:nvSpPr>
        <p:spPr>
          <a:xfrm>
            <a:off x="2328334" y="3361267"/>
            <a:ext cx="1413934" cy="4487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0AA3761-07DB-441D-806B-C25D91EA440D}"/>
              </a:ext>
            </a:extLst>
          </p:cNvPr>
          <p:cNvSpPr/>
          <p:nvPr/>
        </p:nvSpPr>
        <p:spPr>
          <a:xfrm>
            <a:off x="7179733" y="2912534"/>
            <a:ext cx="1947335" cy="4487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F0823F84-4F0C-45AC-B7C3-0B6DA036B770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742268" y="3141133"/>
            <a:ext cx="3378199" cy="444501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315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B1393-AF98-4A7C-A144-A5255B8A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Hvem ”ser” skiftet fra RAM-repo til DB-repo?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B505CDF3-99D0-47C7-8577-74EE0B966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803240"/>
              </p:ext>
            </p:extLst>
          </p:nvPr>
        </p:nvGraphicFramePr>
        <p:xfrm>
          <a:off x="838200" y="2100580"/>
          <a:ext cx="8905205" cy="221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350457684"/>
                    </a:ext>
                  </a:extLst>
                </a:gridCol>
                <a:gridCol w="6263605">
                  <a:extLst>
                    <a:ext uri="{9D8B030D-6E8A-4147-A177-3AD203B41FA5}">
                      <a16:colId xmlns:a16="http://schemas.microsoft.com/office/drawing/2014/main" val="589512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8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Nej</a:t>
                      </a:r>
                      <a:r>
                        <a:rPr lang="da-DK" sz="1400"/>
                        <a:t>, da </a:t>
                      </a:r>
                      <a:r>
                        <a:rPr lang="da-DK" sz="1400" b="1"/>
                        <a:t>Page Models </a:t>
                      </a:r>
                      <a:r>
                        <a:rPr lang="da-DK" sz="1400"/>
                        <a:t>kun kender </a:t>
                      </a:r>
                      <a:r>
                        <a:rPr lang="da-DK" sz="1400" u="sng"/>
                        <a:t>interfaces</a:t>
                      </a:r>
                      <a:r>
                        <a:rPr lang="da-DK" sz="1400"/>
                        <a:t> fra </a:t>
                      </a:r>
                      <a:r>
                        <a:rPr lang="da-DK" sz="1400" b="1"/>
                        <a:t>Services</a:t>
                      </a:r>
                      <a:r>
                        <a:rPr lang="da-DK" sz="1400"/>
                        <a:t>. </a:t>
                      </a:r>
                      <a:r>
                        <a:rPr lang="da-DK" sz="1400" b="1"/>
                        <a:t>Page Models </a:t>
                      </a:r>
                      <a:r>
                        <a:rPr lang="da-DK" sz="1400"/>
                        <a:t>benytter services via referencer af </a:t>
                      </a:r>
                      <a:r>
                        <a:rPr lang="da-DK" sz="1400" u="sng"/>
                        <a:t>interface-typen</a:t>
                      </a:r>
                      <a:r>
                        <a:rPr lang="da-DK" sz="1400"/>
                        <a:t>, og vi behøver ikke ændre i interfacet bare fordi vi skifter implementation.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(interfaces)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07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(implementation)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4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Program.cs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2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379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C8C7DFA-0273-4E86-8E50-69CC6096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49" y="685799"/>
            <a:ext cx="5222467" cy="3589867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CD2CA132-327A-427F-94BC-16DE4C572CEF}"/>
              </a:ext>
            </a:extLst>
          </p:cNvPr>
          <p:cNvSpPr/>
          <p:nvPr/>
        </p:nvSpPr>
        <p:spPr>
          <a:xfrm>
            <a:off x="855131" y="2446865"/>
            <a:ext cx="4216401" cy="4487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0AA3761-07DB-441D-806B-C25D91EA440D}"/>
              </a:ext>
            </a:extLst>
          </p:cNvPr>
          <p:cNvSpPr/>
          <p:nvPr/>
        </p:nvSpPr>
        <p:spPr>
          <a:xfrm>
            <a:off x="855132" y="1066799"/>
            <a:ext cx="3420535" cy="4487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CCC2794E-A2FA-44A6-AEE1-8617F39D4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09" y="1913419"/>
            <a:ext cx="5845047" cy="1066892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90E469CC-32D9-4E76-9460-01E3912AA9CE}"/>
              </a:ext>
            </a:extLst>
          </p:cNvPr>
          <p:cNvSpPr/>
          <p:nvPr/>
        </p:nvSpPr>
        <p:spPr>
          <a:xfrm>
            <a:off x="6238409" y="2269067"/>
            <a:ext cx="5845047" cy="25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2100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B1393-AF98-4A7C-A144-A5255B8A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Hvem ”ser” skiftet fra RAM-repo til DB-repo?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B505CDF3-99D0-47C7-8577-74EE0B966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570898"/>
              </p:ext>
            </p:extLst>
          </p:nvPr>
        </p:nvGraphicFramePr>
        <p:xfrm>
          <a:off x="838200" y="2100580"/>
          <a:ext cx="8905205" cy="200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350457684"/>
                    </a:ext>
                  </a:extLst>
                </a:gridCol>
                <a:gridCol w="6263605">
                  <a:extLst>
                    <a:ext uri="{9D8B030D-6E8A-4147-A177-3AD203B41FA5}">
                      <a16:colId xmlns:a16="http://schemas.microsoft.com/office/drawing/2014/main" val="589512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8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(interfaces)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Nej</a:t>
                      </a:r>
                      <a:r>
                        <a:rPr lang="da-DK" sz="1400"/>
                        <a:t>, da disse (ideelt set) er teknologi-neutrale, dvs. interfacet kan bibeholdes selv om man tilføjer f.eks. en database-relateret implementation.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07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(implementation)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4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Program.cs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2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064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3A502F7A-38DD-4FC6-A9B5-6E76507E2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667" y="396410"/>
            <a:ext cx="6294665" cy="5845047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CD2CA132-327A-427F-94BC-16DE4C572CEF}"/>
              </a:ext>
            </a:extLst>
          </p:cNvPr>
          <p:cNvSpPr/>
          <p:nvPr/>
        </p:nvSpPr>
        <p:spPr>
          <a:xfrm>
            <a:off x="2948667" y="5342468"/>
            <a:ext cx="4899933" cy="898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0AA3761-07DB-441D-806B-C25D91EA440D}"/>
              </a:ext>
            </a:extLst>
          </p:cNvPr>
          <p:cNvSpPr/>
          <p:nvPr/>
        </p:nvSpPr>
        <p:spPr>
          <a:xfrm>
            <a:off x="2948667" y="1227667"/>
            <a:ext cx="4493533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6059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B1393-AF98-4A7C-A144-A5255B8A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Hvem ”ser” skiftet fra RAM-repo til DB-repo?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B505CDF3-99D0-47C7-8577-74EE0B966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087115"/>
              </p:ext>
            </p:extLst>
          </p:nvPr>
        </p:nvGraphicFramePr>
        <p:xfrm>
          <a:off x="838200" y="2100580"/>
          <a:ext cx="890520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350457684"/>
                    </a:ext>
                  </a:extLst>
                </a:gridCol>
                <a:gridCol w="6263605">
                  <a:extLst>
                    <a:ext uri="{9D8B030D-6E8A-4147-A177-3AD203B41FA5}">
                      <a16:colId xmlns:a16="http://schemas.microsoft.com/office/drawing/2014/main" val="589512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8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(interfaces)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07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(implementation)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solidFill>
                            <a:srgbClr val="FF0000"/>
                          </a:solidFill>
                        </a:rPr>
                        <a:t>Ja</a:t>
                      </a:r>
                      <a:r>
                        <a:rPr lang="da-DK" sz="1400"/>
                        <a:t>, det er hele ideen. Den specifikke teknologi indkapsles 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4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Program.cs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2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822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B2919CE9-98AC-449D-BE92-720C087B9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50" y="496338"/>
            <a:ext cx="5278129" cy="5167862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CD2CA132-327A-427F-94BC-16DE4C572CEF}"/>
              </a:ext>
            </a:extLst>
          </p:cNvPr>
          <p:cNvSpPr/>
          <p:nvPr/>
        </p:nvSpPr>
        <p:spPr>
          <a:xfrm>
            <a:off x="320650" y="2717801"/>
            <a:ext cx="3430083" cy="1862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43DE38A1-7112-4DA8-8CDC-1260BC779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6338"/>
            <a:ext cx="5792282" cy="1991946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2AB91122-E9A4-45E2-B376-713E45FB688B}"/>
              </a:ext>
            </a:extLst>
          </p:cNvPr>
          <p:cNvSpPr/>
          <p:nvPr/>
        </p:nvSpPr>
        <p:spPr>
          <a:xfrm>
            <a:off x="6289650" y="795868"/>
            <a:ext cx="4860950" cy="1566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7714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B1393-AF98-4A7C-A144-A5255B8A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Hvem ”ser” skiftet fra RAM-repo til DB-repo?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B505CDF3-99D0-47C7-8577-74EE0B966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929811"/>
              </p:ext>
            </p:extLst>
          </p:nvPr>
        </p:nvGraphicFramePr>
        <p:xfrm>
          <a:off x="838200" y="2100580"/>
          <a:ext cx="8905205" cy="200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350457684"/>
                    </a:ext>
                  </a:extLst>
                </a:gridCol>
                <a:gridCol w="6263605">
                  <a:extLst>
                    <a:ext uri="{9D8B030D-6E8A-4147-A177-3AD203B41FA5}">
                      <a16:colId xmlns:a16="http://schemas.microsoft.com/office/drawing/2014/main" val="589512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8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(interfaces)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07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(implementation)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4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Program.cs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>
                          <a:solidFill>
                            <a:srgbClr val="FF0000"/>
                          </a:solidFill>
                        </a:rPr>
                        <a:t>Ja</a:t>
                      </a:r>
                      <a:r>
                        <a:rPr lang="da-DK" sz="1400"/>
                        <a:t>, men </a:t>
                      </a:r>
                      <a:r>
                        <a:rPr lang="da-DK" sz="1400" u="sng"/>
                        <a:t>kun</a:t>
                      </a:r>
                      <a:r>
                        <a:rPr lang="da-DK" sz="1400"/>
                        <a:t> i form af at kald til </a:t>
                      </a:r>
                      <a:r>
                        <a:rPr lang="da-DK" sz="1400" b="1" i="1"/>
                        <a:t>services.Add…</a:t>
                      </a:r>
                      <a:r>
                        <a:rPr lang="da-DK" sz="1400"/>
                        <a:t> skal ændres til at knytte en anden implementation sammen med et givent interface.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2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46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720F429D-53D2-4433-8E55-98AC50D9C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0" y="955874"/>
            <a:ext cx="10415058" cy="424193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D100BC88-243B-49BD-AD4D-916BDD906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71" y="2870186"/>
            <a:ext cx="10415058" cy="43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43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B1393-AF98-4A7C-A144-A5255B8A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Hvem ”ser” skiftet fra RAM-repo til DB-repo?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B505CDF3-99D0-47C7-8577-74EE0B96600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00580"/>
          <a:ext cx="8905205" cy="2656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350457684"/>
                    </a:ext>
                  </a:extLst>
                </a:gridCol>
                <a:gridCol w="6263605">
                  <a:extLst>
                    <a:ext uri="{9D8B030D-6E8A-4147-A177-3AD203B41FA5}">
                      <a16:colId xmlns:a16="http://schemas.microsoft.com/office/drawing/2014/main" val="589512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Nej</a:t>
                      </a:r>
                      <a:r>
                        <a:rPr lang="da-DK" sz="1400"/>
                        <a:t>, da </a:t>
                      </a:r>
                      <a:r>
                        <a:rPr lang="da-DK" sz="1400" b="1"/>
                        <a:t>Page Layout</a:t>
                      </a:r>
                      <a:r>
                        <a:rPr lang="da-DK" sz="1400"/>
                        <a:t>-koden udelukkende benytter (public) properties og metoder defineret i </a:t>
                      </a:r>
                      <a:r>
                        <a:rPr lang="da-DK" sz="1400" b="1"/>
                        <a:t>Page Models</a:t>
                      </a:r>
                      <a:r>
                        <a:rPr lang="da-DK" sz="140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48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Page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Nej</a:t>
                      </a:r>
                      <a:r>
                        <a:rPr lang="da-DK" sz="1400"/>
                        <a:t>, da </a:t>
                      </a:r>
                      <a:r>
                        <a:rPr lang="da-DK" sz="1400" b="1"/>
                        <a:t>Page Models </a:t>
                      </a:r>
                      <a:r>
                        <a:rPr lang="da-DK" sz="1400"/>
                        <a:t>kun kender </a:t>
                      </a:r>
                      <a:r>
                        <a:rPr lang="da-DK" sz="1400" u="sng"/>
                        <a:t>interfaces</a:t>
                      </a:r>
                      <a:r>
                        <a:rPr lang="da-DK" sz="1400"/>
                        <a:t> fra </a:t>
                      </a:r>
                      <a:r>
                        <a:rPr lang="da-DK" sz="1400" b="1"/>
                        <a:t>Services</a:t>
                      </a:r>
                      <a:r>
                        <a:rPr lang="da-DK" sz="1400"/>
                        <a:t>. </a:t>
                      </a:r>
                      <a:r>
                        <a:rPr lang="da-DK" sz="1400" b="1"/>
                        <a:t>Page Models </a:t>
                      </a:r>
                      <a:r>
                        <a:rPr lang="da-DK" sz="1400"/>
                        <a:t>benytter services via referencer af </a:t>
                      </a:r>
                      <a:r>
                        <a:rPr lang="da-DK" sz="1400" u="sng"/>
                        <a:t>interface-typen</a:t>
                      </a:r>
                      <a:r>
                        <a:rPr lang="da-DK" sz="1400"/>
                        <a:t>, og vi behøver ikke ændre i interfacet bare fordi vi skifter implementation.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(interfaces)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Nej</a:t>
                      </a:r>
                      <a:r>
                        <a:rPr lang="da-DK" sz="1400"/>
                        <a:t>, da disse (ideelt set) er teknologi-neutrale, dvs. interfacet kan bibeholdes selv om man tilføjer f.eks. en database-relateret implementation.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07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Service (implementation)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b="1">
                          <a:solidFill>
                            <a:srgbClr val="FF0000"/>
                          </a:solidFill>
                        </a:rPr>
                        <a:t>Ja</a:t>
                      </a:r>
                      <a:r>
                        <a:rPr lang="da-DK" sz="1400"/>
                        <a:t>, det er hele ideen. Den specifikke teknologi indkapsles 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4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b="1"/>
                        <a:t>Program.cs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>
                          <a:solidFill>
                            <a:srgbClr val="FF0000"/>
                          </a:solidFill>
                        </a:rPr>
                        <a:t>Ja</a:t>
                      </a:r>
                      <a:r>
                        <a:rPr lang="da-DK" sz="1400"/>
                        <a:t>, men </a:t>
                      </a:r>
                      <a:r>
                        <a:rPr lang="da-DK" sz="1400" u="sng"/>
                        <a:t>kun</a:t>
                      </a:r>
                      <a:r>
                        <a:rPr lang="da-DK" sz="1400"/>
                        <a:t> i form af at kald til </a:t>
                      </a:r>
                      <a:r>
                        <a:rPr lang="da-DK" sz="1400" b="1" i="1"/>
                        <a:t>services.Add…</a:t>
                      </a:r>
                      <a:r>
                        <a:rPr lang="da-DK" sz="1400"/>
                        <a:t> skal ændres til at knytte en anden implementation sammen med et givent interface.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92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984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538</Words>
  <Application>Microsoft Office PowerPoint</Application>
  <PresentationFormat>Widescreen</PresentationFormat>
  <Paragraphs>103</Paragraphs>
  <Slides>19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Office-tema</vt:lpstr>
      <vt:lpstr>Razor Pages  sammenhænge</vt:lpstr>
      <vt:lpstr>PowerPoint-præsentation</vt:lpstr>
      <vt:lpstr>PowerPoint-præsentation</vt:lpstr>
      <vt:lpstr>PowerPoint-præsentation</vt:lpstr>
      <vt:lpstr>PowerPoint-præsentation</vt:lpstr>
      <vt:lpstr>Kategorier af repositories</vt:lpstr>
      <vt:lpstr>PowerPoint-præsentation</vt:lpstr>
      <vt:lpstr>PowerPoint-præsentation</vt:lpstr>
      <vt:lpstr>Hvem ”ser” skiftet fra RAM-repo til DB-repo?</vt:lpstr>
      <vt:lpstr>PowerPoint-præsentation</vt:lpstr>
      <vt:lpstr>Hvem ”ser” skiftet fra RAM-repo til DB-repo?</vt:lpstr>
      <vt:lpstr>PowerPoint-præsentation</vt:lpstr>
      <vt:lpstr>Hvem ”ser” skiftet fra RAM-repo til DB-repo?</vt:lpstr>
      <vt:lpstr>PowerPoint-præsentation</vt:lpstr>
      <vt:lpstr>Hvem ”ser” skiftet fra RAM-repo til DB-repo?</vt:lpstr>
      <vt:lpstr>PowerPoint-præsentation</vt:lpstr>
      <vt:lpstr>Hvem ”ser” skiftet fra RAM-repo til DB-repo?</vt:lpstr>
      <vt:lpstr>PowerPoint-præsentation</vt:lpstr>
      <vt:lpstr>Hvem ”ser” skiftet fra RAM-repo til DB-repo?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RosBilRP</dc:title>
  <dc:creator>Per Storgård Laursen</dc:creator>
  <cp:lastModifiedBy>Per Storgård Laursen</cp:lastModifiedBy>
  <cp:revision>7</cp:revision>
  <dcterms:created xsi:type="dcterms:W3CDTF">2026-04-15T11:52:49Z</dcterms:created>
  <dcterms:modified xsi:type="dcterms:W3CDTF">2026-04-15T12:41:32Z</dcterms:modified>
</cp:coreProperties>
</file>