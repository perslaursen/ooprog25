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4" r:id="rId3"/>
    <p:sldId id="285" r:id="rId4"/>
    <p:sldId id="282" r:id="rId5"/>
    <p:sldId id="283" r:id="rId6"/>
    <p:sldId id="286" r:id="rId7"/>
    <p:sldId id="287" r:id="rId8"/>
    <p:sldId id="288" r:id="rId9"/>
    <p:sldId id="299" r:id="rId10"/>
    <p:sldId id="300" r:id="rId11"/>
    <p:sldId id="289" r:id="rId12"/>
    <p:sldId id="302" r:id="rId13"/>
    <p:sldId id="303" r:id="rId14"/>
    <p:sldId id="304" r:id="rId15"/>
    <p:sldId id="305" r:id="rId16"/>
    <p:sldId id="257" r:id="rId17"/>
    <p:sldId id="278" r:id="rId18"/>
    <p:sldId id="290" r:id="rId19"/>
    <p:sldId id="298" r:id="rId20"/>
    <p:sldId id="291" r:id="rId21"/>
    <p:sldId id="258" r:id="rId22"/>
    <p:sldId id="293" r:id="rId23"/>
    <p:sldId id="279" r:id="rId24"/>
    <p:sldId id="294" r:id="rId25"/>
    <p:sldId id="295" r:id="rId26"/>
    <p:sldId id="259" r:id="rId27"/>
    <p:sldId id="296" r:id="rId28"/>
    <p:sldId id="280" r:id="rId29"/>
    <p:sldId id="292" r:id="rId30"/>
    <p:sldId id="260" r:id="rId31"/>
    <p:sldId id="261" r:id="rId32"/>
    <p:sldId id="262" r:id="rId33"/>
    <p:sldId id="268" r:id="rId34"/>
    <p:sldId id="263" r:id="rId35"/>
    <p:sldId id="264" r:id="rId36"/>
    <p:sldId id="266" r:id="rId37"/>
    <p:sldId id="269" r:id="rId38"/>
    <p:sldId id="297" r:id="rId39"/>
    <p:sldId id="270" r:id="rId40"/>
    <p:sldId id="272" r:id="rId41"/>
    <p:sldId id="273" r:id="rId42"/>
    <p:sldId id="301" r:id="rId43"/>
    <p:sldId id="274" r:id="rId44"/>
    <p:sldId id="275" r:id="rId45"/>
    <p:sldId id="276" r:id="rId46"/>
    <p:sldId id="277" r:id="rId47"/>
    <p:sldId id="306" r:id="rId48"/>
    <p:sldId id="319" r:id="rId49"/>
    <p:sldId id="320" r:id="rId50"/>
    <p:sldId id="322" r:id="rId51"/>
    <p:sldId id="321" r:id="rId52"/>
    <p:sldId id="323" r:id="rId53"/>
    <p:sldId id="324" r:id="rId54"/>
    <p:sldId id="325" r:id="rId55"/>
    <p:sldId id="326" r:id="rId56"/>
    <p:sldId id="327" r:id="rId57"/>
    <p:sldId id="328" r:id="rId58"/>
    <p:sldId id="329" r:id="rId59"/>
    <p:sldId id="330" r:id="rId60"/>
    <p:sldId id="331" r:id="rId61"/>
    <p:sldId id="332" r:id="rId62"/>
    <p:sldId id="307" r:id="rId63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6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640A9E-F6A9-6346-8FE5-61542091C1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B84DF524-1BD3-207C-5556-1F3822B6E8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79CDC94A-AEF3-6939-1860-6F7AE7669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61CD-0693-4F79-82AD-7B93EDBB9C36}" type="datetimeFigureOut">
              <a:rPr lang="da-DK" smtClean="0"/>
              <a:t>16-11-2025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A970442C-D5F2-0B20-1BE5-22494C8D9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5FF78E31-57DD-F7B0-A087-982E5EAA5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D20A0-17ED-4B9F-B540-632EC9F7924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35692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B27BA9-7BFB-4204-E3A4-6DB19D7F3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EC8F67F-AF3E-B8A2-FE75-0F97F85B93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2342C2A7-0353-E578-4EEB-BDFE9A4A0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61CD-0693-4F79-82AD-7B93EDBB9C36}" type="datetimeFigureOut">
              <a:rPr lang="da-DK" smtClean="0"/>
              <a:t>16-11-2025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E470D8D8-F755-FA0C-1A24-8629D9B2A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841B0EA3-5D1E-15DC-9B53-55FE20FF3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D20A0-17ED-4B9F-B540-632EC9F7924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24587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437AB1-D1CE-B0DD-B2F0-FFCABF3E1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0C87C616-2213-1DD0-60D3-BEB8CDE43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60D5CE5-232F-CEBB-8BCF-E67DC2832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61CD-0693-4F79-82AD-7B93EDBB9C36}" type="datetimeFigureOut">
              <a:rPr lang="da-DK" smtClean="0"/>
              <a:t>16-11-2025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78BA936F-7AD0-0086-AF8A-92E3F6E94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16E01DA-485E-5E7F-A4C0-2D30A4652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D20A0-17ED-4B9F-B540-632EC9F7924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01846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2B05C1-B94B-D6CD-5FA2-30FBBB132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FB922C2-22F9-3653-E518-4ED0A2ACA8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126B4D76-AEF3-C588-0BF7-13B16CAFD4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583D5BF3-ED55-A65C-6484-1F2CC0A05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61CD-0693-4F79-82AD-7B93EDBB9C36}" type="datetimeFigureOut">
              <a:rPr lang="da-DK" smtClean="0"/>
              <a:t>16-11-2025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849E2799-B89A-7BA9-CECC-8ED9538A7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423F3278-9608-C95D-C5B9-370193120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D20A0-17ED-4B9F-B540-632EC9F7924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81788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D58BA9-A6C7-9DF0-2B35-087D4EE90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33579C53-3F3D-8568-4FF6-5B62C50EB3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CC83D47B-298E-080D-C000-07139A2453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6880B5D8-1E00-1367-97D5-BAA21E00E4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6A15BBB7-2CA8-A1CC-B73D-F6DA91A62E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2330E496-C175-5DA5-9B2C-236E27F04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61CD-0693-4F79-82AD-7B93EDBB9C36}" type="datetimeFigureOut">
              <a:rPr lang="da-DK" smtClean="0"/>
              <a:t>16-11-2025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CAF2DC5A-F29F-8930-4A98-F97280440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56DD3CB1-D86B-2285-AF1C-42A16410C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D20A0-17ED-4B9F-B540-632EC9F7924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0987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4975C0-3433-7954-6469-3C7FF8FF2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EC644987-4960-1909-282A-6B84C1E0E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61CD-0693-4F79-82AD-7B93EDBB9C36}" type="datetimeFigureOut">
              <a:rPr lang="da-DK" smtClean="0"/>
              <a:t>16-11-2025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5AB3079C-80E5-6F6A-3CE6-E455ECCB1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F7341520-F15D-0B4A-CA63-11FE24475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D20A0-17ED-4B9F-B540-632EC9F7924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09115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829AFA26-86D4-1DFD-EA73-0762FA257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61CD-0693-4F79-82AD-7B93EDBB9C36}" type="datetimeFigureOut">
              <a:rPr lang="da-DK" smtClean="0"/>
              <a:t>16-11-2025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32AC61F6-23B3-AA1A-44B9-D57A0CE6D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C1B9E275-23F1-636B-DA49-4564552C5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D20A0-17ED-4B9F-B540-632EC9F7924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44687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4747DC-FB66-9F41-CA24-AE49629CC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025B9A2-A80B-527C-3392-2C1836521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F8E8BF21-A7FF-E35F-D42C-891E1367F5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8F655DAC-26A7-B2D7-36DE-3E21C4D1E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61CD-0693-4F79-82AD-7B93EDBB9C36}" type="datetimeFigureOut">
              <a:rPr lang="da-DK" smtClean="0"/>
              <a:t>16-11-2025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9EC984AC-C497-EC11-CA67-9671B4D2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CD45737E-D175-BECE-4A7D-652AE3029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D20A0-17ED-4B9F-B540-632EC9F7924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58070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FBE367-E282-CCDD-738B-2320A7280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A922B133-FA56-176C-F5BE-E4C934444F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24A1BD60-2D82-1A22-8663-E83B81B137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B9EFB134-BC86-97EE-2F72-C7AF1B5E0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61CD-0693-4F79-82AD-7B93EDBB9C36}" type="datetimeFigureOut">
              <a:rPr lang="da-DK" smtClean="0"/>
              <a:t>16-11-2025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77136ACC-DD31-AA8B-EEE0-1B784AE52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8C903C5B-0E7A-CD14-6777-1A6708992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D20A0-17ED-4B9F-B540-632EC9F7924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45416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FAEBD9-959E-6269-8666-F43E27EBE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F448163A-FD8C-1E09-4997-F96783ABA1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496BAC8-1EBF-6A6A-2C3E-D329EDBB9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61CD-0693-4F79-82AD-7B93EDBB9C36}" type="datetimeFigureOut">
              <a:rPr lang="da-DK" smtClean="0"/>
              <a:t>16-11-2025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8094BE11-312A-2DDD-7A96-C09934569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39020C9F-81A6-08B8-3A8C-30C61AFCF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D20A0-17ED-4B9F-B540-632EC9F7924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96468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BF2CC77B-9F9A-0E0F-5ABF-3BADE91C8C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0A78669F-F4FD-99A6-3E6B-04162B7E3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2D155EA-23BD-FE35-DDB7-3ED7D9620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61CD-0693-4F79-82AD-7B93EDBB9C36}" type="datetimeFigureOut">
              <a:rPr lang="da-DK" smtClean="0"/>
              <a:t>16-11-2025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E55B6CD4-B49B-35B6-F6C0-FA3C4069B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AD41398-2484-31ED-F95C-7C5E6CF18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D20A0-17ED-4B9F-B540-632EC9F7924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20402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5BE5DC55-279A-B417-2004-9BF07E336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4039B393-A4DD-C281-B152-CCBCA4817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0BFF704C-9DCC-94E3-A37D-050A0140C9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061CD-0693-4F79-82AD-7B93EDBB9C36}" type="datetimeFigureOut">
              <a:rPr lang="da-DK" smtClean="0"/>
              <a:t>16-11-2025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C28C0AD6-3802-EFB6-AEAD-EBA3EB511D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E1ABE2AA-028A-7935-53AC-FCCD8EFE17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4D20A0-17ED-4B9F-B540-632EC9F7924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08266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07AECB-76A0-EA9D-07F4-ED88D3F40D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a-DK" sz="12000" b="1" dirty="0" err="1"/>
              <a:t>Razor</a:t>
            </a:r>
            <a:r>
              <a:rPr lang="da-DK" sz="12000" b="1" dirty="0"/>
              <a:t> Pages 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B1C45C05-6107-08D4-B2F2-48A33A3137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 dirty="0"/>
          </a:p>
          <a:p>
            <a:r>
              <a:rPr lang="da-DK" sz="6000" i="1"/>
              <a:t>An Overview</a:t>
            </a:r>
            <a:endParaRPr lang="da-DK" sz="6000" i="1" dirty="0"/>
          </a:p>
        </p:txBody>
      </p:sp>
    </p:spTree>
    <p:extLst>
      <p:ext uri="{BB962C8B-B14F-4D97-AF65-F5344CB8AC3E}">
        <p14:creationId xmlns:p14="http://schemas.microsoft.com/office/powerpoint/2010/main" val="4194827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ktangel 14">
            <a:extLst>
              <a:ext uri="{FF2B5EF4-FFF2-40B4-BE49-F238E27FC236}">
                <a16:creationId xmlns:a16="http://schemas.microsoft.com/office/drawing/2014/main" id="{5DAC34E5-3936-44BB-9494-49FD670EC134}"/>
              </a:ext>
            </a:extLst>
          </p:cNvPr>
          <p:cNvSpPr/>
          <p:nvPr/>
        </p:nvSpPr>
        <p:spPr>
          <a:xfrm>
            <a:off x="415125" y="270018"/>
            <a:ext cx="3101788" cy="6386919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a-DK" sz="4000" dirty="0" err="1"/>
              <a:t>Your</a:t>
            </a:r>
            <a:r>
              <a:rPr lang="da-DK" sz="4000" dirty="0"/>
              <a:t> PC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260BEBAD-43DD-4EEF-99A3-D1DFE4435C4A}"/>
              </a:ext>
            </a:extLst>
          </p:cNvPr>
          <p:cNvSpPr/>
          <p:nvPr/>
        </p:nvSpPr>
        <p:spPr>
          <a:xfrm>
            <a:off x="609600" y="1450402"/>
            <a:ext cx="2698376" cy="4058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4800" dirty="0" err="1"/>
              <a:t>Brow</a:t>
            </a:r>
            <a:endParaRPr lang="da-DK" sz="4800" dirty="0"/>
          </a:p>
          <a:p>
            <a:pPr algn="ctr"/>
            <a:r>
              <a:rPr lang="da-DK" sz="4800" dirty="0"/>
              <a:t>ser</a:t>
            </a:r>
          </a:p>
        </p:txBody>
      </p:sp>
      <p:sp>
        <p:nvSpPr>
          <p:cNvPr id="5" name="Sky 4">
            <a:extLst>
              <a:ext uri="{FF2B5EF4-FFF2-40B4-BE49-F238E27FC236}">
                <a16:creationId xmlns:a16="http://schemas.microsoft.com/office/drawing/2014/main" id="{1ED4F6F0-86BE-4E1E-BE9A-D6B3067C9707}"/>
              </a:ext>
            </a:extLst>
          </p:cNvPr>
          <p:cNvSpPr/>
          <p:nvPr/>
        </p:nvSpPr>
        <p:spPr>
          <a:xfrm>
            <a:off x="4894729" y="1450402"/>
            <a:ext cx="2142565" cy="4058255"/>
          </a:xfrm>
          <a:prstGeom prst="cloud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4800" dirty="0"/>
              <a:t>Web</a:t>
            </a:r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5037DFF6-F114-45C5-A498-8C3AFEA3CCE4}"/>
              </a:ext>
            </a:extLst>
          </p:cNvPr>
          <p:cNvSpPr/>
          <p:nvPr/>
        </p:nvSpPr>
        <p:spPr>
          <a:xfrm>
            <a:off x="8624047" y="190861"/>
            <a:ext cx="3101788" cy="6386919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a-DK" sz="4000" dirty="0"/>
              <a:t>Web Server</a:t>
            </a:r>
          </a:p>
        </p:txBody>
      </p:sp>
      <p:cxnSp>
        <p:nvCxnSpPr>
          <p:cNvPr id="8" name="Lige pilforbindelse 7">
            <a:extLst>
              <a:ext uri="{FF2B5EF4-FFF2-40B4-BE49-F238E27FC236}">
                <a16:creationId xmlns:a16="http://schemas.microsoft.com/office/drawing/2014/main" id="{DCF98442-2B55-459E-9472-A4DB69A229E4}"/>
              </a:ext>
            </a:extLst>
          </p:cNvPr>
          <p:cNvCxnSpPr>
            <a:cxnSpLocks/>
          </p:cNvCxnSpPr>
          <p:nvPr/>
        </p:nvCxnSpPr>
        <p:spPr>
          <a:xfrm flipV="1">
            <a:off x="2625213" y="2231925"/>
            <a:ext cx="2861187" cy="1"/>
          </a:xfrm>
          <a:prstGeom prst="straightConnector1">
            <a:avLst/>
          </a:prstGeom>
          <a:ln w="76200">
            <a:solidFill>
              <a:schemeClr val="tx1"/>
            </a:solidFill>
            <a:prstDash val="sys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Lige pilforbindelse 11">
            <a:extLst>
              <a:ext uri="{FF2B5EF4-FFF2-40B4-BE49-F238E27FC236}">
                <a16:creationId xmlns:a16="http://schemas.microsoft.com/office/drawing/2014/main" id="{D3995666-6F80-4AC0-9145-48BC9FCFEFE8}"/>
              </a:ext>
            </a:extLst>
          </p:cNvPr>
          <p:cNvCxnSpPr>
            <a:cxnSpLocks/>
          </p:cNvCxnSpPr>
          <p:nvPr/>
        </p:nvCxnSpPr>
        <p:spPr>
          <a:xfrm flipV="1">
            <a:off x="6214854" y="2231925"/>
            <a:ext cx="2861187" cy="1"/>
          </a:xfrm>
          <a:prstGeom prst="straightConnector1">
            <a:avLst/>
          </a:prstGeom>
          <a:ln w="76200">
            <a:solidFill>
              <a:schemeClr val="tx1"/>
            </a:solidFill>
            <a:prstDash val="sys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ktangel 12">
            <a:extLst>
              <a:ext uri="{FF2B5EF4-FFF2-40B4-BE49-F238E27FC236}">
                <a16:creationId xmlns:a16="http://schemas.microsoft.com/office/drawing/2014/main" id="{6675EF5D-2500-4E00-B621-C54D80586932}"/>
              </a:ext>
            </a:extLst>
          </p:cNvPr>
          <p:cNvSpPr/>
          <p:nvPr/>
        </p:nvSpPr>
        <p:spPr>
          <a:xfrm>
            <a:off x="9076041" y="1656589"/>
            <a:ext cx="2213125" cy="3613779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a-DK" sz="3200" dirty="0"/>
              <a:t>Web App</a:t>
            </a:r>
          </a:p>
        </p:txBody>
      </p:sp>
      <p:cxnSp>
        <p:nvCxnSpPr>
          <p:cNvPr id="14" name="Lige pilforbindelse 13">
            <a:extLst>
              <a:ext uri="{FF2B5EF4-FFF2-40B4-BE49-F238E27FC236}">
                <a16:creationId xmlns:a16="http://schemas.microsoft.com/office/drawing/2014/main" id="{5E3C6616-5D15-4948-9E78-112359F672D8}"/>
              </a:ext>
            </a:extLst>
          </p:cNvPr>
          <p:cNvCxnSpPr>
            <a:cxnSpLocks/>
          </p:cNvCxnSpPr>
          <p:nvPr/>
        </p:nvCxnSpPr>
        <p:spPr>
          <a:xfrm flipH="1">
            <a:off x="6390969" y="4601497"/>
            <a:ext cx="2685073" cy="0"/>
          </a:xfrm>
          <a:prstGeom prst="straightConnector1">
            <a:avLst/>
          </a:prstGeom>
          <a:ln w="76200">
            <a:solidFill>
              <a:schemeClr val="tx1"/>
            </a:solidFill>
            <a:prstDash val="sys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Lige pilforbindelse 16">
            <a:extLst>
              <a:ext uri="{FF2B5EF4-FFF2-40B4-BE49-F238E27FC236}">
                <a16:creationId xmlns:a16="http://schemas.microsoft.com/office/drawing/2014/main" id="{ADD2AAD8-B3EC-41A2-ABA1-CA974FC5B334}"/>
              </a:ext>
            </a:extLst>
          </p:cNvPr>
          <p:cNvCxnSpPr>
            <a:cxnSpLocks/>
          </p:cNvCxnSpPr>
          <p:nvPr/>
        </p:nvCxnSpPr>
        <p:spPr>
          <a:xfrm flipH="1">
            <a:off x="2625214" y="4601497"/>
            <a:ext cx="3013587" cy="0"/>
          </a:xfrm>
          <a:prstGeom prst="straightConnector1">
            <a:avLst/>
          </a:prstGeom>
          <a:ln w="76200">
            <a:solidFill>
              <a:schemeClr val="tx1"/>
            </a:solidFill>
            <a:prstDash val="sys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aleboble: rektangel med afrundede hjørner 23">
            <a:extLst>
              <a:ext uri="{FF2B5EF4-FFF2-40B4-BE49-F238E27FC236}">
                <a16:creationId xmlns:a16="http://schemas.microsoft.com/office/drawing/2014/main" id="{F5D95A5D-03A2-4066-A75B-7DF318E92862}"/>
              </a:ext>
            </a:extLst>
          </p:cNvPr>
          <p:cNvSpPr/>
          <p:nvPr/>
        </p:nvSpPr>
        <p:spPr>
          <a:xfrm>
            <a:off x="4380271" y="158282"/>
            <a:ext cx="2517059" cy="776728"/>
          </a:xfrm>
          <a:prstGeom prst="wedgeRoundRectCallout">
            <a:avLst>
              <a:gd name="adj1" fmla="val 84153"/>
              <a:gd name="adj2" fmla="val 210788"/>
              <a:gd name="adj3" fmla="val 16667"/>
            </a:avLst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800" dirty="0"/>
              <a:t>HTTP </a:t>
            </a:r>
            <a:r>
              <a:rPr lang="da-DK" sz="2800" dirty="0" err="1"/>
              <a:t>Request</a:t>
            </a:r>
            <a:endParaRPr lang="da-DK" sz="2800" dirty="0"/>
          </a:p>
        </p:txBody>
      </p:sp>
      <p:sp>
        <p:nvSpPr>
          <p:cNvPr id="25" name="Taleboble: rektangel med afrundede hjørner 24">
            <a:extLst>
              <a:ext uri="{FF2B5EF4-FFF2-40B4-BE49-F238E27FC236}">
                <a16:creationId xmlns:a16="http://schemas.microsoft.com/office/drawing/2014/main" id="{66BC6D4D-DB3A-47BC-8A2A-0C8554A32D08}"/>
              </a:ext>
            </a:extLst>
          </p:cNvPr>
          <p:cNvSpPr/>
          <p:nvPr/>
        </p:nvSpPr>
        <p:spPr>
          <a:xfrm>
            <a:off x="5486400" y="5922990"/>
            <a:ext cx="2517059" cy="776728"/>
          </a:xfrm>
          <a:prstGeom prst="wedgeRoundRectCallout">
            <a:avLst>
              <a:gd name="adj1" fmla="val 39484"/>
              <a:gd name="adj2" fmla="val -220348"/>
              <a:gd name="adj3" fmla="val 16667"/>
            </a:avLst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800" dirty="0"/>
              <a:t>HTTP </a:t>
            </a:r>
            <a:r>
              <a:rPr lang="da-DK" sz="2800" dirty="0" err="1"/>
              <a:t>Response</a:t>
            </a:r>
            <a:endParaRPr lang="da-DK" sz="2800" dirty="0"/>
          </a:p>
        </p:txBody>
      </p:sp>
    </p:spTree>
    <p:extLst>
      <p:ext uri="{BB962C8B-B14F-4D97-AF65-F5344CB8AC3E}">
        <p14:creationId xmlns:p14="http://schemas.microsoft.com/office/powerpoint/2010/main" val="2382859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ktangel 14">
            <a:extLst>
              <a:ext uri="{FF2B5EF4-FFF2-40B4-BE49-F238E27FC236}">
                <a16:creationId xmlns:a16="http://schemas.microsoft.com/office/drawing/2014/main" id="{5DAC34E5-3936-44BB-9494-49FD670EC134}"/>
              </a:ext>
            </a:extLst>
          </p:cNvPr>
          <p:cNvSpPr/>
          <p:nvPr/>
        </p:nvSpPr>
        <p:spPr>
          <a:xfrm>
            <a:off x="415125" y="270018"/>
            <a:ext cx="11588616" cy="6386919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a-DK" sz="4000" dirty="0" err="1"/>
              <a:t>Your</a:t>
            </a:r>
            <a:r>
              <a:rPr lang="da-DK" sz="4000" dirty="0"/>
              <a:t> PC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260BEBAD-43DD-4EEF-99A3-D1DFE4435C4A}"/>
              </a:ext>
            </a:extLst>
          </p:cNvPr>
          <p:cNvSpPr/>
          <p:nvPr/>
        </p:nvSpPr>
        <p:spPr>
          <a:xfrm>
            <a:off x="609600" y="1450402"/>
            <a:ext cx="2698376" cy="40582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4800" dirty="0" err="1"/>
              <a:t>Brow</a:t>
            </a:r>
            <a:endParaRPr lang="da-DK" sz="4800" dirty="0"/>
          </a:p>
          <a:p>
            <a:pPr algn="ctr"/>
            <a:r>
              <a:rPr lang="da-DK" sz="4800" dirty="0"/>
              <a:t>ser</a:t>
            </a:r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5037DFF6-F114-45C5-A498-8C3AFEA3CCE4}"/>
              </a:ext>
            </a:extLst>
          </p:cNvPr>
          <p:cNvSpPr/>
          <p:nvPr/>
        </p:nvSpPr>
        <p:spPr>
          <a:xfrm>
            <a:off x="8624047" y="627528"/>
            <a:ext cx="3101788" cy="522642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a-DK" sz="4000" dirty="0"/>
              <a:t>Web Server</a:t>
            </a:r>
          </a:p>
        </p:txBody>
      </p:sp>
      <p:cxnSp>
        <p:nvCxnSpPr>
          <p:cNvPr id="8" name="Lige pilforbindelse 7">
            <a:extLst>
              <a:ext uri="{FF2B5EF4-FFF2-40B4-BE49-F238E27FC236}">
                <a16:creationId xmlns:a16="http://schemas.microsoft.com/office/drawing/2014/main" id="{DCF98442-2B55-459E-9472-A4DB69A229E4}"/>
              </a:ext>
            </a:extLst>
          </p:cNvPr>
          <p:cNvCxnSpPr>
            <a:cxnSpLocks/>
          </p:cNvCxnSpPr>
          <p:nvPr/>
        </p:nvCxnSpPr>
        <p:spPr>
          <a:xfrm flipV="1">
            <a:off x="2625213" y="2231926"/>
            <a:ext cx="6443165" cy="1"/>
          </a:xfrm>
          <a:prstGeom prst="straightConnector1">
            <a:avLst/>
          </a:prstGeom>
          <a:ln w="76200">
            <a:solidFill>
              <a:schemeClr val="tx1"/>
            </a:solidFill>
            <a:prstDash val="sys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ktangel 12">
            <a:extLst>
              <a:ext uri="{FF2B5EF4-FFF2-40B4-BE49-F238E27FC236}">
                <a16:creationId xmlns:a16="http://schemas.microsoft.com/office/drawing/2014/main" id="{6675EF5D-2500-4E00-B621-C54D80586932}"/>
              </a:ext>
            </a:extLst>
          </p:cNvPr>
          <p:cNvSpPr/>
          <p:nvPr/>
        </p:nvSpPr>
        <p:spPr>
          <a:xfrm>
            <a:off x="9068378" y="1730189"/>
            <a:ext cx="2213125" cy="3253309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a-DK" sz="3200" dirty="0"/>
              <a:t>Web App</a:t>
            </a:r>
          </a:p>
        </p:txBody>
      </p:sp>
      <p:cxnSp>
        <p:nvCxnSpPr>
          <p:cNvPr id="17" name="Lige pilforbindelse 16">
            <a:extLst>
              <a:ext uri="{FF2B5EF4-FFF2-40B4-BE49-F238E27FC236}">
                <a16:creationId xmlns:a16="http://schemas.microsoft.com/office/drawing/2014/main" id="{ADD2AAD8-B3EC-41A2-ABA1-CA974FC5B334}"/>
              </a:ext>
            </a:extLst>
          </p:cNvPr>
          <p:cNvCxnSpPr>
            <a:cxnSpLocks/>
          </p:cNvCxnSpPr>
          <p:nvPr/>
        </p:nvCxnSpPr>
        <p:spPr>
          <a:xfrm flipH="1">
            <a:off x="2625215" y="4601497"/>
            <a:ext cx="6443163" cy="0"/>
          </a:xfrm>
          <a:prstGeom prst="straightConnector1">
            <a:avLst/>
          </a:prstGeom>
          <a:ln w="76200">
            <a:solidFill>
              <a:schemeClr val="tx1"/>
            </a:solidFill>
            <a:prstDash val="sys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aleboble: rektangel med afrundede hjørner 23">
            <a:extLst>
              <a:ext uri="{FF2B5EF4-FFF2-40B4-BE49-F238E27FC236}">
                <a16:creationId xmlns:a16="http://schemas.microsoft.com/office/drawing/2014/main" id="{F5D95A5D-03A2-4066-A75B-7DF318E92862}"/>
              </a:ext>
            </a:extLst>
          </p:cNvPr>
          <p:cNvSpPr/>
          <p:nvPr/>
        </p:nvSpPr>
        <p:spPr>
          <a:xfrm>
            <a:off x="2625213" y="658776"/>
            <a:ext cx="2517059" cy="776728"/>
          </a:xfrm>
          <a:prstGeom prst="wedgeRoundRectCallout">
            <a:avLst>
              <a:gd name="adj1" fmla="val 115851"/>
              <a:gd name="adj2" fmla="val 151926"/>
              <a:gd name="adj3" fmla="val 16667"/>
            </a:avLst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800" dirty="0"/>
              <a:t>HTTP </a:t>
            </a:r>
            <a:r>
              <a:rPr lang="da-DK" sz="2800" dirty="0" err="1"/>
              <a:t>Request</a:t>
            </a:r>
            <a:endParaRPr lang="da-DK" sz="2800" dirty="0"/>
          </a:p>
        </p:txBody>
      </p:sp>
      <p:sp>
        <p:nvSpPr>
          <p:cNvPr id="25" name="Taleboble: rektangel med afrundede hjørner 24">
            <a:extLst>
              <a:ext uri="{FF2B5EF4-FFF2-40B4-BE49-F238E27FC236}">
                <a16:creationId xmlns:a16="http://schemas.microsoft.com/office/drawing/2014/main" id="{66BC6D4D-DB3A-47BC-8A2A-0C8554A32D08}"/>
              </a:ext>
            </a:extLst>
          </p:cNvPr>
          <p:cNvSpPr/>
          <p:nvPr/>
        </p:nvSpPr>
        <p:spPr>
          <a:xfrm>
            <a:off x="3765177" y="5358214"/>
            <a:ext cx="2517059" cy="776728"/>
          </a:xfrm>
          <a:prstGeom prst="wedgeRoundRectCallout">
            <a:avLst>
              <a:gd name="adj1" fmla="val 72607"/>
              <a:gd name="adj2" fmla="val -148790"/>
              <a:gd name="adj3" fmla="val 16667"/>
            </a:avLst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800" dirty="0"/>
              <a:t>HTTP </a:t>
            </a:r>
            <a:r>
              <a:rPr lang="da-DK" sz="2800" dirty="0" err="1"/>
              <a:t>Response</a:t>
            </a:r>
            <a:endParaRPr lang="da-DK" sz="2800" dirty="0"/>
          </a:p>
        </p:txBody>
      </p:sp>
    </p:spTree>
    <p:extLst>
      <p:ext uri="{BB962C8B-B14F-4D97-AF65-F5344CB8AC3E}">
        <p14:creationId xmlns:p14="http://schemas.microsoft.com/office/powerpoint/2010/main" val="4163456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56C1FA-D969-4762-B4E5-76431FF9B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HTTP </a:t>
            </a:r>
            <a:r>
              <a:rPr lang="da-DK" dirty="0" err="1"/>
              <a:t>Request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88E0883-2480-4313-9DFF-636836642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3200" b="1" dirty="0"/>
              <a:t>GET</a:t>
            </a:r>
            <a:r>
              <a:rPr lang="da-DK" sz="3200" dirty="0"/>
              <a:t>: </a:t>
            </a:r>
            <a:r>
              <a:rPr lang="da-DK" sz="3200" dirty="0" err="1"/>
              <a:t>Essentially</a:t>
            </a:r>
            <a:r>
              <a:rPr lang="da-DK" sz="3200" dirty="0"/>
              <a:t> a URL</a:t>
            </a:r>
          </a:p>
          <a:p>
            <a:r>
              <a:rPr lang="da-DK" sz="3200" b="1" dirty="0"/>
              <a:t>POST</a:t>
            </a:r>
            <a:r>
              <a:rPr lang="da-DK" sz="3200" dirty="0"/>
              <a:t>: A URL and </a:t>
            </a:r>
            <a:r>
              <a:rPr lang="da-DK" sz="3200" dirty="0" err="1"/>
              <a:t>some</a:t>
            </a:r>
            <a:r>
              <a:rPr lang="da-DK" sz="3200" dirty="0"/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3829680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56C1FA-D969-4762-B4E5-76431FF9B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HTTP </a:t>
            </a:r>
            <a:r>
              <a:rPr lang="da-DK" dirty="0" err="1"/>
              <a:t>Response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88E0883-2480-4313-9DFF-636836642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3200" dirty="0"/>
              <a:t>Status </a:t>
            </a:r>
            <a:r>
              <a:rPr lang="da-DK" sz="3200" dirty="0" err="1"/>
              <a:t>code</a:t>
            </a:r>
            <a:r>
              <a:rPr lang="da-DK" sz="3200" dirty="0"/>
              <a:t> (200, 404,…)</a:t>
            </a:r>
          </a:p>
          <a:p>
            <a:r>
              <a:rPr lang="da-DK" sz="3200" dirty="0"/>
              <a:t>HTML (</a:t>
            </a:r>
            <a:r>
              <a:rPr lang="da-DK" sz="3200" dirty="0" err="1"/>
              <a:t>which</a:t>
            </a:r>
            <a:r>
              <a:rPr lang="da-DK" sz="3200" dirty="0"/>
              <a:t> the browser </a:t>
            </a:r>
            <a:r>
              <a:rPr lang="da-DK" sz="3200" dirty="0" err="1"/>
              <a:t>then</a:t>
            </a:r>
            <a:r>
              <a:rPr lang="da-DK" sz="3200" dirty="0"/>
              <a:t> renders)</a:t>
            </a:r>
          </a:p>
        </p:txBody>
      </p:sp>
    </p:spTree>
    <p:extLst>
      <p:ext uri="{BB962C8B-B14F-4D97-AF65-F5344CB8AC3E}">
        <p14:creationId xmlns:p14="http://schemas.microsoft.com/office/powerpoint/2010/main" val="1348191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56C1FA-D969-4762-B4E5-76431FF9B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Web App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88E0883-2480-4313-9DFF-636836642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390529" cy="4351338"/>
          </a:xfrm>
        </p:spPr>
        <p:txBody>
          <a:bodyPr>
            <a:normAutofit/>
          </a:bodyPr>
          <a:lstStyle/>
          <a:p>
            <a:r>
              <a:rPr lang="da-DK" sz="3200" b="1" dirty="0"/>
              <a:t>App</a:t>
            </a:r>
            <a:r>
              <a:rPr lang="da-DK" sz="3200" dirty="0"/>
              <a:t> </a:t>
            </a:r>
            <a:r>
              <a:rPr lang="da-DK" sz="3200" dirty="0" err="1"/>
              <a:t>receives</a:t>
            </a:r>
            <a:r>
              <a:rPr lang="da-DK" sz="3200" dirty="0"/>
              <a:t> HTTP </a:t>
            </a:r>
            <a:r>
              <a:rPr lang="da-DK" sz="3200" dirty="0" err="1"/>
              <a:t>Requests</a:t>
            </a:r>
            <a:r>
              <a:rPr lang="da-DK" sz="3200" dirty="0"/>
              <a:t> (GET/POST plus URL)</a:t>
            </a:r>
          </a:p>
          <a:p>
            <a:r>
              <a:rPr lang="da-DK" sz="3200" b="1" dirty="0"/>
              <a:t>App</a:t>
            </a:r>
            <a:r>
              <a:rPr lang="da-DK" sz="3200" dirty="0"/>
              <a:t> </a:t>
            </a:r>
            <a:r>
              <a:rPr lang="da-DK" sz="3200" dirty="0" err="1"/>
              <a:t>invokes</a:t>
            </a:r>
            <a:r>
              <a:rPr lang="da-DK" sz="3200" dirty="0"/>
              <a:t> </a:t>
            </a:r>
            <a:r>
              <a:rPr lang="da-DK" sz="3200" b="1" dirty="0"/>
              <a:t>controller</a:t>
            </a:r>
            <a:r>
              <a:rPr lang="da-DK" sz="3200" dirty="0"/>
              <a:t> matching the URL</a:t>
            </a:r>
          </a:p>
          <a:p>
            <a:r>
              <a:rPr lang="da-DK" sz="3200" b="1" dirty="0"/>
              <a:t>Controller</a:t>
            </a:r>
            <a:r>
              <a:rPr lang="da-DK" sz="3200" dirty="0"/>
              <a:t> ”</a:t>
            </a:r>
            <a:r>
              <a:rPr lang="da-DK" sz="3200" dirty="0" err="1"/>
              <a:t>calculates</a:t>
            </a:r>
            <a:r>
              <a:rPr lang="da-DK" sz="3200" dirty="0"/>
              <a:t>” the HTML </a:t>
            </a:r>
            <a:r>
              <a:rPr lang="da-DK" sz="3200" dirty="0" err="1"/>
              <a:t>which</a:t>
            </a:r>
            <a:r>
              <a:rPr lang="da-DK" sz="3200" dirty="0"/>
              <a:t> </a:t>
            </a:r>
            <a:r>
              <a:rPr lang="da-DK" sz="3200" dirty="0" err="1"/>
              <a:t>should</a:t>
            </a:r>
            <a:r>
              <a:rPr lang="da-DK" sz="3200" dirty="0"/>
              <a:t> </a:t>
            </a:r>
            <a:r>
              <a:rPr lang="da-DK" sz="3200" dirty="0" err="1"/>
              <a:t>be</a:t>
            </a:r>
            <a:r>
              <a:rPr lang="da-DK" sz="3200" dirty="0"/>
              <a:t> </a:t>
            </a:r>
            <a:r>
              <a:rPr lang="da-DK" sz="3200" dirty="0" err="1"/>
              <a:t>shown</a:t>
            </a:r>
            <a:r>
              <a:rPr lang="da-DK" sz="3200" dirty="0"/>
              <a:t> in the browser (the </a:t>
            </a:r>
            <a:r>
              <a:rPr lang="da-DK" sz="3200" b="1" dirty="0"/>
              <a:t>page</a:t>
            </a:r>
            <a:r>
              <a:rPr lang="da-DK" sz="3200" dirty="0"/>
              <a:t> matching the URL)</a:t>
            </a:r>
          </a:p>
          <a:p>
            <a:r>
              <a:rPr lang="da-DK" sz="3200" b="1" dirty="0"/>
              <a:t>App</a:t>
            </a:r>
            <a:r>
              <a:rPr lang="da-DK" sz="3200" dirty="0"/>
              <a:t> </a:t>
            </a:r>
            <a:r>
              <a:rPr lang="da-DK" sz="3200" dirty="0" err="1"/>
              <a:t>sends</a:t>
            </a:r>
            <a:r>
              <a:rPr lang="da-DK" sz="3200" dirty="0"/>
              <a:t> the HTML – and </a:t>
            </a:r>
            <a:r>
              <a:rPr lang="da-DK" sz="3200" dirty="0" err="1"/>
              <a:t>possibly</a:t>
            </a:r>
            <a:r>
              <a:rPr lang="da-DK" sz="3200" dirty="0"/>
              <a:t> </a:t>
            </a:r>
            <a:r>
              <a:rPr lang="da-DK" sz="3200" dirty="0" err="1"/>
              <a:t>also</a:t>
            </a:r>
            <a:r>
              <a:rPr lang="da-DK" sz="3200" dirty="0"/>
              <a:t> CSS – back to the browser, in the form of HTTP </a:t>
            </a:r>
            <a:r>
              <a:rPr lang="da-DK" sz="3200" dirty="0" err="1"/>
              <a:t>Responses</a:t>
            </a:r>
            <a:endParaRPr lang="da-DK" sz="3200" dirty="0"/>
          </a:p>
        </p:txBody>
      </p:sp>
    </p:spTree>
    <p:extLst>
      <p:ext uri="{BB962C8B-B14F-4D97-AF65-F5344CB8AC3E}">
        <p14:creationId xmlns:p14="http://schemas.microsoft.com/office/powerpoint/2010/main" val="2586035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21BA9C-9213-4B54-817D-064DFBE84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Razor</a:t>
            </a:r>
            <a:r>
              <a:rPr lang="da-DK" dirty="0"/>
              <a:t> Pages Web App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1F7B7E4-8AFC-4E66-BD32-69DF4316D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3200" dirty="0"/>
              <a:t>Handles </a:t>
            </a:r>
            <a:r>
              <a:rPr lang="da-DK" sz="3200" b="1" dirty="0"/>
              <a:t>HTTP</a:t>
            </a:r>
            <a:r>
              <a:rPr lang="da-DK" sz="3200" dirty="0"/>
              <a:t> </a:t>
            </a:r>
            <a:r>
              <a:rPr lang="da-DK" sz="3200" dirty="0" err="1"/>
              <a:t>Requests</a:t>
            </a:r>
            <a:r>
              <a:rPr lang="da-DK" sz="3200" dirty="0"/>
              <a:t>/</a:t>
            </a:r>
            <a:r>
              <a:rPr lang="da-DK" sz="3200" dirty="0" err="1"/>
              <a:t>Responses</a:t>
            </a:r>
            <a:endParaRPr lang="da-DK" sz="3200" dirty="0"/>
          </a:p>
          <a:p>
            <a:r>
              <a:rPr lang="da-DK" sz="3200" dirty="0"/>
              <a:t>Is </a:t>
            </a:r>
            <a:r>
              <a:rPr lang="da-DK" sz="3200" b="1" dirty="0"/>
              <a:t>page-</a:t>
            </a:r>
            <a:r>
              <a:rPr lang="da-DK" sz="3200" b="1" dirty="0" err="1"/>
              <a:t>centric</a:t>
            </a:r>
            <a:r>
              <a:rPr lang="da-DK" sz="3200" dirty="0"/>
              <a:t>: matches a URL with a page (i.e. a </a:t>
            </a:r>
            <a:r>
              <a:rPr lang="da-DK" sz="3200" dirty="0" err="1"/>
              <a:t>Razor</a:t>
            </a:r>
            <a:r>
              <a:rPr lang="da-DK" sz="3200" dirty="0"/>
              <a:t> Page)</a:t>
            </a:r>
          </a:p>
          <a:p>
            <a:r>
              <a:rPr lang="da-DK" sz="3200" u="sng" dirty="0" err="1"/>
              <a:t>We</a:t>
            </a:r>
            <a:r>
              <a:rPr lang="da-DK" sz="3200" dirty="0"/>
              <a:t> </a:t>
            </a:r>
            <a:r>
              <a:rPr lang="da-DK" sz="3200" dirty="0" err="1"/>
              <a:t>write</a:t>
            </a:r>
            <a:r>
              <a:rPr lang="da-DK" sz="3200" dirty="0"/>
              <a:t> </a:t>
            </a:r>
          </a:p>
          <a:p>
            <a:pPr lvl="1"/>
            <a:r>
              <a:rPr lang="da-DK" sz="2800" dirty="0"/>
              <a:t>Page </a:t>
            </a:r>
            <a:r>
              <a:rPr lang="da-DK" sz="2800" b="1" dirty="0"/>
              <a:t>layout</a:t>
            </a:r>
            <a:r>
              <a:rPr lang="da-DK" sz="2800" dirty="0"/>
              <a:t> </a:t>
            </a:r>
            <a:r>
              <a:rPr lang="da-DK" sz="2800" dirty="0" err="1"/>
              <a:t>code</a:t>
            </a:r>
            <a:endParaRPr lang="da-DK" sz="2800" dirty="0"/>
          </a:p>
          <a:p>
            <a:pPr lvl="1"/>
            <a:r>
              <a:rPr lang="da-DK" sz="2800" dirty="0"/>
              <a:t>Page </a:t>
            </a:r>
            <a:r>
              <a:rPr lang="da-DK" sz="2800" b="1" dirty="0"/>
              <a:t>controller</a:t>
            </a:r>
            <a:r>
              <a:rPr lang="da-DK" sz="2800" dirty="0"/>
              <a:t> </a:t>
            </a:r>
            <a:r>
              <a:rPr lang="da-DK" sz="2800" dirty="0" err="1"/>
              <a:t>code</a:t>
            </a:r>
            <a:endParaRPr lang="da-DK" sz="2800" dirty="0"/>
          </a:p>
          <a:p>
            <a:pPr lvl="1"/>
            <a:r>
              <a:rPr lang="da-DK" sz="2800" dirty="0"/>
              <a:t>Assisting </a:t>
            </a:r>
            <a:r>
              <a:rPr lang="da-DK" sz="2800" b="1" dirty="0"/>
              <a:t>services</a:t>
            </a:r>
            <a:r>
              <a:rPr lang="da-DK" sz="2800" dirty="0"/>
              <a:t> </a:t>
            </a:r>
            <a:r>
              <a:rPr lang="da-DK" sz="2800" dirty="0" err="1"/>
              <a:t>code</a:t>
            </a:r>
            <a:endParaRPr lang="da-DK" sz="2800" dirty="0"/>
          </a:p>
        </p:txBody>
      </p:sp>
    </p:spTree>
    <p:extLst>
      <p:ext uri="{BB962C8B-B14F-4D97-AF65-F5344CB8AC3E}">
        <p14:creationId xmlns:p14="http://schemas.microsoft.com/office/powerpoint/2010/main" val="740404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21BA9C-9213-4B54-817D-064DFBE84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Razor</a:t>
            </a:r>
            <a:r>
              <a:rPr lang="da-DK" dirty="0"/>
              <a:t> Pages Web App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1F7B7E4-8AFC-4E66-BD32-69DF4316D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da-DK" sz="3200" dirty="0" err="1"/>
              <a:t>Example</a:t>
            </a:r>
            <a:r>
              <a:rPr lang="da-DK" sz="3200" dirty="0"/>
              <a:t>: A page </a:t>
            </a:r>
            <a:r>
              <a:rPr lang="da-DK" sz="3200" dirty="0" err="1"/>
              <a:t>named</a:t>
            </a:r>
            <a:r>
              <a:rPr lang="da-DK" sz="3200" dirty="0"/>
              <a:t> </a:t>
            </a:r>
            <a:r>
              <a:rPr lang="da-DK" sz="3200" b="1" dirty="0" err="1"/>
              <a:t>ViewMessage</a:t>
            </a:r>
            <a:endParaRPr lang="da-DK" sz="3200" b="1" dirty="0"/>
          </a:p>
          <a:p>
            <a:r>
              <a:rPr lang="da-DK" sz="3200" dirty="0"/>
              <a:t>Layout </a:t>
            </a:r>
            <a:r>
              <a:rPr lang="da-DK" sz="3200" dirty="0" err="1"/>
              <a:t>code</a:t>
            </a:r>
            <a:endParaRPr lang="da-DK" sz="3200" dirty="0"/>
          </a:p>
          <a:p>
            <a:pPr lvl="1"/>
            <a:r>
              <a:rPr lang="da-DK" sz="2800" dirty="0" err="1"/>
              <a:t>Written</a:t>
            </a:r>
            <a:r>
              <a:rPr lang="da-DK" sz="2800" dirty="0"/>
              <a:t> in </a:t>
            </a:r>
            <a:r>
              <a:rPr lang="da-DK" sz="2800" b="1" dirty="0" err="1"/>
              <a:t>ViewMessage.cshtml</a:t>
            </a:r>
            <a:endParaRPr lang="da-DK" sz="2800" b="1" dirty="0"/>
          </a:p>
          <a:p>
            <a:pPr lvl="1"/>
            <a:r>
              <a:rPr lang="da-DK" sz="2800" dirty="0"/>
              <a:t>A mix of HTML, C# and ASP ”</a:t>
            </a:r>
            <a:r>
              <a:rPr lang="da-DK" sz="2800" dirty="0" err="1"/>
              <a:t>helper</a:t>
            </a:r>
            <a:r>
              <a:rPr lang="da-DK" sz="2800" dirty="0"/>
              <a:t> tags”</a:t>
            </a:r>
          </a:p>
          <a:p>
            <a:pPr lvl="1"/>
            <a:r>
              <a:rPr lang="da-DK" sz="2800" dirty="0" err="1"/>
              <a:t>Often</a:t>
            </a:r>
            <a:r>
              <a:rPr lang="da-DK" sz="2800" dirty="0"/>
              <a:t> referred to as </a:t>
            </a:r>
            <a:r>
              <a:rPr lang="da-DK" sz="2800" b="1" dirty="0"/>
              <a:t>page layout </a:t>
            </a:r>
            <a:r>
              <a:rPr lang="da-DK" sz="2800" dirty="0" err="1"/>
              <a:t>code</a:t>
            </a:r>
            <a:endParaRPr lang="da-DK" sz="2800" dirty="0"/>
          </a:p>
          <a:p>
            <a:r>
              <a:rPr lang="da-DK" sz="3200" dirty="0"/>
              <a:t>Controller </a:t>
            </a:r>
            <a:r>
              <a:rPr lang="da-DK" sz="3200" dirty="0" err="1"/>
              <a:t>code</a:t>
            </a:r>
            <a:endParaRPr lang="da-DK" sz="3200" dirty="0"/>
          </a:p>
          <a:p>
            <a:pPr lvl="1"/>
            <a:r>
              <a:rPr lang="da-DK" sz="2800" dirty="0" err="1"/>
              <a:t>Written</a:t>
            </a:r>
            <a:r>
              <a:rPr lang="da-DK" sz="2800" dirty="0"/>
              <a:t> in </a:t>
            </a:r>
            <a:r>
              <a:rPr lang="da-DK" sz="2800" b="1" dirty="0" err="1"/>
              <a:t>ViewMessage.cshtml.cs</a:t>
            </a:r>
            <a:endParaRPr lang="da-DK" sz="2800" b="1" dirty="0"/>
          </a:p>
          <a:p>
            <a:pPr lvl="1"/>
            <a:r>
              <a:rPr lang="da-DK" sz="2800" dirty="0"/>
              <a:t>Pure C# (!)</a:t>
            </a:r>
          </a:p>
          <a:p>
            <a:pPr lvl="1"/>
            <a:r>
              <a:rPr lang="da-DK" sz="2800" dirty="0" err="1"/>
              <a:t>Often</a:t>
            </a:r>
            <a:r>
              <a:rPr lang="da-DK" sz="2800" dirty="0"/>
              <a:t> referred to as </a:t>
            </a:r>
            <a:r>
              <a:rPr lang="da-DK" sz="2800" b="1" dirty="0"/>
              <a:t>page model</a:t>
            </a:r>
            <a:r>
              <a:rPr lang="da-DK" sz="2800" dirty="0"/>
              <a:t> </a:t>
            </a:r>
            <a:r>
              <a:rPr lang="da-DK" sz="2800" dirty="0" err="1"/>
              <a:t>code</a:t>
            </a:r>
            <a:endParaRPr lang="da-DK" sz="2800" dirty="0"/>
          </a:p>
        </p:txBody>
      </p:sp>
    </p:spTree>
    <p:extLst>
      <p:ext uri="{BB962C8B-B14F-4D97-AF65-F5344CB8AC3E}">
        <p14:creationId xmlns:p14="http://schemas.microsoft.com/office/powerpoint/2010/main" val="2282304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7A18CD6-FB2B-6635-4D86-0A24713FF2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4851" y="676081"/>
            <a:ext cx="7036905" cy="5629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7946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21BA9C-9213-4B54-817D-064DFBE84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Razor</a:t>
            </a:r>
            <a:r>
              <a:rPr lang="da-DK" dirty="0"/>
              <a:t> Pages Web App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1F7B7E4-8AFC-4E66-BD32-69DF4316D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da-DK" sz="3200" b="1" dirty="0">
                <a:solidFill>
                  <a:srgbClr val="FF0000"/>
                </a:solidFill>
              </a:rPr>
              <a:t>NB</a:t>
            </a:r>
            <a:r>
              <a:rPr lang="da-DK" sz="3200" dirty="0"/>
              <a:t>: </a:t>
            </a:r>
            <a:r>
              <a:rPr lang="da-DK" sz="3200" b="1" dirty="0"/>
              <a:t>ALWAYS</a:t>
            </a:r>
            <a:r>
              <a:rPr lang="da-DK" sz="3200" dirty="0"/>
              <a:t> </a:t>
            </a:r>
            <a:r>
              <a:rPr lang="da-DK" sz="3200" dirty="0" err="1"/>
              <a:t>add</a:t>
            </a:r>
            <a:r>
              <a:rPr lang="da-DK" sz="3200" dirty="0"/>
              <a:t> pages under the </a:t>
            </a:r>
            <a:r>
              <a:rPr lang="da-DK" sz="3200" b="1" dirty="0"/>
              <a:t>Pages</a:t>
            </a:r>
            <a:r>
              <a:rPr lang="da-DK" sz="3200" dirty="0"/>
              <a:t> folder!</a:t>
            </a:r>
          </a:p>
          <a:p>
            <a:r>
              <a:rPr lang="da-DK" sz="3200" dirty="0" err="1"/>
              <a:t>We</a:t>
            </a:r>
            <a:r>
              <a:rPr lang="da-DK" sz="3200" dirty="0"/>
              <a:t> </a:t>
            </a:r>
            <a:r>
              <a:rPr lang="da-DK" sz="3200" dirty="0" err="1"/>
              <a:t>will</a:t>
            </a:r>
            <a:r>
              <a:rPr lang="da-DK" sz="3200" dirty="0"/>
              <a:t> </a:t>
            </a:r>
            <a:r>
              <a:rPr lang="da-DK" sz="3200" dirty="0" err="1"/>
              <a:t>often</a:t>
            </a:r>
            <a:r>
              <a:rPr lang="da-DK" sz="3200" dirty="0"/>
              <a:t> </a:t>
            </a:r>
            <a:r>
              <a:rPr lang="da-DK" sz="3200" dirty="0" err="1"/>
              <a:t>define</a:t>
            </a:r>
            <a:r>
              <a:rPr lang="da-DK" sz="3200" dirty="0"/>
              <a:t> and </a:t>
            </a:r>
            <a:r>
              <a:rPr lang="da-DK" sz="3200" dirty="0" err="1"/>
              <a:t>use</a:t>
            </a:r>
            <a:r>
              <a:rPr lang="da-DK" sz="3200" dirty="0"/>
              <a:t> subfolders under </a:t>
            </a:r>
            <a:r>
              <a:rPr lang="da-DK" b="1" dirty="0"/>
              <a:t>Pages</a:t>
            </a:r>
            <a:endParaRPr lang="da-DK" sz="2800" dirty="0"/>
          </a:p>
        </p:txBody>
      </p:sp>
    </p:spTree>
    <p:extLst>
      <p:ext uri="{BB962C8B-B14F-4D97-AF65-F5344CB8AC3E}">
        <p14:creationId xmlns:p14="http://schemas.microsoft.com/office/powerpoint/2010/main" val="2109163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21BA9C-9213-4B54-817D-064DFBE84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Razor</a:t>
            </a:r>
            <a:r>
              <a:rPr lang="da-DK" dirty="0"/>
              <a:t> Pages Web App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1F7B7E4-8AFC-4E66-BD32-69DF4316D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3200" dirty="0" err="1"/>
              <a:t>What</a:t>
            </a:r>
            <a:r>
              <a:rPr lang="da-DK" sz="3200" dirty="0"/>
              <a:t> is a ”service”…?</a:t>
            </a:r>
          </a:p>
          <a:p>
            <a:pPr lvl="1"/>
            <a:r>
              <a:rPr lang="da-DK" sz="2800" dirty="0"/>
              <a:t>Pure C# </a:t>
            </a:r>
            <a:r>
              <a:rPr lang="da-DK" sz="2800" dirty="0" err="1"/>
              <a:t>classes</a:t>
            </a:r>
            <a:r>
              <a:rPr lang="da-DK" sz="2800" dirty="0"/>
              <a:t> </a:t>
            </a:r>
            <a:r>
              <a:rPr lang="da-DK" sz="2800" dirty="0" err="1"/>
              <a:t>containing</a:t>
            </a:r>
            <a:r>
              <a:rPr lang="da-DK" sz="2800" dirty="0"/>
              <a:t> </a:t>
            </a:r>
            <a:r>
              <a:rPr lang="da-DK" sz="2800" dirty="0" err="1"/>
              <a:t>needed</a:t>
            </a:r>
            <a:r>
              <a:rPr lang="da-DK" sz="2800" dirty="0"/>
              <a:t> </a:t>
            </a:r>
            <a:r>
              <a:rPr lang="da-DK" sz="2800" dirty="0" err="1"/>
              <a:t>logic</a:t>
            </a:r>
            <a:r>
              <a:rPr lang="da-DK" sz="2800" dirty="0"/>
              <a:t> (business, </a:t>
            </a:r>
            <a:r>
              <a:rPr lang="da-DK" sz="2800" dirty="0" err="1"/>
              <a:t>persistence</a:t>
            </a:r>
            <a:r>
              <a:rPr lang="da-DK" sz="2800" dirty="0"/>
              <a:t>, …)</a:t>
            </a:r>
          </a:p>
          <a:p>
            <a:pPr lvl="1"/>
            <a:r>
              <a:rPr lang="da-DK" sz="2800" u="sng" dirty="0"/>
              <a:t>Not</a:t>
            </a:r>
            <a:r>
              <a:rPr lang="da-DK" sz="2800" dirty="0"/>
              <a:t> </a:t>
            </a:r>
            <a:r>
              <a:rPr lang="da-DK" sz="2800" dirty="0" err="1"/>
              <a:t>written</a:t>
            </a:r>
            <a:r>
              <a:rPr lang="da-DK" sz="2800" dirty="0"/>
              <a:t> as part of the page </a:t>
            </a:r>
            <a:r>
              <a:rPr lang="da-DK" sz="2800" dirty="0" err="1"/>
              <a:t>itself</a:t>
            </a:r>
            <a:endParaRPr lang="da-DK" sz="2800" dirty="0"/>
          </a:p>
          <a:p>
            <a:pPr lvl="1"/>
            <a:r>
              <a:rPr lang="da-DK" sz="2800" dirty="0" err="1"/>
              <a:t>Written</a:t>
            </a:r>
            <a:r>
              <a:rPr lang="da-DK" sz="2800" dirty="0"/>
              <a:t> as stand-</a:t>
            </a:r>
            <a:r>
              <a:rPr lang="da-DK" sz="2800" dirty="0" err="1"/>
              <a:t>alone</a:t>
            </a:r>
            <a:r>
              <a:rPr lang="da-DK" sz="2800" dirty="0"/>
              <a:t> </a:t>
            </a:r>
            <a:r>
              <a:rPr lang="da-DK" sz="2800" dirty="0" err="1"/>
              <a:t>classes</a:t>
            </a:r>
            <a:r>
              <a:rPr lang="da-DK" sz="2800" dirty="0"/>
              <a:t> </a:t>
            </a:r>
            <a:r>
              <a:rPr lang="da-DK" sz="2800" dirty="0" err="1"/>
              <a:t>that</a:t>
            </a:r>
            <a:r>
              <a:rPr lang="da-DK" sz="2800" dirty="0"/>
              <a:t> </a:t>
            </a:r>
            <a:r>
              <a:rPr lang="da-DK" sz="2800" dirty="0" err="1"/>
              <a:t>can</a:t>
            </a:r>
            <a:r>
              <a:rPr lang="da-DK" sz="2800" dirty="0"/>
              <a:t> </a:t>
            </a:r>
            <a:r>
              <a:rPr lang="da-DK" sz="2800" dirty="0" err="1"/>
              <a:t>be</a:t>
            </a:r>
            <a:r>
              <a:rPr lang="da-DK" sz="2800" dirty="0"/>
              <a:t> </a:t>
            </a:r>
            <a:r>
              <a:rPr lang="da-DK" sz="2800" u="sng" dirty="0" err="1"/>
              <a:t>injected</a:t>
            </a:r>
            <a:r>
              <a:rPr lang="da-DK" sz="2800" dirty="0"/>
              <a:t> </a:t>
            </a:r>
            <a:r>
              <a:rPr lang="da-DK" sz="2800" dirty="0" err="1"/>
              <a:t>into</a:t>
            </a:r>
            <a:r>
              <a:rPr lang="da-DK" sz="2800" dirty="0"/>
              <a:t> page controller </a:t>
            </a:r>
            <a:r>
              <a:rPr lang="da-DK" sz="2800" dirty="0" err="1"/>
              <a:t>code</a:t>
            </a:r>
            <a:endParaRPr lang="da-DK" sz="2800" dirty="0"/>
          </a:p>
          <a:p>
            <a:pPr lvl="1"/>
            <a:r>
              <a:rPr lang="da-DK" sz="2800" dirty="0" err="1"/>
              <a:t>Usually</a:t>
            </a:r>
            <a:r>
              <a:rPr lang="da-DK" sz="2800" dirty="0"/>
              <a:t> style is a interface plus (at </a:t>
            </a:r>
            <a:r>
              <a:rPr lang="da-DK" sz="2800" dirty="0" err="1"/>
              <a:t>least</a:t>
            </a:r>
            <a:r>
              <a:rPr lang="da-DK" sz="2800" dirty="0"/>
              <a:t>) </a:t>
            </a:r>
            <a:r>
              <a:rPr lang="da-DK" sz="2800" dirty="0" err="1"/>
              <a:t>one</a:t>
            </a:r>
            <a:r>
              <a:rPr lang="da-DK" sz="2800" dirty="0"/>
              <a:t> class </a:t>
            </a:r>
            <a:r>
              <a:rPr lang="da-DK" sz="2800" dirty="0" err="1"/>
              <a:t>implementing</a:t>
            </a:r>
            <a:r>
              <a:rPr lang="da-DK" sz="2800" dirty="0"/>
              <a:t> the interface</a:t>
            </a:r>
          </a:p>
          <a:p>
            <a:pPr lvl="1"/>
            <a:r>
              <a:rPr lang="da-DK" sz="2800" dirty="0"/>
              <a:t>Must </a:t>
            </a:r>
            <a:r>
              <a:rPr lang="da-DK" sz="2800" dirty="0" err="1"/>
              <a:t>be</a:t>
            </a:r>
            <a:r>
              <a:rPr lang="da-DK" sz="2800" dirty="0"/>
              <a:t> </a:t>
            </a:r>
            <a:r>
              <a:rPr lang="da-DK" sz="2800" dirty="0" err="1"/>
              <a:t>registered</a:t>
            </a:r>
            <a:r>
              <a:rPr lang="da-DK" sz="2800" dirty="0"/>
              <a:t> in </a:t>
            </a:r>
            <a:r>
              <a:rPr lang="da-DK" sz="2800" b="1" dirty="0"/>
              <a:t>Program.cs</a:t>
            </a:r>
            <a:r>
              <a:rPr lang="da-DK" sz="2800" dirty="0"/>
              <a:t>, as a ”singleton” service or a ”transient” service.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359937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>
            <a:extLst>
              <a:ext uri="{FF2B5EF4-FFF2-40B4-BE49-F238E27FC236}">
                <a16:creationId xmlns:a16="http://schemas.microsoft.com/office/drawing/2014/main" id="{364CD8E6-BB93-48B1-8040-4FFC045AC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18" y="2066735"/>
            <a:ext cx="11202963" cy="2724530"/>
          </a:xfrm>
          <a:prstGeom prst="rect">
            <a:avLst/>
          </a:prstGeom>
        </p:spPr>
      </p:pic>
      <p:sp>
        <p:nvSpPr>
          <p:cNvPr id="5" name="Rektangel 4">
            <a:extLst>
              <a:ext uri="{FF2B5EF4-FFF2-40B4-BE49-F238E27FC236}">
                <a16:creationId xmlns:a16="http://schemas.microsoft.com/office/drawing/2014/main" id="{79FE18F4-C132-41FD-AF93-DC753A2ACBA4}"/>
              </a:ext>
            </a:extLst>
          </p:cNvPr>
          <p:cNvSpPr/>
          <p:nvPr/>
        </p:nvSpPr>
        <p:spPr>
          <a:xfrm>
            <a:off x="5504329" y="2918012"/>
            <a:ext cx="6111938" cy="10219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06595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>
            <a:extLst>
              <a:ext uri="{FF2B5EF4-FFF2-40B4-BE49-F238E27FC236}">
                <a16:creationId xmlns:a16="http://schemas.microsoft.com/office/drawing/2014/main" id="{A23C94ED-3486-4628-8267-D40DD77A8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594" y="0"/>
            <a:ext cx="9760811" cy="6858000"/>
          </a:xfrm>
          <a:prstGeom prst="rect">
            <a:avLst/>
          </a:prstGeom>
        </p:spPr>
      </p:pic>
      <p:sp>
        <p:nvSpPr>
          <p:cNvPr id="5" name="Rektangel 4">
            <a:extLst>
              <a:ext uri="{FF2B5EF4-FFF2-40B4-BE49-F238E27FC236}">
                <a16:creationId xmlns:a16="http://schemas.microsoft.com/office/drawing/2014/main" id="{79FE18F4-C132-41FD-AF93-DC753A2ACBA4}"/>
              </a:ext>
            </a:extLst>
          </p:cNvPr>
          <p:cNvSpPr/>
          <p:nvPr/>
        </p:nvSpPr>
        <p:spPr>
          <a:xfrm>
            <a:off x="1326775" y="1371600"/>
            <a:ext cx="6911789" cy="23846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23371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>
            <a:extLst>
              <a:ext uri="{FF2B5EF4-FFF2-40B4-BE49-F238E27FC236}">
                <a16:creationId xmlns:a16="http://schemas.microsoft.com/office/drawing/2014/main" id="{7E11A703-27A9-4923-A45A-9DDB3EE50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522751"/>
            <a:ext cx="8357614" cy="5812497"/>
          </a:xfrm>
          <a:prstGeom prst="rect">
            <a:avLst/>
          </a:prstGeom>
        </p:spPr>
      </p:pic>
      <p:sp>
        <p:nvSpPr>
          <p:cNvPr id="5" name="Rektangel 4">
            <a:extLst>
              <a:ext uri="{FF2B5EF4-FFF2-40B4-BE49-F238E27FC236}">
                <a16:creationId xmlns:a16="http://schemas.microsoft.com/office/drawing/2014/main" id="{79FE18F4-C132-41FD-AF93-DC753A2ACBA4}"/>
              </a:ext>
            </a:extLst>
          </p:cNvPr>
          <p:cNvSpPr/>
          <p:nvPr/>
        </p:nvSpPr>
        <p:spPr>
          <a:xfrm>
            <a:off x="990600" y="1718732"/>
            <a:ext cx="6911789" cy="19896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36087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>
            <a:extLst>
              <a:ext uri="{FF2B5EF4-FFF2-40B4-BE49-F238E27FC236}">
                <a16:creationId xmlns:a16="http://schemas.microsoft.com/office/drawing/2014/main" id="{67AA218A-3C89-43B6-94C3-501C50A27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93" y="0"/>
            <a:ext cx="12076814" cy="6858000"/>
          </a:xfrm>
          <a:prstGeom prst="rect">
            <a:avLst/>
          </a:prstGeom>
        </p:spPr>
      </p:pic>
      <p:sp>
        <p:nvSpPr>
          <p:cNvPr id="5" name="Rektangel 4">
            <a:extLst>
              <a:ext uri="{FF2B5EF4-FFF2-40B4-BE49-F238E27FC236}">
                <a16:creationId xmlns:a16="http://schemas.microsoft.com/office/drawing/2014/main" id="{79FE18F4-C132-41FD-AF93-DC753A2ACBA4}"/>
              </a:ext>
            </a:extLst>
          </p:cNvPr>
          <p:cNvSpPr/>
          <p:nvPr/>
        </p:nvSpPr>
        <p:spPr>
          <a:xfrm>
            <a:off x="143433" y="1595718"/>
            <a:ext cx="3155579" cy="36844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38027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89792108-48A8-AAC1-ADFE-D83915D1ED67}"/>
              </a:ext>
            </a:extLst>
          </p:cNvPr>
          <p:cNvSpPr/>
          <p:nvPr/>
        </p:nvSpPr>
        <p:spPr>
          <a:xfrm>
            <a:off x="2291887" y="592594"/>
            <a:ext cx="8794723" cy="55923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a-DK" sz="32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E145C3F0-4B01-8F1F-5B25-26D6A5DC06EC}"/>
              </a:ext>
            </a:extLst>
          </p:cNvPr>
          <p:cNvSpPr txBox="1"/>
          <p:nvPr/>
        </p:nvSpPr>
        <p:spPr>
          <a:xfrm>
            <a:off x="663234" y="592594"/>
            <a:ext cx="155696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3200" b="1" dirty="0"/>
              <a:t>Page</a:t>
            </a:r>
          </a:p>
          <a:p>
            <a:r>
              <a:rPr lang="da-DK" sz="3200" b="1" dirty="0"/>
              <a:t>Layout</a:t>
            </a:r>
          </a:p>
          <a:p>
            <a:r>
              <a:rPr lang="da-DK" sz="2400" b="1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da-DK" sz="2400" b="1" dirty="0" err="1">
                <a:solidFill>
                  <a:schemeClr val="bg1">
                    <a:lumMod val="50000"/>
                  </a:schemeClr>
                </a:solidFill>
              </a:rPr>
              <a:t>ViewMsg</a:t>
            </a:r>
            <a:r>
              <a:rPr lang="da-DK" sz="24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22493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89792108-48A8-AAC1-ADFE-D83915D1ED67}"/>
              </a:ext>
            </a:extLst>
          </p:cNvPr>
          <p:cNvSpPr/>
          <p:nvPr/>
        </p:nvSpPr>
        <p:spPr>
          <a:xfrm>
            <a:off x="2291887" y="592594"/>
            <a:ext cx="8794723" cy="55923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2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@page</a:t>
            </a:r>
          </a:p>
          <a:p>
            <a:r>
              <a:rPr lang="da-DK" sz="32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@model </a:t>
            </a:r>
            <a:r>
              <a:rPr lang="da-DK" sz="32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ViewMsgModel</a:t>
            </a:r>
            <a:endParaRPr lang="da-DK" sz="3200" b="1" dirty="0">
              <a:solidFill>
                <a:srgbClr val="FFFF00"/>
              </a:solidFill>
              <a:latin typeface="Cascadia Mono" panose="020B0609020000020004" pitchFamily="49" charset="0"/>
            </a:endParaRPr>
          </a:p>
          <a:p>
            <a:r>
              <a:rPr lang="da-DK" sz="32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@{</a:t>
            </a:r>
          </a:p>
          <a:p>
            <a:r>
              <a:rPr lang="da-DK" sz="32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}</a:t>
            </a:r>
            <a:endParaRPr lang="da-DK" sz="32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E145C3F0-4B01-8F1F-5B25-26D6A5DC06EC}"/>
              </a:ext>
            </a:extLst>
          </p:cNvPr>
          <p:cNvSpPr txBox="1"/>
          <p:nvPr/>
        </p:nvSpPr>
        <p:spPr>
          <a:xfrm>
            <a:off x="663234" y="592594"/>
            <a:ext cx="155696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3200" b="1" dirty="0"/>
              <a:t>Page</a:t>
            </a:r>
          </a:p>
          <a:p>
            <a:r>
              <a:rPr lang="da-DK" sz="3200" b="1" dirty="0"/>
              <a:t>Layout</a:t>
            </a:r>
          </a:p>
          <a:p>
            <a:r>
              <a:rPr lang="da-DK" sz="2400" b="1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da-DK" sz="2400" b="1" dirty="0" err="1">
                <a:solidFill>
                  <a:schemeClr val="bg1">
                    <a:lumMod val="50000"/>
                  </a:schemeClr>
                </a:solidFill>
              </a:rPr>
              <a:t>ViewMsg</a:t>
            </a:r>
            <a:r>
              <a:rPr lang="da-DK" sz="24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72874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89792108-48A8-AAC1-ADFE-D83915D1ED67}"/>
              </a:ext>
            </a:extLst>
          </p:cNvPr>
          <p:cNvSpPr/>
          <p:nvPr/>
        </p:nvSpPr>
        <p:spPr>
          <a:xfrm>
            <a:off x="2291887" y="592594"/>
            <a:ext cx="8794723" cy="55923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2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@page</a:t>
            </a:r>
          </a:p>
          <a:p>
            <a:r>
              <a:rPr lang="da-DK" sz="32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@model </a:t>
            </a:r>
            <a:r>
              <a:rPr lang="da-DK" sz="32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ViewMsgModel</a:t>
            </a:r>
            <a:endParaRPr lang="da-DK" sz="3200" b="1" dirty="0">
              <a:solidFill>
                <a:srgbClr val="FFFF00"/>
              </a:solidFill>
              <a:latin typeface="Cascadia Mono" panose="020B0609020000020004" pitchFamily="49" charset="0"/>
            </a:endParaRPr>
          </a:p>
          <a:p>
            <a:r>
              <a:rPr lang="da-DK" sz="32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@{</a:t>
            </a:r>
          </a:p>
          <a:p>
            <a:r>
              <a:rPr lang="da-DK" sz="32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}</a:t>
            </a:r>
          </a:p>
          <a:p>
            <a:endParaRPr lang="da-DK" sz="3200" b="1" dirty="0">
              <a:solidFill>
                <a:schemeClr val="bg1">
                  <a:lumMod val="95000"/>
                </a:schemeClr>
              </a:solidFill>
              <a:latin typeface="Cascadia Mono" panose="020B0609020000020004" pitchFamily="49" charset="0"/>
            </a:endParaRPr>
          </a:p>
          <a:p>
            <a:r>
              <a:rPr lang="da-DK" sz="32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&lt;h1&gt;</a:t>
            </a:r>
            <a:r>
              <a:rPr lang="da-DK" sz="3200" b="1" dirty="0">
                <a:solidFill>
                  <a:srgbClr val="FFFF00"/>
                </a:solidFill>
                <a:latin typeface="Cascadia Mono" panose="020B0609020000020004" pitchFamily="49" charset="0"/>
              </a:rPr>
              <a:t>Hi World</a:t>
            </a:r>
            <a:r>
              <a:rPr lang="da-DK" sz="32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&lt;/h1&gt;</a:t>
            </a:r>
            <a:endParaRPr lang="da-DK" sz="3200" b="1" dirty="0">
              <a:solidFill>
                <a:schemeClr val="bg1">
                  <a:lumMod val="95000"/>
                </a:schemeClr>
              </a:solidFill>
            </a:endParaRPr>
          </a:p>
          <a:p>
            <a:endParaRPr lang="da-DK" sz="32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E145C3F0-4B01-8F1F-5B25-26D6A5DC06EC}"/>
              </a:ext>
            </a:extLst>
          </p:cNvPr>
          <p:cNvSpPr txBox="1"/>
          <p:nvPr/>
        </p:nvSpPr>
        <p:spPr>
          <a:xfrm>
            <a:off x="663234" y="592594"/>
            <a:ext cx="155696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3200" b="1" dirty="0"/>
              <a:t>Page</a:t>
            </a:r>
          </a:p>
          <a:p>
            <a:r>
              <a:rPr lang="da-DK" sz="3200" b="1" dirty="0"/>
              <a:t>Layout</a:t>
            </a:r>
          </a:p>
          <a:p>
            <a:r>
              <a:rPr lang="da-DK" sz="2400" b="1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da-DK" sz="2400" b="1" dirty="0" err="1">
                <a:solidFill>
                  <a:schemeClr val="bg1">
                    <a:lumMod val="50000"/>
                  </a:schemeClr>
                </a:solidFill>
              </a:rPr>
              <a:t>ViewMsg</a:t>
            </a:r>
            <a:r>
              <a:rPr lang="da-DK" sz="24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55780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89792108-48A8-AAC1-ADFE-D83915D1ED67}"/>
              </a:ext>
            </a:extLst>
          </p:cNvPr>
          <p:cNvSpPr/>
          <p:nvPr/>
        </p:nvSpPr>
        <p:spPr>
          <a:xfrm>
            <a:off x="1362635" y="1350016"/>
            <a:ext cx="9529483" cy="463086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a-DK" sz="2400" b="1" dirty="0">
              <a:solidFill>
                <a:schemeClr val="bg1">
                  <a:lumMod val="95000"/>
                </a:schemeClr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da-DK" sz="2400" b="1" dirty="0">
              <a:solidFill>
                <a:schemeClr val="bg1">
                  <a:lumMod val="95000"/>
                </a:schemeClr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…</a:t>
            </a:r>
          </a:p>
          <a:p>
            <a:endParaRPr lang="en-US" sz="2800" b="1" dirty="0">
              <a:solidFill>
                <a:schemeClr val="bg1">
                  <a:lumMod val="95000"/>
                </a:schemeClr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&lt;li class="nav-item"&gt;</a:t>
            </a:r>
          </a:p>
          <a:p>
            <a:r>
              <a:rPr lang="en-US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&lt;a … asp-page="/</a:t>
            </a:r>
            <a:r>
              <a:rPr lang="en-US" sz="2800" b="1" dirty="0" err="1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ViewMsg</a:t>
            </a:r>
            <a:r>
              <a:rPr lang="en-US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"&gt;</a:t>
            </a:r>
            <a:r>
              <a:rPr lang="en-US" sz="2800" b="1" dirty="0">
                <a:solidFill>
                  <a:srgbClr val="FFFF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View Message</a:t>
            </a:r>
            <a:r>
              <a:rPr lang="en-US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&lt;/a&gt;</a:t>
            </a:r>
          </a:p>
          <a:p>
            <a:r>
              <a:rPr lang="en-US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&lt;/li&gt;</a:t>
            </a:r>
            <a:endParaRPr lang="da-DK" sz="2800" b="1" dirty="0">
              <a:solidFill>
                <a:schemeClr val="bg1">
                  <a:lumMod val="95000"/>
                </a:schemeClr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da-DK" sz="2800" b="1" dirty="0">
              <a:solidFill>
                <a:schemeClr val="bg1">
                  <a:lumMod val="95000"/>
                </a:schemeClr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…</a:t>
            </a:r>
          </a:p>
          <a:p>
            <a:endParaRPr lang="da-DK" sz="1200" b="1" dirty="0">
              <a:solidFill>
                <a:schemeClr val="bg1">
                  <a:lumMod val="95000"/>
                </a:schemeClr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E145C3F0-4B01-8F1F-5B25-26D6A5DC06EC}"/>
              </a:ext>
            </a:extLst>
          </p:cNvPr>
          <p:cNvSpPr txBox="1"/>
          <p:nvPr/>
        </p:nvSpPr>
        <p:spPr>
          <a:xfrm>
            <a:off x="113809" y="592594"/>
            <a:ext cx="27674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3200" b="1" dirty="0"/>
              <a:t>_</a:t>
            </a:r>
            <a:r>
              <a:rPr lang="da-DK" sz="3200" b="1" dirty="0" err="1"/>
              <a:t>Layout</a:t>
            </a:r>
            <a:r>
              <a:rPr lang="da-DK" sz="3200" b="1" err="1"/>
              <a:t>.</a:t>
            </a:r>
            <a:r>
              <a:rPr lang="da-DK" sz="3200" b="1"/>
              <a:t>cshtml</a:t>
            </a:r>
            <a:endParaRPr lang="da-DK" sz="3200" b="1" dirty="0"/>
          </a:p>
        </p:txBody>
      </p:sp>
    </p:spTree>
    <p:extLst>
      <p:ext uri="{BB962C8B-B14F-4D97-AF65-F5344CB8AC3E}">
        <p14:creationId xmlns:p14="http://schemas.microsoft.com/office/powerpoint/2010/main" val="2185822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89792108-48A8-AAC1-ADFE-D83915D1ED67}"/>
              </a:ext>
            </a:extLst>
          </p:cNvPr>
          <p:cNvSpPr/>
          <p:nvPr/>
        </p:nvSpPr>
        <p:spPr>
          <a:xfrm>
            <a:off x="2291887" y="592594"/>
            <a:ext cx="9371195" cy="55923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2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@page</a:t>
            </a:r>
          </a:p>
          <a:p>
            <a:r>
              <a:rPr lang="da-DK" sz="32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@model </a:t>
            </a:r>
            <a:r>
              <a:rPr lang="da-DK" sz="32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ViewMsgModel</a:t>
            </a:r>
            <a:endParaRPr lang="da-DK" sz="3200" b="1" dirty="0">
              <a:solidFill>
                <a:srgbClr val="FFFF00"/>
              </a:solidFill>
              <a:latin typeface="Cascadia Mono" panose="020B0609020000020004" pitchFamily="49" charset="0"/>
            </a:endParaRPr>
          </a:p>
          <a:p>
            <a:r>
              <a:rPr lang="da-DK" sz="32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@{</a:t>
            </a:r>
          </a:p>
          <a:p>
            <a:r>
              <a:rPr lang="da-DK" sz="32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}</a:t>
            </a:r>
          </a:p>
          <a:p>
            <a:endParaRPr lang="da-DK" sz="3200" b="1" dirty="0">
              <a:solidFill>
                <a:schemeClr val="bg1">
                  <a:lumMod val="95000"/>
                </a:schemeClr>
              </a:solidFill>
              <a:latin typeface="Cascadia Mono" panose="020B0609020000020004" pitchFamily="49" charset="0"/>
            </a:endParaRPr>
          </a:p>
          <a:p>
            <a:r>
              <a:rPr lang="da-DK" sz="32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&lt;h1&gt;</a:t>
            </a:r>
            <a:r>
              <a:rPr lang="da-DK" sz="3200" b="1" dirty="0">
                <a:solidFill>
                  <a:srgbClr val="FFFF00"/>
                </a:solidFill>
                <a:latin typeface="Cascadia Mono" panose="020B0609020000020004" pitchFamily="49" charset="0"/>
              </a:rPr>
              <a:t>Hi World, it is @</a:t>
            </a:r>
            <a:r>
              <a:rPr lang="da-DK" sz="32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DateTime.Now</a:t>
            </a:r>
            <a:r>
              <a:rPr lang="da-DK" sz="32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&lt;/h1&gt;</a:t>
            </a:r>
            <a:endParaRPr lang="da-DK" sz="3200" b="1" dirty="0">
              <a:solidFill>
                <a:schemeClr val="bg1">
                  <a:lumMod val="95000"/>
                </a:schemeClr>
              </a:solidFill>
            </a:endParaRPr>
          </a:p>
          <a:p>
            <a:endParaRPr lang="da-DK" sz="32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E145C3F0-4B01-8F1F-5B25-26D6A5DC06EC}"/>
              </a:ext>
            </a:extLst>
          </p:cNvPr>
          <p:cNvSpPr txBox="1"/>
          <p:nvPr/>
        </p:nvSpPr>
        <p:spPr>
          <a:xfrm>
            <a:off x="663234" y="592594"/>
            <a:ext cx="155696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3200" b="1" dirty="0"/>
              <a:t>Page</a:t>
            </a:r>
          </a:p>
          <a:p>
            <a:r>
              <a:rPr lang="da-DK" sz="3200" b="1" dirty="0"/>
              <a:t>Layout</a:t>
            </a:r>
          </a:p>
          <a:p>
            <a:r>
              <a:rPr lang="da-DK" sz="2400" b="1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da-DK" sz="2400" b="1" dirty="0" err="1">
                <a:solidFill>
                  <a:schemeClr val="bg1">
                    <a:lumMod val="50000"/>
                  </a:schemeClr>
                </a:solidFill>
              </a:rPr>
              <a:t>ViewMsg</a:t>
            </a:r>
            <a:r>
              <a:rPr lang="da-DK" sz="24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1659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89792108-48A8-AAC1-ADFE-D83915D1ED67}"/>
              </a:ext>
            </a:extLst>
          </p:cNvPr>
          <p:cNvSpPr/>
          <p:nvPr/>
        </p:nvSpPr>
        <p:spPr>
          <a:xfrm>
            <a:off x="2303660" y="592594"/>
            <a:ext cx="8794723" cy="5592361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a-DK" sz="28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E145C3F0-4B01-8F1F-5B25-26D6A5DC06EC}"/>
              </a:ext>
            </a:extLst>
          </p:cNvPr>
          <p:cNvSpPr txBox="1"/>
          <p:nvPr/>
        </p:nvSpPr>
        <p:spPr>
          <a:xfrm>
            <a:off x="663234" y="592594"/>
            <a:ext cx="129234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3200" b="1" dirty="0"/>
              <a:t>Page</a:t>
            </a:r>
          </a:p>
          <a:p>
            <a:r>
              <a:rPr lang="da-DK" sz="3200" b="1" dirty="0"/>
              <a:t>Model</a:t>
            </a:r>
          </a:p>
        </p:txBody>
      </p:sp>
    </p:spTree>
    <p:extLst>
      <p:ext uri="{BB962C8B-B14F-4D97-AF65-F5344CB8AC3E}">
        <p14:creationId xmlns:p14="http://schemas.microsoft.com/office/powerpoint/2010/main" val="2297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89792108-48A8-AAC1-ADFE-D83915D1ED67}"/>
              </a:ext>
            </a:extLst>
          </p:cNvPr>
          <p:cNvSpPr/>
          <p:nvPr/>
        </p:nvSpPr>
        <p:spPr>
          <a:xfrm>
            <a:off x="2303660" y="592594"/>
            <a:ext cx="8794723" cy="5592361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public class </a:t>
            </a:r>
            <a:r>
              <a:rPr lang="da-DK" sz="28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ViewMsgModel</a:t>
            </a:r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: </a:t>
            </a:r>
            <a:r>
              <a:rPr lang="da-DK" sz="28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PageModel</a:t>
            </a:r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</a:t>
            </a:r>
          </a:p>
          <a:p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}</a:t>
            </a:r>
            <a:endParaRPr lang="da-DK" sz="28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E145C3F0-4B01-8F1F-5B25-26D6A5DC06EC}"/>
              </a:ext>
            </a:extLst>
          </p:cNvPr>
          <p:cNvSpPr txBox="1"/>
          <p:nvPr/>
        </p:nvSpPr>
        <p:spPr>
          <a:xfrm>
            <a:off x="663234" y="592594"/>
            <a:ext cx="129234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3200" b="1" dirty="0"/>
              <a:t>Page</a:t>
            </a:r>
          </a:p>
          <a:p>
            <a:r>
              <a:rPr lang="da-DK" sz="3200" b="1" dirty="0"/>
              <a:t>Model</a:t>
            </a:r>
          </a:p>
        </p:txBody>
      </p:sp>
    </p:spTree>
    <p:extLst>
      <p:ext uri="{BB962C8B-B14F-4D97-AF65-F5344CB8AC3E}">
        <p14:creationId xmlns:p14="http://schemas.microsoft.com/office/powerpoint/2010/main" val="3190860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89792108-48A8-AAC1-ADFE-D83915D1ED67}"/>
              </a:ext>
            </a:extLst>
          </p:cNvPr>
          <p:cNvSpPr/>
          <p:nvPr/>
        </p:nvSpPr>
        <p:spPr>
          <a:xfrm>
            <a:off x="2303660" y="592594"/>
            <a:ext cx="8794723" cy="5592361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public class </a:t>
            </a:r>
            <a:r>
              <a:rPr lang="da-DK" sz="28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ViewMsgModel</a:t>
            </a:r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: </a:t>
            </a:r>
            <a:r>
              <a:rPr lang="da-DK" sz="28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PageModel</a:t>
            </a:r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</a:t>
            </a:r>
          </a:p>
          <a:p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public string </a:t>
            </a:r>
            <a:r>
              <a:rPr lang="da-DK" sz="2800" b="1" dirty="0">
                <a:solidFill>
                  <a:srgbClr val="FFFF00"/>
                </a:solidFill>
                <a:latin typeface="Cascadia Mono" panose="020B0609020000020004" pitchFamily="49" charset="0"/>
              </a:rPr>
              <a:t>Message</a:t>
            </a:r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{ get; }</a:t>
            </a:r>
          </a:p>
          <a:p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}</a:t>
            </a:r>
            <a:endParaRPr lang="da-DK" sz="28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E145C3F0-4B01-8F1F-5B25-26D6A5DC06EC}"/>
              </a:ext>
            </a:extLst>
          </p:cNvPr>
          <p:cNvSpPr txBox="1"/>
          <p:nvPr/>
        </p:nvSpPr>
        <p:spPr>
          <a:xfrm>
            <a:off x="663234" y="592594"/>
            <a:ext cx="129234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3200" b="1" dirty="0"/>
              <a:t>Page</a:t>
            </a:r>
          </a:p>
          <a:p>
            <a:r>
              <a:rPr lang="da-DK" sz="3200" b="1" dirty="0"/>
              <a:t>Model</a:t>
            </a:r>
          </a:p>
        </p:txBody>
      </p:sp>
    </p:spTree>
    <p:extLst>
      <p:ext uri="{BB962C8B-B14F-4D97-AF65-F5344CB8AC3E}">
        <p14:creationId xmlns:p14="http://schemas.microsoft.com/office/powerpoint/2010/main" val="3401118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89792108-48A8-AAC1-ADFE-D83915D1ED67}"/>
              </a:ext>
            </a:extLst>
          </p:cNvPr>
          <p:cNvSpPr/>
          <p:nvPr/>
        </p:nvSpPr>
        <p:spPr>
          <a:xfrm>
            <a:off x="2291887" y="592594"/>
            <a:ext cx="8794723" cy="55923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2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@page</a:t>
            </a:r>
          </a:p>
          <a:p>
            <a:r>
              <a:rPr lang="da-DK" sz="32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@model </a:t>
            </a:r>
            <a:r>
              <a:rPr lang="da-DK" sz="32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ViewMsgModel</a:t>
            </a:r>
            <a:endParaRPr lang="da-DK" sz="3200" b="1" dirty="0">
              <a:solidFill>
                <a:srgbClr val="FFFF00"/>
              </a:solidFill>
              <a:latin typeface="Cascadia Mono" panose="020B0609020000020004" pitchFamily="49" charset="0"/>
            </a:endParaRPr>
          </a:p>
          <a:p>
            <a:r>
              <a:rPr lang="da-DK" sz="32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@{</a:t>
            </a:r>
          </a:p>
          <a:p>
            <a:r>
              <a:rPr lang="da-DK" sz="32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}</a:t>
            </a:r>
          </a:p>
          <a:p>
            <a:endParaRPr lang="da-DK" sz="3200" b="1" dirty="0">
              <a:solidFill>
                <a:schemeClr val="bg1">
                  <a:lumMod val="95000"/>
                </a:schemeClr>
              </a:solidFill>
              <a:latin typeface="Cascadia Mono" panose="020B0609020000020004" pitchFamily="49" charset="0"/>
            </a:endParaRPr>
          </a:p>
          <a:p>
            <a:r>
              <a:rPr lang="da-DK" sz="32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&lt;h1&gt;</a:t>
            </a:r>
            <a:r>
              <a:rPr lang="da-DK" sz="3200" b="1" dirty="0">
                <a:solidFill>
                  <a:srgbClr val="FFFF00"/>
                </a:solidFill>
                <a:latin typeface="Cascadia Mono" panose="020B0609020000020004" pitchFamily="49" charset="0"/>
              </a:rPr>
              <a:t>@Model.Message</a:t>
            </a:r>
            <a:r>
              <a:rPr lang="da-DK" sz="32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&lt;/h1&gt;</a:t>
            </a:r>
            <a:endParaRPr lang="da-DK" sz="32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E145C3F0-4B01-8F1F-5B25-26D6A5DC06EC}"/>
              </a:ext>
            </a:extLst>
          </p:cNvPr>
          <p:cNvSpPr txBox="1"/>
          <p:nvPr/>
        </p:nvSpPr>
        <p:spPr>
          <a:xfrm>
            <a:off x="663234" y="592594"/>
            <a:ext cx="9929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3200" b="1" dirty="0"/>
              <a:t>Page</a:t>
            </a:r>
          </a:p>
        </p:txBody>
      </p:sp>
    </p:spTree>
    <p:extLst>
      <p:ext uri="{BB962C8B-B14F-4D97-AF65-F5344CB8AC3E}">
        <p14:creationId xmlns:p14="http://schemas.microsoft.com/office/powerpoint/2010/main" val="4116040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10A9B8DE-39E5-E981-CFF1-1B6F90B51DCC}"/>
              </a:ext>
            </a:extLst>
          </p:cNvPr>
          <p:cNvSpPr/>
          <p:nvPr/>
        </p:nvSpPr>
        <p:spPr>
          <a:xfrm>
            <a:off x="2358147" y="371724"/>
            <a:ext cx="6865365" cy="26586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@page</a:t>
            </a:r>
          </a:p>
          <a:p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@model </a:t>
            </a:r>
            <a:r>
              <a:rPr lang="da-DK" sz="20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ViewMsgModel</a:t>
            </a:r>
            <a:endParaRPr lang="da-DK" sz="2000" b="1" dirty="0">
              <a:solidFill>
                <a:srgbClr val="FFFF00"/>
              </a:solidFill>
              <a:latin typeface="Cascadia Mono" panose="020B0609020000020004" pitchFamily="49" charset="0"/>
            </a:endParaRPr>
          </a:p>
          <a:p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@{</a:t>
            </a:r>
          </a:p>
          <a:p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}</a:t>
            </a:r>
          </a:p>
          <a:p>
            <a:endParaRPr lang="da-DK" sz="2000" b="1" dirty="0">
              <a:solidFill>
                <a:schemeClr val="bg1">
                  <a:lumMod val="95000"/>
                </a:schemeClr>
              </a:solidFill>
              <a:latin typeface="Cascadia Mono" panose="020B0609020000020004" pitchFamily="49" charset="0"/>
            </a:endParaRPr>
          </a:p>
          <a:p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&lt;h1&gt;</a:t>
            </a:r>
            <a:r>
              <a:rPr lang="da-DK" sz="2000" b="1" dirty="0">
                <a:solidFill>
                  <a:srgbClr val="FFFF00"/>
                </a:solidFill>
                <a:latin typeface="Cascadia Mono" panose="020B0609020000020004" pitchFamily="49" charset="0"/>
              </a:rPr>
              <a:t>@Model.Message</a:t>
            </a:r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&lt;/h1&gt;</a:t>
            </a:r>
            <a:endParaRPr lang="da-DK" sz="2000" b="1" dirty="0">
              <a:solidFill>
                <a:schemeClr val="bg1">
                  <a:lumMod val="95000"/>
                </a:schemeClr>
              </a:solidFill>
            </a:endParaRPr>
          </a:p>
          <a:p>
            <a:endParaRPr lang="da-DK" sz="20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7D1DA501-EFEC-07C9-79CD-BB4D275F3266}"/>
              </a:ext>
            </a:extLst>
          </p:cNvPr>
          <p:cNvSpPr/>
          <p:nvPr/>
        </p:nvSpPr>
        <p:spPr>
          <a:xfrm>
            <a:off x="2358147" y="3499239"/>
            <a:ext cx="6865365" cy="289714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public class </a:t>
            </a:r>
            <a:r>
              <a:rPr lang="da-DK" sz="20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ViewMsgModel</a:t>
            </a:r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: </a:t>
            </a:r>
            <a:r>
              <a:rPr lang="da-DK" sz="20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PageModel</a:t>
            </a:r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</a:t>
            </a:r>
          </a:p>
          <a:p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public string </a:t>
            </a:r>
            <a:r>
              <a:rPr lang="da-DK" sz="2000" b="1" dirty="0">
                <a:solidFill>
                  <a:srgbClr val="FFFF00"/>
                </a:solidFill>
                <a:latin typeface="Cascadia Mono" panose="020B0609020000020004" pitchFamily="49" charset="0"/>
              </a:rPr>
              <a:t>Message</a:t>
            </a:r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{ </a:t>
            </a:r>
            <a:r>
              <a:rPr lang="da-DK" sz="2000" b="1" dirty="0" err="1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get</a:t>
            </a:r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}</a:t>
            </a:r>
            <a:endParaRPr lang="da-DK" sz="2000" b="1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22" name="Lige pilforbindelse 21">
            <a:extLst>
              <a:ext uri="{FF2B5EF4-FFF2-40B4-BE49-F238E27FC236}">
                <a16:creationId xmlns:a16="http://schemas.microsoft.com/office/drawing/2014/main" id="{46559FE8-515A-B4F3-9571-459E313E9F73}"/>
              </a:ext>
            </a:extLst>
          </p:cNvPr>
          <p:cNvCxnSpPr>
            <a:cxnSpLocks/>
          </p:cNvCxnSpPr>
          <p:nvPr/>
        </p:nvCxnSpPr>
        <p:spPr>
          <a:xfrm>
            <a:off x="4536141" y="2286000"/>
            <a:ext cx="699247" cy="1918447"/>
          </a:xfrm>
          <a:prstGeom prst="straightConnector1">
            <a:avLst/>
          </a:prstGeom>
          <a:ln w="762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0831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89792108-48A8-AAC1-ADFE-D83915D1ED67}"/>
              </a:ext>
            </a:extLst>
          </p:cNvPr>
          <p:cNvSpPr/>
          <p:nvPr/>
        </p:nvSpPr>
        <p:spPr>
          <a:xfrm>
            <a:off x="2291887" y="592594"/>
            <a:ext cx="8794723" cy="559236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public interface </a:t>
            </a:r>
            <a:r>
              <a:rPr lang="da-DK" sz="28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IMsgService</a:t>
            </a:r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</a:t>
            </a:r>
          </a:p>
          <a:p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}</a:t>
            </a:r>
            <a:endParaRPr lang="da-DK" sz="28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E145C3F0-4B01-8F1F-5B25-26D6A5DC06EC}"/>
              </a:ext>
            </a:extLst>
          </p:cNvPr>
          <p:cNvSpPr txBox="1"/>
          <p:nvPr/>
        </p:nvSpPr>
        <p:spPr>
          <a:xfrm>
            <a:off x="663234" y="592594"/>
            <a:ext cx="14081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3200" b="1" dirty="0"/>
              <a:t>Service</a:t>
            </a:r>
          </a:p>
        </p:txBody>
      </p:sp>
    </p:spTree>
    <p:extLst>
      <p:ext uri="{BB962C8B-B14F-4D97-AF65-F5344CB8AC3E}">
        <p14:creationId xmlns:p14="http://schemas.microsoft.com/office/powerpoint/2010/main" val="1333400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89792108-48A8-AAC1-ADFE-D83915D1ED67}"/>
              </a:ext>
            </a:extLst>
          </p:cNvPr>
          <p:cNvSpPr/>
          <p:nvPr/>
        </p:nvSpPr>
        <p:spPr>
          <a:xfrm>
            <a:off x="2291887" y="592594"/>
            <a:ext cx="8794723" cy="559236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public interface </a:t>
            </a:r>
            <a:r>
              <a:rPr lang="da-DK" sz="28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IMsgService</a:t>
            </a:r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</a:t>
            </a:r>
          </a:p>
          <a:p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string </a:t>
            </a:r>
            <a:r>
              <a:rPr lang="da-DK" sz="28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GetMessage</a:t>
            </a:r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}</a:t>
            </a:r>
            <a:endParaRPr lang="da-DK" sz="28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E145C3F0-4B01-8F1F-5B25-26D6A5DC06EC}"/>
              </a:ext>
            </a:extLst>
          </p:cNvPr>
          <p:cNvSpPr txBox="1"/>
          <p:nvPr/>
        </p:nvSpPr>
        <p:spPr>
          <a:xfrm>
            <a:off x="663234" y="592594"/>
            <a:ext cx="14081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3200" b="1" dirty="0"/>
              <a:t>Service</a:t>
            </a:r>
          </a:p>
        </p:txBody>
      </p:sp>
    </p:spTree>
    <p:extLst>
      <p:ext uri="{BB962C8B-B14F-4D97-AF65-F5344CB8AC3E}">
        <p14:creationId xmlns:p14="http://schemas.microsoft.com/office/powerpoint/2010/main" val="3630669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89792108-48A8-AAC1-ADFE-D83915D1ED67}"/>
              </a:ext>
            </a:extLst>
          </p:cNvPr>
          <p:cNvSpPr/>
          <p:nvPr/>
        </p:nvSpPr>
        <p:spPr>
          <a:xfrm>
            <a:off x="2291887" y="592594"/>
            <a:ext cx="8794723" cy="5592361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public class </a:t>
            </a:r>
            <a:r>
              <a:rPr lang="da-DK" sz="28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MsgService</a:t>
            </a:r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: </a:t>
            </a:r>
            <a:r>
              <a:rPr lang="da-DK" sz="28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IMsgService</a:t>
            </a:r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</a:t>
            </a:r>
          </a:p>
          <a:p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public string </a:t>
            </a:r>
            <a:r>
              <a:rPr lang="da-DK" sz="28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GetMessage</a:t>
            </a:r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{</a:t>
            </a:r>
          </a:p>
          <a:p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  …</a:t>
            </a:r>
          </a:p>
          <a:p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}</a:t>
            </a:r>
          </a:p>
          <a:p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}</a:t>
            </a:r>
            <a:endParaRPr lang="da-DK" sz="28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E145C3F0-4B01-8F1F-5B25-26D6A5DC06EC}"/>
              </a:ext>
            </a:extLst>
          </p:cNvPr>
          <p:cNvSpPr txBox="1"/>
          <p:nvPr/>
        </p:nvSpPr>
        <p:spPr>
          <a:xfrm>
            <a:off x="663234" y="592594"/>
            <a:ext cx="14081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3200" b="1" dirty="0"/>
              <a:t>Service</a:t>
            </a:r>
          </a:p>
        </p:txBody>
      </p:sp>
    </p:spTree>
    <p:extLst>
      <p:ext uri="{BB962C8B-B14F-4D97-AF65-F5344CB8AC3E}">
        <p14:creationId xmlns:p14="http://schemas.microsoft.com/office/powerpoint/2010/main" val="1850814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89792108-48A8-AAC1-ADFE-D83915D1ED67}"/>
              </a:ext>
            </a:extLst>
          </p:cNvPr>
          <p:cNvSpPr/>
          <p:nvPr/>
        </p:nvSpPr>
        <p:spPr>
          <a:xfrm>
            <a:off x="2303660" y="592594"/>
            <a:ext cx="8794723" cy="5592361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public class </a:t>
            </a:r>
            <a:r>
              <a:rPr lang="da-DK" sz="28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ViewMsgModel</a:t>
            </a:r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: </a:t>
            </a:r>
            <a:r>
              <a:rPr lang="da-DK" sz="28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PageModel</a:t>
            </a:r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</a:t>
            </a:r>
          </a:p>
          <a:p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private </a:t>
            </a:r>
            <a:r>
              <a:rPr lang="da-DK" sz="28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IMsgService</a:t>
            </a:r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_</a:t>
            </a:r>
            <a:r>
              <a:rPr lang="da-DK" sz="2800" b="1" dirty="0" err="1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msgService</a:t>
            </a:r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}</a:t>
            </a:r>
            <a:endParaRPr lang="da-DK" sz="28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E145C3F0-4B01-8F1F-5B25-26D6A5DC06EC}"/>
              </a:ext>
            </a:extLst>
          </p:cNvPr>
          <p:cNvSpPr txBox="1"/>
          <p:nvPr/>
        </p:nvSpPr>
        <p:spPr>
          <a:xfrm>
            <a:off x="663234" y="592594"/>
            <a:ext cx="129234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3200" b="1" dirty="0"/>
              <a:t>Page</a:t>
            </a:r>
          </a:p>
          <a:p>
            <a:r>
              <a:rPr lang="da-DK" sz="3200" b="1" dirty="0"/>
              <a:t>Model</a:t>
            </a:r>
          </a:p>
        </p:txBody>
      </p:sp>
    </p:spTree>
    <p:extLst>
      <p:ext uri="{BB962C8B-B14F-4D97-AF65-F5344CB8AC3E}">
        <p14:creationId xmlns:p14="http://schemas.microsoft.com/office/powerpoint/2010/main" val="146091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10A9B8DE-39E5-E981-CFF1-1B6F90B51DCC}"/>
              </a:ext>
            </a:extLst>
          </p:cNvPr>
          <p:cNvSpPr/>
          <p:nvPr/>
        </p:nvSpPr>
        <p:spPr>
          <a:xfrm>
            <a:off x="2358147" y="371725"/>
            <a:ext cx="6865365" cy="14570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@page</a:t>
            </a:r>
          </a:p>
          <a:p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@model </a:t>
            </a:r>
            <a:r>
              <a:rPr lang="da-DK" sz="20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ViewMsgModel</a:t>
            </a:r>
            <a:endParaRPr lang="da-DK" sz="2000" b="1" dirty="0">
              <a:solidFill>
                <a:srgbClr val="FFFF00"/>
              </a:solidFill>
              <a:latin typeface="Cascadia Mono" panose="020B0609020000020004" pitchFamily="49" charset="0"/>
            </a:endParaRPr>
          </a:p>
          <a:p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@{</a:t>
            </a:r>
          </a:p>
          <a:p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}</a:t>
            </a:r>
            <a:endParaRPr lang="da-DK" sz="20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7D1DA501-EFEC-07C9-79CD-BB4D275F3266}"/>
              </a:ext>
            </a:extLst>
          </p:cNvPr>
          <p:cNvSpPr/>
          <p:nvPr/>
        </p:nvSpPr>
        <p:spPr>
          <a:xfrm>
            <a:off x="2358146" y="2500909"/>
            <a:ext cx="6865365" cy="1457076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public class </a:t>
            </a:r>
            <a:r>
              <a:rPr lang="da-DK" sz="20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ViewMsgModel</a:t>
            </a:r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: </a:t>
            </a:r>
            <a:r>
              <a:rPr lang="da-DK" sz="20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PageModel</a:t>
            </a:r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</a:t>
            </a:r>
          </a:p>
          <a:p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private </a:t>
            </a:r>
            <a:r>
              <a:rPr lang="da-DK" sz="20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IMsgService</a:t>
            </a:r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_</a:t>
            </a:r>
            <a:r>
              <a:rPr lang="da-DK" sz="2000" b="1" dirty="0" err="1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msgService</a:t>
            </a:r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}</a:t>
            </a:r>
            <a:endParaRPr lang="da-DK" sz="20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6CA6C72E-DC9F-C305-E123-64CFBBF62F7B}"/>
              </a:ext>
            </a:extLst>
          </p:cNvPr>
          <p:cNvSpPr/>
          <p:nvPr/>
        </p:nvSpPr>
        <p:spPr>
          <a:xfrm>
            <a:off x="2358146" y="4630093"/>
            <a:ext cx="6865366" cy="1457076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public class </a:t>
            </a:r>
            <a:r>
              <a:rPr lang="da-DK" sz="20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MsgService</a:t>
            </a:r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: </a:t>
            </a:r>
            <a:r>
              <a:rPr lang="da-DK" sz="20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IMsgService</a:t>
            </a:r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</a:t>
            </a:r>
          </a:p>
          <a:p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}</a:t>
            </a:r>
            <a:endParaRPr lang="da-DK" sz="2000" b="1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22" name="Lige pilforbindelse 21">
            <a:extLst>
              <a:ext uri="{FF2B5EF4-FFF2-40B4-BE49-F238E27FC236}">
                <a16:creationId xmlns:a16="http://schemas.microsoft.com/office/drawing/2014/main" id="{46559FE8-515A-B4F3-9571-459E313E9F73}"/>
              </a:ext>
            </a:extLst>
          </p:cNvPr>
          <p:cNvCxnSpPr>
            <a:cxnSpLocks/>
          </p:cNvCxnSpPr>
          <p:nvPr/>
        </p:nvCxnSpPr>
        <p:spPr>
          <a:xfrm>
            <a:off x="4329953" y="1066800"/>
            <a:ext cx="797859" cy="1586753"/>
          </a:xfrm>
          <a:prstGeom prst="straightConnector1">
            <a:avLst/>
          </a:prstGeom>
          <a:ln w="762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Lige pilforbindelse 26">
            <a:extLst>
              <a:ext uri="{FF2B5EF4-FFF2-40B4-BE49-F238E27FC236}">
                <a16:creationId xmlns:a16="http://schemas.microsoft.com/office/drawing/2014/main" id="{CF7DAADC-6558-20C1-242A-D67CD65137A3}"/>
              </a:ext>
            </a:extLst>
          </p:cNvPr>
          <p:cNvCxnSpPr>
            <a:cxnSpLocks/>
          </p:cNvCxnSpPr>
          <p:nvPr/>
        </p:nvCxnSpPr>
        <p:spPr>
          <a:xfrm>
            <a:off x="4679576" y="3429000"/>
            <a:ext cx="2814918" cy="1304365"/>
          </a:xfrm>
          <a:prstGeom prst="straightConnector1">
            <a:avLst/>
          </a:prstGeom>
          <a:ln w="762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8293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89792108-48A8-AAC1-ADFE-D83915D1ED67}"/>
              </a:ext>
            </a:extLst>
          </p:cNvPr>
          <p:cNvSpPr/>
          <p:nvPr/>
        </p:nvSpPr>
        <p:spPr>
          <a:xfrm>
            <a:off x="2291887" y="592594"/>
            <a:ext cx="8794723" cy="55923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2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@page</a:t>
            </a:r>
          </a:p>
          <a:p>
            <a:r>
              <a:rPr lang="da-DK" sz="32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@model </a:t>
            </a:r>
            <a:r>
              <a:rPr lang="da-DK" sz="32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ViewMsgModel</a:t>
            </a:r>
            <a:endParaRPr lang="da-DK" sz="3200" b="1" dirty="0">
              <a:solidFill>
                <a:srgbClr val="FFFF00"/>
              </a:solidFill>
              <a:latin typeface="Cascadia Mono" panose="020B0609020000020004" pitchFamily="49" charset="0"/>
            </a:endParaRPr>
          </a:p>
          <a:p>
            <a:r>
              <a:rPr lang="da-DK" sz="32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@{</a:t>
            </a:r>
          </a:p>
          <a:p>
            <a:r>
              <a:rPr lang="da-DK" sz="32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}</a:t>
            </a:r>
          </a:p>
          <a:p>
            <a:endParaRPr lang="da-DK" sz="3200" b="1" dirty="0">
              <a:solidFill>
                <a:schemeClr val="bg1">
                  <a:lumMod val="95000"/>
                </a:schemeClr>
              </a:solidFill>
              <a:latin typeface="Cascadia Mono" panose="020B0609020000020004" pitchFamily="49" charset="0"/>
            </a:endParaRPr>
          </a:p>
          <a:p>
            <a:r>
              <a:rPr lang="da-DK" sz="32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&lt;h1&gt;</a:t>
            </a:r>
            <a:r>
              <a:rPr lang="da-DK" sz="3200" b="1" dirty="0">
                <a:solidFill>
                  <a:srgbClr val="FFFF00"/>
                </a:solidFill>
                <a:latin typeface="Cascadia Mono" panose="020B0609020000020004" pitchFamily="49" charset="0"/>
              </a:rPr>
              <a:t>@Model.Message</a:t>
            </a:r>
            <a:r>
              <a:rPr lang="da-DK" sz="32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&lt;/h1&gt;</a:t>
            </a:r>
            <a:endParaRPr lang="da-DK" sz="32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E145C3F0-4B01-8F1F-5B25-26D6A5DC06EC}"/>
              </a:ext>
            </a:extLst>
          </p:cNvPr>
          <p:cNvSpPr txBox="1"/>
          <p:nvPr/>
        </p:nvSpPr>
        <p:spPr>
          <a:xfrm>
            <a:off x="663234" y="592594"/>
            <a:ext cx="9929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3200" b="1" dirty="0"/>
              <a:t>Page</a:t>
            </a:r>
          </a:p>
        </p:txBody>
      </p:sp>
    </p:spTree>
    <p:extLst>
      <p:ext uri="{BB962C8B-B14F-4D97-AF65-F5344CB8AC3E}">
        <p14:creationId xmlns:p14="http://schemas.microsoft.com/office/powerpoint/2010/main" val="1055492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89792108-48A8-AAC1-ADFE-D83915D1ED67}"/>
              </a:ext>
            </a:extLst>
          </p:cNvPr>
          <p:cNvSpPr/>
          <p:nvPr/>
        </p:nvSpPr>
        <p:spPr>
          <a:xfrm>
            <a:off x="2291887" y="592594"/>
            <a:ext cx="8794723" cy="5592361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public class </a:t>
            </a:r>
            <a:r>
              <a:rPr lang="da-DK" sz="28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ViewMsgModel</a:t>
            </a:r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: </a:t>
            </a:r>
            <a:r>
              <a:rPr lang="da-DK" sz="28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PageModel</a:t>
            </a:r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</a:t>
            </a:r>
          </a:p>
          <a:p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private </a:t>
            </a:r>
            <a:r>
              <a:rPr lang="da-DK" sz="28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IMsgService</a:t>
            </a:r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_</a:t>
            </a:r>
            <a:r>
              <a:rPr lang="da-DK" sz="2800" b="1" dirty="0" err="1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msgService</a:t>
            </a:r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;</a:t>
            </a:r>
          </a:p>
          <a:p>
            <a:endParaRPr lang="da-DK" sz="2800" b="1" dirty="0">
              <a:solidFill>
                <a:schemeClr val="bg1">
                  <a:lumMod val="95000"/>
                </a:schemeClr>
              </a:solidFill>
              <a:latin typeface="Cascadia Mono" panose="020B0609020000020004" pitchFamily="49" charset="0"/>
            </a:endParaRPr>
          </a:p>
          <a:p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public string </a:t>
            </a:r>
            <a:r>
              <a:rPr lang="da-DK" sz="2800" b="1" dirty="0">
                <a:solidFill>
                  <a:srgbClr val="FFFF00"/>
                </a:solidFill>
                <a:latin typeface="Cascadia Mono" panose="020B0609020000020004" pitchFamily="49" charset="0"/>
              </a:rPr>
              <a:t>Message</a:t>
            </a:r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{ </a:t>
            </a:r>
            <a:r>
              <a:rPr lang="da-DK" sz="2800" b="1" dirty="0" err="1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get</a:t>
            </a:r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}</a:t>
            </a:r>
            <a:endParaRPr lang="da-DK" sz="28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E145C3F0-4B01-8F1F-5B25-26D6A5DC06EC}"/>
              </a:ext>
            </a:extLst>
          </p:cNvPr>
          <p:cNvSpPr txBox="1"/>
          <p:nvPr/>
        </p:nvSpPr>
        <p:spPr>
          <a:xfrm>
            <a:off x="663234" y="592594"/>
            <a:ext cx="129234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3200" b="1" dirty="0"/>
              <a:t>Page</a:t>
            </a:r>
          </a:p>
          <a:p>
            <a:r>
              <a:rPr lang="da-DK" sz="3200" b="1" dirty="0"/>
              <a:t>Model</a:t>
            </a:r>
          </a:p>
        </p:txBody>
      </p:sp>
    </p:spTree>
    <p:extLst>
      <p:ext uri="{BB962C8B-B14F-4D97-AF65-F5344CB8AC3E}">
        <p14:creationId xmlns:p14="http://schemas.microsoft.com/office/powerpoint/2010/main" val="343242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10A9B8DE-39E5-E981-CFF1-1B6F90B51DCC}"/>
              </a:ext>
            </a:extLst>
          </p:cNvPr>
          <p:cNvSpPr/>
          <p:nvPr/>
        </p:nvSpPr>
        <p:spPr>
          <a:xfrm>
            <a:off x="2358147" y="371724"/>
            <a:ext cx="6865365" cy="26586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@page</a:t>
            </a:r>
          </a:p>
          <a:p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@model </a:t>
            </a:r>
            <a:r>
              <a:rPr lang="da-DK" sz="20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ViewMsgModel</a:t>
            </a:r>
            <a:endParaRPr lang="da-DK" sz="2000" b="1" dirty="0">
              <a:solidFill>
                <a:srgbClr val="FFFF00"/>
              </a:solidFill>
              <a:latin typeface="Cascadia Mono" panose="020B0609020000020004" pitchFamily="49" charset="0"/>
            </a:endParaRPr>
          </a:p>
          <a:p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@{</a:t>
            </a:r>
          </a:p>
          <a:p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}</a:t>
            </a:r>
          </a:p>
          <a:p>
            <a:endParaRPr lang="da-DK" sz="2000" b="1" dirty="0">
              <a:solidFill>
                <a:schemeClr val="bg1">
                  <a:lumMod val="95000"/>
                </a:schemeClr>
              </a:solidFill>
              <a:latin typeface="Cascadia Mono" panose="020B0609020000020004" pitchFamily="49" charset="0"/>
            </a:endParaRPr>
          </a:p>
          <a:p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&lt;h1&gt;</a:t>
            </a:r>
            <a:r>
              <a:rPr lang="da-DK" sz="2000" b="1" dirty="0">
                <a:solidFill>
                  <a:srgbClr val="FFFF00"/>
                </a:solidFill>
                <a:latin typeface="Cascadia Mono" panose="020B0609020000020004" pitchFamily="49" charset="0"/>
              </a:rPr>
              <a:t>@Model.Message</a:t>
            </a:r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&lt;/h1&gt;</a:t>
            </a:r>
            <a:endParaRPr lang="da-DK" sz="2000" b="1" dirty="0">
              <a:solidFill>
                <a:schemeClr val="bg1">
                  <a:lumMod val="95000"/>
                </a:schemeClr>
              </a:solidFill>
            </a:endParaRPr>
          </a:p>
          <a:p>
            <a:endParaRPr lang="da-DK" sz="20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7D1DA501-EFEC-07C9-79CD-BB4D275F3266}"/>
              </a:ext>
            </a:extLst>
          </p:cNvPr>
          <p:cNvSpPr/>
          <p:nvPr/>
        </p:nvSpPr>
        <p:spPr>
          <a:xfrm>
            <a:off x="2358147" y="3499239"/>
            <a:ext cx="6865365" cy="289714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public class </a:t>
            </a:r>
            <a:r>
              <a:rPr lang="da-DK" sz="20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ViewMsgModel</a:t>
            </a:r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: </a:t>
            </a:r>
            <a:r>
              <a:rPr lang="da-DK" sz="20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PageModel</a:t>
            </a:r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</a:t>
            </a:r>
          </a:p>
          <a:p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private </a:t>
            </a:r>
            <a:r>
              <a:rPr lang="da-DK" sz="20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IMsgService</a:t>
            </a:r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_</a:t>
            </a:r>
            <a:r>
              <a:rPr lang="da-DK" sz="2000" b="1" dirty="0" err="1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msgService</a:t>
            </a:r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;</a:t>
            </a:r>
          </a:p>
          <a:p>
            <a:endParaRPr lang="da-DK" sz="2000" b="1" dirty="0">
              <a:solidFill>
                <a:schemeClr val="bg1">
                  <a:lumMod val="95000"/>
                </a:schemeClr>
              </a:solidFill>
              <a:latin typeface="Cascadia Mono" panose="020B0609020000020004" pitchFamily="49" charset="0"/>
            </a:endParaRPr>
          </a:p>
          <a:p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public string </a:t>
            </a:r>
            <a:r>
              <a:rPr lang="da-DK" sz="2000" b="1" dirty="0">
                <a:solidFill>
                  <a:srgbClr val="FFFF00"/>
                </a:solidFill>
                <a:latin typeface="Cascadia Mono" panose="020B0609020000020004" pitchFamily="49" charset="0"/>
              </a:rPr>
              <a:t>Message</a:t>
            </a:r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{ </a:t>
            </a:r>
            <a:r>
              <a:rPr lang="da-DK" sz="2000" b="1" dirty="0" err="1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get</a:t>
            </a:r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}</a:t>
            </a:r>
            <a:endParaRPr lang="da-DK" sz="2000" b="1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22" name="Lige pilforbindelse 21">
            <a:extLst>
              <a:ext uri="{FF2B5EF4-FFF2-40B4-BE49-F238E27FC236}">
                <a16:creationId xmlns:a16="http://schemas.microsoft.com/office/drawing/2014/main" id="{46559FE8-515A-B4F3-9571-459E313E9F73}"/>
              </a:ext>
            </a:extLst>
          </p:cNvPr>
          <p:cNvCxnSpPr>
            <a:cxnSpLocks/>
          </p:cNvCxnSpPr>
          <p:nvPr/>
        </p:nvCxnSpPr>
        <p:spPr>
          <a:xfrm>
            <a:off x="4536141" y="2286000"/>
            <a:ext cx="744071" cy="2393576"/>
          </a:xfrm>
          <a:prstGeom prst="straightConnector1">
            <a:avLst/>
          </a:prstGeom>
          <a:ln w="762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8168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89792108-48A8-AAC1-ADFE-D83915D1ED67}"/>
              </a:ext>
            </a:extLst>
          </p:cNvPr>
          <p:cNvSpPr/>
          <p:nvPr/>
        </p:nvSpPr>
        <p:spPr>
          <a:xfrm>
            <a:off x="2291887" y="592594"/>
            <a:ext cx="8794723" cy="5592361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public class </a:t>
            </a:r>
            <a:r>
              <a:rPr lang="da-DK" sz="28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ViewMsgModel</a:t>
            </a:r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: </a:t>
            </a:r>
            <a:r>
              <a:rPr lang="da-DK" sz="28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PageModel</a:t>
            </a:r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</a:t>
            </a:r>
          </a:p>
          <a:p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private </a:t>
            </a:r>
            <a:r>
              <a:rPr lang="da-DK" sz="28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IMsgService</a:t>
            </a:r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_</a:t>
            </a:r>
            <a:r>
              <a:rPr lang="da-DK" sz="2800" b="1" dirty="0" err="1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msgService</a:t>
            </a:r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;</a:t>
            </a:r>
          </a:p>
          <a:p>
            <a:endParaRPr lang="da-DK" sz="2800" b="1" dirty="0">
              <a:solidFill>
                <a:schemeClr val="bg1">
                  <a:lumMod val="95000"/>
                </a:schemeClr>
              </a:solidFill>
              <a:latin typeface="Cascadia Mono" panose="020B0609020000020004" pitchFamily="49" charset="0"/>
            </a:endParaRPr>
          </a:p>
          <a:p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public </a:t>
            </a:r>
            <a:r>
              <a:rPr lang="da-DK" sz="28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ViewMsgModel</a:t>
            </a:r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(</a:t>
            </a:r>
            <a:r>
              <a:rPr lang="da-DK" sz="28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IMsgService</a:t>
            </a:r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</a:t>
            </a:r>
            <a:r>
              <a:rPr lang="da-DK" sz="2800" b="1" dirty="0" err="1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msgSrv</a:t>
            </a:r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) </a:t>
            </a:r>
          </a:p>
          <a:p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{</a:t>
            </a:r>
          </a:p>
          <a:p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  _</a:t>
            </a:r>
            <a:r>
              <a:rPr lang="da-DK" sz="2800" b="1" dirty="0" err="1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msgService</a:t>
            </a:r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= </a:t>
            </a:r>
            <a:r>
              <a:rPr lang="da-DK" sz="2800" b="1" dirty="0" err="1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msgSrv</a:t>
            </a:r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}</a:t>
            </a:r>
          </a:p>
          <a:p>
            <a:endParaRPr lang="da-DK" sz="2800" b="1" dirty="0">
              <a:solidFill>
                <a:schemeClr val="bg1">
                  <a:lumMod val="95000"/>
                </a:schemeClr>
              </a:solidFill>
              <a:latin typeface="Cascadia Mono" panose="020B0609020000020004" pitchFamily="49" charset="0"/>
            </a:endParaRPr>
          </a:p>
          <a:p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public string </a:t>
            </a:r>
            <a:r>
              <a:rPr lang="da-DK" sz="2800" b="1" dirty="0">
                <a:solidFill>
                  <a:srgbClr val="FFFF00"/>
                </a:solidFill>
                <a:latin typeface="Cascadia Mono" panose="020B0609020000020004" pitchFamily="49" charset="0"/>
              </a:rPr>
              <a:t>Message</a:t>
            </a:r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{ </a:t>
            </a:r>
            <a:r>
              <a:rPr lang="da-DK" sz="2800" b="1" dirty="0" err="1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get</a:t>
            </a:r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}</a:t>
            </a:r>
            <a:endParaRPr lang="da-DK" sz="28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E145C3F0-4B01-8F1F-5B25-26D6A5DC06EC}"/>
              </a:ext>
            </a:extLst>
          </p:cNvPr>
          <p:cNvSpPr txBox="1"/>
          <p:nvPr/>
        </p:nvSpPr>
        <p:spPr>
          <a:xfrm>
            <a:off x="663234" y="592594"/>
            <a:ext cx="129234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3200" b="1" dirty="0"/>
              <a:t>Page</a:t>
            </a:r>
          </a:p>
          <a:p>
            <a:r>
              <a:rPr lang="da-DK" sz="3200" b="1" dirty="0"/>
              <a:t>Model</a:t>
            </a:r>
          </a:p>
        </p:txBody>
      </p:sp>
    </p:spTree>
    <p:extLst>
      <p:ext uri="{BB962C8B-B14F-4D97-AF65-F5344CB8AC3E}">
        <p14:creationId xmlns:p14="http://schemas.microsoft.com/office/powerpoint/2010/main" val="2021757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89792108-48A8-AAC1-ADFE-D83915D1ED67}"/>
              </a:ext>
            </a:extLst>
          </p:cNvPr>
          <p:cNvSpPr/>
          <p:nvPr/>
        </p:nvSpPr>
        <p:spPr>
          <a:xfrm>
            <a:off x="2291887" y="592594"/>
            <a:ext cx="8794723" cy="5592361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public class </a:t>
            </a:r>
            <a:r>
              <a:rPr lang="da-DK" sz="20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ViewMsgModel</a:t>
            </a:r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: </a:t>
            </a:r>
            <a:r>
              <a:rPr lang="da-DK" sz="20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PageModel</a:t>
            </a:r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</a:t>
            </a:r>
          </a:p>
          <a:p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private </a:t>
            </a:r>
            <a:r>
              <a:rPr lang="da-DK" sz="20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IMsgService</a:t>
            </a:r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_</a:t>
            </a:r>
            <a:r>
              <a:rPr lang="da-DK" sz="2000" b="1" dirty="0" err="1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msgService</a:t>
            </a:r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;</a:t>
            </a:r>
          </a:p>
          <a:p>
            <a:endParaRPr lang="da-DK" sz="2000" b="1" dirty="0">
              <a:solidFill>
                <a:schemeClr val="bg1">
                  <a:lumMod val="95000"/>
                </a:schemeClr>
              </a:solidFill>
              <a:latin typeface="Cascadia Mono" panose="020B0609020000020004" pitchFamily="49" charset="0"/>
            </a:endParaRPr>
          </a:p>
          <a:p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public </a:t>
            </a:r>
            <a:r>
              <a:rPr lang="da-DK" sz="20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ViewMsgModel</a:t>
            </a:r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(</a:t>
            </a:r>
            <a:r>
              <a:rPr lang="da-DK" sz="20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IMsgService</a:t>
            </a:r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</a:t>
            </a:r>
            <a:r>
              <a:rPr lang="da-DK" sz="2000" b="1" dirty="0" err="1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msgSrv</a:t>
            </a:r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) </a:t>
            </a:r>
          </a:p>
          <a:p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{</a:t>
            </a:r>
          </a:p>
          <a:p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  _</a:t>
            </a:r>
            <a:r>
              <a:rPr lang="da-DK" sz="2000" b="1" dirty="0" err="1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msgService</a:t>
            </a:r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= </a:t>
            </a:r>
            <a:r>
              <a:rPr lang="da-DK" sz="2000" b="1" dirty="0" err="1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msgSrv</a:t>
            </a:r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}</a:t>
            </a:r>
          </a:p>
          <a:p>
            <a:endParaRPr lang="da-DK" sz="2000" b="1" dirty="0">
              <a:solidFill>
                <a:schemeClr val="bg1">
                  <a:lumMod val="95000"/>
                </a:schemeClr>
              </a:solidFill>
              <a:latin typeface="Cascadia Mono" panose="020B0609020000020004" pitchFamily="49" charset="0"/>
            </a:endParaRPr>
          </a:p>
          <a:p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public string </a:t>
            </a:r>
            <a:r>
              <a:rPr lang="da-DK" sz="2000" b="1" dirty="0">
                <a:solidFill>
                  <a:srgbClr val="FFFF00"/>
                </a:solidFill>
                <a:latin typeface="Cascadia Mono" panose="020B0609020000020004" pitchFamily="49" charset="0"/>
              </a:rPr>
              <a:t>Message</a:t>
            </a:r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{ get; private set;}</a:t>
            </a:r>
          </a:p>
          <a:p>
            <a:endParaRPr lang="da-DK" sz="2000" b="1" dirty="0">
              <a:solidFill>
                <a:schemeClr val="bg1">
                  <a:lumMod val="95000"/>
                </a:schemeClr>
              </a:solidFill>
              <a:latin typeface="Cascadia Mono" panose="020B0609020000020004" pitchFamily="49" charset="0"/>
            </a:endParaRPr>
          </a:p>
          <a:p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public </a:t>
            </a:r>
            <a:r>
              <a:rPr lang="da-DK" sz="2000" b="1" dirty="0" err="1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void</a:t>
            </a:r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</a:t>
            </a:r>
            <a:r>
              <a:rPr lang="da-DK" sz="20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OnGet</a:t>
            </a:r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{</a:t>
            </a:r>
          </a:p>
          <a:p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  </a:t>
            </a:r>
            <a:r>
              <a:rPr lang="da-DK" sz="2000" b="1" dirty="0">
                <a:solidFill>
                  <a:srgbClr val="FFFF00"/>
                </a:solidFill>
                <a:latin typeface="Cascadia Mono" panose="020B0609020000020004" pitchFamily="49" charset="0"/>
              </a:rPr>
              <a:t>Message</a:t>
            </a:r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= _</a:t>
            </a:r>
            <a:r>
              <a:rPr lang="da-DK" sz="2000" b="1" dirty="0" err="1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msgService.</a:t>
            </a:r>
            <a:r>
              <a:rPr lang="da-DK" sz="20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GetMessage</a:t>
            </a:r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}</a:t>
            </a:r>
          </a:p>
          <a:p>
            <a:r>
              <a:rPr lang="da-DK" sz="20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}</a:t>
            </a:r>
            <a:endParaRPr lang="da-DK" sz="20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E145C3F0-4B01-8F1F-5B25-26D6A5DC06EC}"/>
              </a:ext>
            </a:extLst>
          </p:cNvPr>
          <p:cNvSpPr txBox="1"/>
          <p:nvPr/>
        </p:nvSpPr>
        <p:spPr>
          <a:xfrm>
            <a:off x="663234" y="592594"/>
            <a:ext cx="129234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3200" b="1" dirty="0"/>
              <a:t>Page</a:t>
            </a:r>
          </a:p>
          <a:p>
            <a:r>
              <a:rPr lang="da-DK" sz="3200" b="1" dirty="0"/>
              <a:t>Model</a:t>
            </a:r>
          </a:p>
        </p:txBody>
      </p:sp>
    </p:spTree>
    <p:extLst>
      <p:ext uri="{BB962C8B-B14F-4D97-AF65-F5344CB8AC3E}">
        <p14:creationId xmlns:p14="http://schemas.microsoft.com/office/powerpoint/2010/main" val="509417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89792108-48A8-AAC1-ADFE-D83915D1ED67}"/>
              </a:ext>
            </a:extLst>
          </p:cNvPr>
          <p:cNvSpPr/>
          <p:nvPr/>
        </p:nvSpPr>
        <p:spPr>
          <a:xfrm>
            <a:off x="2291887" y="592594"/>
            <a:ext cx="8794723" cy="5592361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public class </a:t>
            </a:r>
            <a:r>
              <a:rPr lang="da-DK" sz="28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MsgService</a:t>
            </a:r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: </a:t>
            </a:r>
            <a:r>
              <a:rPr lang="da-DK" sz="28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IMsgService</a:t>
            </a:r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</a:t>
            </a:r>
          </a:p>
          <a:p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public string </a:t>
            </a:r>
            <a:r>
              <a:rPr lang="da-DK" sz="28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GetMessage</a:t>
            </a:r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{</a:t>
            </a:r>
          </a:p>
          <a:p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  …</a:t>
            </a:r>
          </a:p>
          <a:p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}</a:t>
            </a:r>
          </a:p>
          <a:p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}</a:t>
            </a:r>
            <a:endParaRPr lang="da-DK" sz="28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E145C3F0-4B01-8F1F-5B25-26D6A5DC06EC}"/>
              </a:ext>
            </a:extLst>
          </p:cNvPr>
          <p:cNvSpPr txBox="1"/>
          <p:nvPr/>
        </p:nvSpPr>
        <p:spPr>
          <a:xfrm>
            <a:off x="663234" y="592594"/>
            <a:ext cx="14081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3200" b="1" dirty="0"/>
              <a:t>Service</a:t>
            </a:r>
          </a:p>
        </p:txBody>
      </p:sp>
    </p:spTree>
    <p:extLst>
      <p:ext uri="{BB962C8B-B14F-4D97-AF65-F5344CB8AC3E}">
        <p14:creationId xmlns:p14="http://schemas.microsoft.com/office/powerpoint/2010/main" val="642523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7D1DA501-EFEC-07C9-79CD-BB4D275F3266}"/>
              </a:ext>
            </a:extLst>
          </p:cNvPr>
          <p:cNvSpPr/>
          <p:nvPr/>
        </p:nvSpPr>
        <p:spPr>
          <a:xfrm>
            <a:off x="2283050" y="126671"/>
            <a:ext cx="6865365" cy="4096356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public class </a:t>
            </a:r>
            <a:r>
              <a:rPr lang="da-DK" sz="16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ViewMsgModel</a:t>
            </a:r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: </a:t>
            </a:r>
            <a:r>
              <a:rPr lang="da-DK" sz="16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PageModel</a:t>
            </a:r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</a:t>
            </a:r>
          </a:p>
          <a:p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private </a:t>
            </a:r>
            <a:r>
              <a:rPr lang="da-DK" sz="16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IMsgService</a:t>
            </a:r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_</a:t>
            </a:r>
            <a:r>
              <a:rPr lang="da-DK" sz="1600" b="1" dirty="0" err="1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msgService</a:t>
            </a:r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;</a:t>
            </a:r>
          </a:p>
          <a:p>
            <a:endParaRPr lang="da-DK" sz="1600" b="1" dirty="0">
              <a:solidFill>
                <a:schemeClr val="bg1">
                  <a:lumMod val="95000"/>
                </a:schemeClr>
              </a:solidFill>
              <a:latin typeface="Cascadia Mono" panose="020B0609020000020004" pitchFamily="49" charset="0"/>
            </a:endParaRPr>
          </a:p>
          <a:p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public </a:t>
            </a:r>
            <a:r>
              <a:rPr lang="da-DK" sz="16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ViewMsgModel</a:t>
            </a:r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(</a:t>
            </a:r>
            <a:r>
              <a:rPr lang="da-DK" sz="16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IMsgService</a:t>
            </a:r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</a:t>
            </a:r>
            <a:r>
              <a:rPr lang="da-DK" sz="1600" b="1" dirty="0" err="1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msgSrv</a:t>
            </a:r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) </a:t>
            </a:r>
          </a:p>
          <a:p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{</a:t>
            </a:r>
          </a:p>
          <a:p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  _</a:t>
            </a:r>
            <a:r>
              <a:rPr lang="da-DK" sz="1600" b="1" dirty="0" err="1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msgService</a:t>
            </a:r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= </a:t>
            </a:r>
            <a:r>
              <a:rPr lang="da-DK" sz="1600" b="1" dirty="0" err="1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msgSrv</a:t>
            </a:r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}</a:t>
            </a:r>
          </a:p>
          <a:p>
            <a:endParaRPr lang="da-DK" sz="1600" b="1" dirty="0">
              <a:solidFill>
                <a:schemeClr val="bg1">
                  <a:lumMod val="95000"/>
                </a:schemeClr>
              </a:solidFill>
              <a:latin typeface="Cascadia Mono" panose="020B0609020000020004" pitchFamily="49" charset="0"/>
            </a:endParaRPr>
          </a:p>
          <a:p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public string </a:t>
            </a:r>
            <a:r>
              <a:rPr lang="da-DK" sz="1600" b="1" dirty="0">
                <a:solidFill>
                  <a:srgbClr val="FFFF00"/>
                </a:solidFill>
                <a:latin typeface="Cascadia Mono" panose="020B0609020000020004" pitchFamily="49" charset="0"/>
              </a:rPr>
              <a:t>Message</a:t>
            </a:r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{ </a:t>
            </a:r>
            <a:r>
              <a:rPr lang="da-DK" sz="1600" b="1" dirty="0" err="1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get</a:t>
            </a:r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; }</a:t>
            </a:r>
          </a:p>
          <a:p>
            <a:endParaRPr lang="da-DK" sz="1600" b="1" dirty="0">
              <a:solidFill>
                <a:schemeClr val="bg1">
                  <a:lumMod val="95000"/>
                </a:schemeClr>
              </a:solidFill>
              <a:latin typeface="Cascadia Mono" panose="020B0609020000020004" pitchFamily="49" charset="0"/>
            </a:endParaRPr>
          </a:p>
          <a:p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public </a:t>
            </a:r>
            <a:r>
              <a:rPr lang="da-DK" sz="1600" b="1" dirty="0" err="1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void</a:t>
            </a:r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</a:t>
            </a:r>
            <a:r>
              <a:rPr lang="da-DK" sz="16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OnGet</a:t>
            </a:r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{</a:t>
            </a:r>
          </a:p>
          <a:p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  </a:t>
            </a:r>
            <a:r>
              <a:rPr lang="da-DK" sz="1600" b="1" dirty="0">
                <a:solidFill>
                  <a:srgbClr val="FFFF00"/>
                </a:solidFill>
                <a:latin typeface="Cascadia Mono" panose="020B0609020000020004" pitchFamily="49" charset="0"/>
              </a:rPr>
              <a:t>Message</a:t>
            </a:r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= _</a:t>
            </a:r>
            <a:r>
              <a:rPr lang="da-DK" sz="1600" b="1" dirty="0" err="1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msgService.</a:t>
            </a:r>
            <a:r>
              <a:rPr lang="da-DK" sz="16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GetMessage</a:t>
            </a:r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}</a:t>
            </a:r>
          </a:p>
          <a:p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}</a:t>
            </a:r>
            <a:endParaRPr lang="da-DK" sz="16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6CA6C72E-DC9F-C305-E123-64CFBBF62F7B}"/>
              </a:ext>
            </a:extLst>
          </p:cNvPr>
          <p:cNvSpPr/>
          <p:nvPr/>
        </p:nvSpPr>
        <p:spPr>
          <a:xfrm>
            <a:off x="2283049" y="4579849"/>
            <a:ext cx="6865366" cy="1860711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public class </a:t>
            </a:r>
            <a:r>
              <a:rPr lang="da-DK" sz="16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MsgService</a:t>
            </a:r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: </a:t>
            </a:r>
            <a:r>
              <a:rPr lang="da-DK" sz="16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IMsgService</a:t>
            </a:r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</a:t>
            </a:r>
          </a:p>
          <a:p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public string </a:t>
            </a:r>
            <a:r>
              <a:rPr lang="da-DK" sz="16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GetMessage</a:t>
            </a:r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() { … }</a:t>
            </a:r>
          </a:p>
          <a:p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}</a:t>
            </a:r>
            <a:endParaRPr lang="da-DK" sz="1600" b="1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27" name="Lige pilforbindelse 26">
            <a:extLst>
              <a:ext uri="{FF2B5EF4-FFF2-40B4-BE49-F238E27FC236}">
                <a16:creationId xmlns:a16="http://schemas.microsoft.com/office/drawing/2014/main" id="{CF7DAADC-6558-20C1-242A-D67CD65137A3}"/>
              </a:ext>
            </a:extLst>
          </p:cNvPr>
          <p:cNvCxnSpPr>
            <a:cxnSpLocks/>
          </p:cNvCxnSpPr>
          <p:nvPr/>
        </p:nvCxnSpPr>
        <p:spPr>
          <a:xfrm flipH="1">
            <a:off x="5002306" y="3615408"/>
            <a:ext cx="1184073" cy="1503439"/>
          </a:xfrm>
          <a:prstGeom prst="straightConnector1">
            <a:avLst/>
          </a:prstGeom>
          <a:ln w="762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8626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7A18CD6-FB2B-6635-4D86-0A24713FF2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4851" y="676081"/>
            <a:ext cx="7036905" cy="5629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6968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89792108-48A8-AAC1-ADFE-D83915D1ED67}"/>
              </a:ext>
            </a:extLst>
          </p:cNvPr>
          <p:cNvSpPr/>
          <p:nvPr/>
        </p:nvSpPr>
        <p:spPr>
          <a:xfrm>
            <a:off x="820214" y="1350016"/>
            <a:ext cx="10431224" cy="463086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…</a:t>
            </a:r>
          </a:p>
          <a:p>
            <a:r>
              <a:rPr lang="da-DK" sz="2400" b="1" dirty="0" err="1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builder.Services.</a:t>
            </a:r>
            <a:r>
              <a:rPr lang="da-DK" sz="2400" b="1" dirty="0" err="1">
                <a:solidFill>
                  <a:srgbClr val="FFFF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AddRazorPages</a:t>
            </a:r>
            <a:r>
              <a:rPr lang="da-DK" sz="24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(); </a:t>
            </a:r>
            <a:r>
              <a:rPr lang="da-DK" sz="2400" b="1" dirty="0">
                <a:solidFill>
                  <a:srgbClr val="92D05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// </a:t>
            </a:r>
            <a:r>
              <a:rPr lang="da-DK" sz="2400" b="1" dirty="0" err="1">
                <a:solidFill>
                  <a:srgbClr val="92D05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already</a:t>
            </a:r>
            <a:r>
              <a:rPr lang="da-DK" sz="2400" b="1" dirty="0">
                <a:solidFill>
                  <a:srgbClr val="92D05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da-DK" sz="2400" b="1" dirty="0" err="1">
                <a:solidFill>
                  <a:srgbClr val="92D05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there</a:t>
            </a:r>
            <a:endParaRPr lang="da-DK" sz="2400" b="1" dirty="0">
              <a:solidFill>
                <a:srgbClr val="92D05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da-DK" sz="2400" b="1" dirty="0">
              <a:solidFill>
                <a:schemeClr val="bg1">
                  <a:lumMod val="95000"/>
                </a:schemeClr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da-DK" sz="2400" b="1" dirty="0" err="1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builder.Services.</a:t>
            </a:r>
            <a:r>
              <a:rPr lang="da-DK" sz="2400" b="1" dirty="0" err="1">
                <a:solidFill>
                  <a:srgbClr val="FFFF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AddSingleton</a:t>
            </a:r>
            <a:r>
              <a:rPr lang="da-DK" sz="24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&lt;</a:t>
            </a:r>
            <a:r>
              <a:rPr lang="da-DK" sz="2400" b="1" dirty="0" err="1">
                <a:solidFill>
                  <a:srgbClr val="FFFF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IMsgService</a:t>
            </a:r>
            <a:r>
              <a:rPr lang="da-DK" sz="2400" b="1" dirty="0" err="1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da-DK" sz="2400" b="1" dirty="0" err="1">
                <a:solidFill>
                  <a:srgbClr val="FFFF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MsgService</a:t>
            </a:r>
            <a:r>
              <a:rPr lang="da-DK" sz="24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&gt;();</a:t>
            </a:r>
          </a:p>
          <a:p>
            <a:r>
              <a:rPr lang="da-DK" sz="24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…</a:t>
            </a: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E145C3F0-4B01-8F1F-5B25-26D6A5DC06EC}"/>
              </a:ext>
            </a:extLst>
          </p:cNvPr>
          <p:cNvSpPr txBox="1"/>
          <p:nvPr/>
        </p:nvSpPr>
        <p:spPr>
          <a:xfrm>
            <a:off x="113809" y="592594"/>
            <a:ext cx="20749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3200" b="1" dirty="0"/>
              <a:t>Program.cs</a:t>
            </a:r>
          </a:p>
        </p:txBody>
      </p:sp>
    </p:spTree>
    <p:extLst>
      <p:ext uri="{BB962C8B-B14F-4D97-AF65-F5344CB8AC3E}">
        <p14:creationId xmlns:p14="http://schemas.microsoft.com/office/powerpoint/2010/main" val="590325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89792108-48A8-AAC1-ADFE-D83915D1ED67}"/>
              </a:ext>
            </a:extLst>
          </p:cNvPr>
          <p:cNvSpPr/>
          <p:nvPr/>
        </p:nvSpPr>
        <p:spPr>
          <a:xfrm>
            <a:off x="702480" y="1342168"/>
            <a:ext cx="10372358" cy="48427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@page</a:t>
            </a:r>
          </a:p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@model </a:t>
            </a:r>
            <a:r>
              <a:rPr lang="en-US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SetMsgModel</a:t>
            </a:r>
            <a:endParaRPr lang="en-US" b="1" dirty="0">
              <a:solidFill>
                <a:srgbClr val="FFFF00"/>
              </a:solidFill>
              <a:latin typeface="Cascadia Mono" panose="020B0609020000020004" pitchFamily="49" charset="0"/>
            </a:endParaRPr>
          </a:p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@{</a:t>
            </a:r>
          </a:p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}</a:t>
            </a:r>
          </a:p>
          <a:p>
            <a:endParaRPr lang="en-US" b="1" dirty="0">
              <a:solidFill>
                <a:schemeClr val="bg1">
                  <a:lumMod val="95000"/>
                </a:schemeClr>
              </a:solidFill>
              <a:latin typeface="Cascadia Mono" panose="020B0609020000020004" pitchFamily="49" charset="0"/>
            </a:endParaRPr>
          </a:p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&lt;form method="post"&gt;</a:t>
            </a:r>
          </a:p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  &lt;div class="form-group"&gt;</a:t>
            </a:r>
          </a:p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      &lt;label </a:t>
            </a:r>
            <a:r>
              <a:rPr lang="en-US" b="1" dirty="0">
                <a:solidFill>
                  <a:srgbClr val="FFC000"/>
                </a:solidFill>
                <a:latin typeface="Cascadia Mono" panose="020B0609020000020004" pitchFamily="49" charset="0"/>
              </a:rPr>
              <a:t>asp-for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="</a:t>
            </a:r>
            <a:r>
              <a:rPr lang="en-US" b="1" dirty="0">
                <a:solidFill>
                  <a:srgbClr val="FFFF00"/>
                </a:solidFill>
                <a:latin typeface="Cascadia Mono" panose="020B0609020000020004" pitchFamily="49" charset="0"/>
              </a:rPr>
              <a:t>@</a:t>
            </a:r>
            <a:r>
              <a:rPr lang="en-US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Model.Message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" class="control-label"&gt;&lt;/label&gt;</a:t>
            </a:r>
          </a:p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      &lt;</a:t>
            </a:r>
            <a:r>
              <a:rPr lang="en-US" b="1" dirty="0">
                <a:solidFill>
                  <a:srgbClr val="FFFF00"/>
                </a:solidFill>
                <a:latin typeface="Cascadia Mono" panose="020B0609020000020004" pitchFamily="49" charset="0"/>
              </a:rPr>
              <a:t>input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</a:t>
            </a:r>
            <a:r>
              <a:rPr lang="en-US" b="1" dirty="0">
                <a:solidFill>
                  <a:srgbClr val="FFC000"/>
                </a:solidFill>
                <a:latin typeface="Cascadia Mono" panose="020B0609020000020004" pitchFamily="49" charset="0"/>
              </a:rPr>
              <a:t>asp-for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="</a:t>
            </a:r>
            <a:r>
              <a:rPr lang="en-US" b="1" dirty="0">
                <a:solidFill>
                  <a:srgbClr val="FFFF00"/>
                </a:solidFill>
                <a:latin typeface="Cascadia Mono" panose="020B0609020000020004" pitchFamily="49" charset="0"/>
              </a:rPr>
              <a:t>@</a:t>
            </a:r>
            <a:r>
              <a:rPr lang="en-US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Model.Message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" class="form-control" /&gt;</a:t>
            </a:r>
          </a:p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  &lt;/div&gt;</a:t>
            </a:r>
          </a:p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  &lt;</a:t>
            </a:r>
            <a:r>
              <a:rPr lang="en-US" b="1" dirty="0">
                <a:solidFill>
                  <a:srgbClr val="FFFF00"/>
                </a:solidFill>
                <a:latin typeface="Cascadia Mono" panose="020B0609020000020004" pitchFamily="49" charset="0"/>
              </a:rPr>
              <a:t>input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type="submit" value="Save" class="</a:t>
            </a:r>
            <a:r>
              <a:rPr lang="en-US" b="1" dirty="0" err="1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btn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</a:t>
            </a:r>
            <a:r>
              <a:rPr lang="en-US" b="1" dirty="0" err="1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btn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-primary mt-3" /&gt;</a:t>
            </a:r>
          </a:p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&lt;/form&gt;</a:t>
            </a:r>
            <a:endParaRPr lang="da-DK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E145C3F0-4B01-8F1F-5B25-26D6A5DC06EC}"/>
              </a:ext>
            </a:extLst>
          </p:cNvPr>
          <p:cNvSpPr txBox="1"/>
          <p:nvPr/>
        </p:nvSpPr>
        <p:spPr>
          <a:xfrm>
            <a:off x="663234" y="592594"/>
            <a:ext cx="23165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3200" b="1" dirty="0"/>
              <a:t>Page  </a:t>
            </a:r>
            <a:r>
              <a:rPr lang="da-DK" sz="2400" b="1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da-DK" sz="2400" b="1" dirty="0" err="1">
                <a:solidFill>
                  <a:schemeClr val="bg1">
                    <a:lumMod val="50000"/>
                  </a:schemeClr>
                </a:solidFill>
              </a:rPr>
              <a:t>SetMsg</a:t>
            </a:r>
            <a:r>
              <a:rPr lang="da-DK" sz="24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66609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89792108-48A8-AAC1-ADFE-D83915D1ED67}"/>
              </a:ext>
            </a:extLst>
          </p:cNvPr>
          <p:cNvSpPr/>
          <p:nvPr/>
        </p:nvSpPr>
        <p:spPr>
          <a:xfrm>
            <a:off x="2303660" y="592594"/>
            <a:ext cx="8794723" cy="5592361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public class </a:t>
            </a:r>
            <a:r>
              <a:rPr lang="da-DK" sz="16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SetMsgModel</a:t>
            </a:r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: </a:t>
            </a:r>
            <a:r>
              <a:rPr lang="da-DK" sz="16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PageModel</a:t>
            </a:r>
            <a:endParaRPr lang="da-DK" sz="1600" b="1" dirty="0">
              <a:solidFill>
                <a:srgbClr val="FFFF00"/>
              </a:solidFill>
              <a:latin typeface="Cascadia Mono" panose="020B0609020000020004" pitchFamily="49" charset="0"/>
            </a:endParaRPr>
          </a:p>
          <a:p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{</a:t>
            </a:r>
          </a:p>
          <a:p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 private </a:t>
            </a:r>
            <a:r>
              <a:rPr lang="da-DK" sz="16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IMsgService</a:t>
            </a:r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_</a:t>
            </a:r>
            <a:r>
              <a:rPr lang="da-DK" sz="1600" b="1" dirty="0" err="1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msgService</a:t>
            </a:r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;</a:t>
            </a:r>
          </a:p>
          <a:p>
            <a:endParaRPr lang="da-DK" sz="1600" b="1" dirty="0">
              <a:solidFill>
                <a:schemeClr val="bg1">
                  <a:lumMod val="95000"/>
                </a:schemeClr>
              </a:solidFill>
              <a:latin typeface="Cascadia Mono" panose="020B0609020000020004" pitchFamily="49" charset="0"/>
            </a:endParaRPr>
          </a:p>
          <a:p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 public string </a:t>
            </a:r>
            <a:r>
              <a:rPr lang="da-DK" sz="1600" b="1" dirty="0">
                <a:solidFill>
                  <a:srgbClr val="FFFF00"/>
                </a:solidFill>
                <a:latin typeface="Cascadia Mono" panose="020B0609020000020004" pitchFamily="49" charset="0"/>
              </a:rPr>
              <a:t>Message</a:t>
            </a:r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{ </a:t>
            </a:r>
            <a:r>
              <a:rPr lang="da-DK" sz="1600" b="1" dirty="0" err="1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get</a:t>
            </a:r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; private set; }</a:t>
            </a:r>
          </a:p>
          <a:p>
            <a:endParaRPr lang="da-DK" sz="1600" b="1" dirty="0">
              <a:solidFill>
                <a:schemeClr val="bg1">
                  <a:lumMod val="95000"/>
                </a:schemeClr>
              </a:solidFill>
              <a:latin typeface="Cascadia Mono" panose="020B0609020000020004" pitchFamily="49" charset="0"/>
            </a:endParaRPr>
          </a:p>
          <a:p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 public </a:t>
            </a:r>
            <a:r>
              <a:rPr lang="da-DK" sz="16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SetMsgModel</a:t>
            </a:r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(</a:t>
            </a:r>
            <a:r>
              <a:rPr lang="da-DK" sz="16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IMsgService</a:t>
            </a:r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</a:t>
            </a:r>
            <a:r>
              <a:rPr lang="da-DK" sz="1600" b="1" dirty="0" err="1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msgSrv</a:t>
            </a:r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 {</a:t>
            </a:r>
          </a:p>
          <a:p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   _</a:t>
            </a:r>
            <a:r>
              <a:rPr lang="da-DK" sz="1600" b="1" dirty="0" err="1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msgService</a:t>
            </a:r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= </a:t>
            </a:r>
            <a:r>
              <a:rPr lang="da-DK" sz="1600" b="1" dirty="0" err="1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msgSrv</a:t>
            </a:r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 }</a:t>
            </a:r>
          </a:p>
          <a:p>
            <a:endParaRPr lang="da-DK" sz="1600" b="1" dirty="0">
              <a:solidFill>
                <a:schemeClr val="bg1">
                  <a:lumMod val="95000"/>
                </a:schemeClr>
              </a:solidFill>
              <a:latin typeface="Cascadia Mono" panose="020B0609020000020004" pitchFamily="49" charset="0"/>
            </a:endParaRPr>
          </a:p>
          <a:p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 public </a:t>
            </a:r>
            <a:r>
              <a:rPr lang="da-DK" sz="1600" b="1" dirty="0" err="1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void</a:t>
            </a:r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</a:t>
            </a:r>
            <a:r>
              <a:rPr lang="da-DK" sz="16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OnGet</a:t>
            </a:r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 {</a:t>
            </a:r>
          </a:p>
          <a:p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     </a:t>
            </a:r>
            <a:r>
              <a:rPr lang="da-DK" sz="1600" b="1" dirty="0">
                <a:solidFill>
                  <a:srgbClr val="FFFF00"/>
                </a:solidFill>
                <a:latin typeface="Cascadia Mono" panose="020B0609020000020004" pitchFamily="49" charset="0"/>
              </a:rPr>
              <a:t>Message</a:t>
            </a:r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= _</a:t>
            </a:r>
            <a:r>
              <a:rPr lang="da-DK" sz="1600" b="1" dirty="0" err="1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msgService.</a:t>
            </a:r>
            <a:r>
              <a:rPr lang="da-DK" sz="16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GetMessage</a:t>
            </a:r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 }</a:t>
            </a:r>
          </a:p>
          <a:p>
            <a:endParaRPr lang="da-DK" sz="1600" b="1" dirty="0">
              <a:solidFill>
                <a:schemeClr val="bg1">
                  <a:lumMod val="95000"/>
                </a:schemeClr>
              </a:solidFill>
              <a:latin typeface="Cascadia Mono" panose="020B0609020000020004" pitchFamily="49" charset="0"/>
            </a:endParaRPr>
          </a:p>
          <a:p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 public </a:t>
            </a:r>
            <a:r>
              <a:rPr lang="da-DK" sz="1600" b="1" dirty="0" err="1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void</a:t>
            </a:r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</a:t>
            </a:r>
            <a:r>
              <a:rPr lang="da-DK" sz="16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OnPost</a:t>
            </a:r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() </a:t>
            </a:r>
          </a:p>
          <a:p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 {</a:t>
            </a:r>
          </a:p>
          <a:p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   _</a:t>
            </a:r>
            <a:r>
              <a:rPr lang="da-DK" sz="1600" b="1" dirty="0" err="1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msgService.</a:t>
            </a:r>
            <a:r>
              <a:rPr lang="da-DK" sz="16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SetMessage</a:t>
            </a:r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(</a:t>
            </a:r>
            <a:r>
              <a:rPr lang="da-DK" sz="1600" b="1" dirty="0">
                <a:solidFill>
                  <a:srgbClr val="FFFF00"/>
                </a:solidFill>
                <a:latin typeface="Cascadia Mono" panose="020B0609020000020004" pitchFamily="49" charset="0"/>
              </a:rPr>
              <a:t>Message</a:t>
            </a:r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 }</a:t>
            </a:r>
          </a:p>
          <a:p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}</a:t>
            </a:r>
            <a:endParaRPr lang="da-DK" sz="16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E145C3F0-4B01-8F1F-5B25-26D6A5DC06EC}"/>
              </a:ext>
            </a:extLst>
          </p:cNvPr>
          <p:cNvSpPr txBox="1"/>
          <p:nvPr/>
        </p:nvSpPr>
        <p:spPr>
          <a:xfrm>
            <a:off x="663234" y="592594"/>
            <a:ext cx="129234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3200" b="1" dirty="0"/>
              <a:t>Page</a:t>
            </a:r>
          </a:p>
          <a:p>
            <a:r>
              <a:rPr lang="da-DK" sz="3200" b="1" dirty="0"/>
              <a:t>Model</a:t>
            </a:r>
          </a:p>
        </p:txBody>
      </p:sp>
    </p:spTree>
    <p:extLst>
      <p:ext uri="{BB962C8B-B14F-4D97-AF65-F5344CB8AC3E}">
        <p14:creationId xmlns:p14="http://schemas.microsoft.com/office/powerpoint/2010/main" val="2080637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89792108-48A8-AAC1-ADFE-D83915D1ED67}"/>
              </a:ext>
            </a:extLst>
          </p:cNvPr>
          <p:cNvSpPr/>
          <p:nvPr/>
        </p:nvSpPr>
        <p:spPr>
          <a:xfrm>
            <a:off x="2291887" y="592594"/>
            <a:ext cx="8794723" cy="559236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public interface </a:t>
            </a:r>
            <a:r>
              <a:rPr lang="da-DK" sz="28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IMsgService</a:t>
            </a:r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</a:t>
            </a:r>
          </a:p>
          <a:p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string </a:t>
            </a:r>
            <a:r>
              <a:rPr lang="da-DK" sz="28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GetMessage</a:t>
            </a:r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</a:t>
            </a:r>
            <a:r>
              <a:rPr lang="da-DK" sz="2800" b="1" dirty="0" err="1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void</a:t>
            </a:r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</a:t>
            </a:r>
            <a:r>
              <a:rPr lang="da-DK" sz="28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SetMessage</a:t>
            </a:r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(string </a:t>
            </a:r>
            <a:r>
              <a:rPr lang="da-DK" sz="2800" b="1" dirty="0">
                <a:solidFill>
                  <a:srgbClr val="FFFF00"/>
                </a:solidFill>
                <a:latin typeface="Cascadia Mono" panose="020B0609020000020004" pitchFamily="49" charset="0"/>
              </a:rPr>
              <a:t>message</a:t>
            </a:r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da-DK" sz="28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}</a:t>
            </a:r>
            <a:endParaRPr lang="da-DK" sz="28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E145C3F0-4B01-8F1F-5B25-26D6A5DC06EC}"/>
              </a:ext>
            </a:extLst>
          </p:cNvPr>
          <p:cNvSpPr txBox="1"/>
          <p:nvPr/>
        </p:nvSpPr>
        <p:spPr>
          <a:xfrm>
            <a:off x="663234" y="592594"/>
            <a:ext cx="14081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3200" b="1" dirty="0"/>
              <a:t>Service</a:t>
            </a:r>
          </a:p>
        </p:txBody>
      </p:sp>
    </p:spTree>
    <p:extLst>
      <p:ext uri="{BB962C8B-B14F-4D97-AF65-F5344CB8AC3E}">
        <p14:creationId xmlns:p14="http://schemas.microsoft.com/office/powerpoint/2010/main" val="2307912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89792108-48A8-AAC1-ADFE-D83915D1ED67}"/>
              </a:ext>
            </a:extLst>
          </p:cNvPr>
          <p:cNvSpPr/>
          <p:nvPr/>
        </p:nvSpPr>
        <p:spPr>
          <a:xfrm>
            <a:off x="2291887" y="592594"/>
            <a:ext cx="8794723" cy="5592361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public class </a:t>
            </a:r>
            <a:r>
              <a:rPr lang="da-DK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MsgService</a:t>
            </a:r>
            <a:r>
              <a:rPr lang="da-DK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: </a:t>
            </a:r>
            <a:r>
              <a:rPr lang="da-DK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IMsgService</a:t>
            </a:r>
            <a:endParaRPr lang="da-DK" b="1" dirty="0">
              <a:solidFill>
                <a:srgbClr val="FFFF00"/>
              </a:solidFill>
              <a:latin typeface="Cascadia Mono" panose="020B0609020000020004" pitchFamily="49" charset="0"/>
            </a:endParaRPr>
          </a:p>
          <a:p>
            <a:r>
              <a:rPr lang="da-DK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da-DK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private string _</a:t>
            </a:r>
            <a:r>
              <a:rPr lang="da-DK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theMessage</a:t>
            </a:r>
            <a:r>
              <a:rPr lang="da-DK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;</a:t>
            </a:r>
          </a:p>
          <a:p>
            <a:endParaRPr lang="da-DK" b="1" dirty="0">
              <a:solidFill>
                <a:schemeClr val="bg1">
                  <a:lumMod val="95000"/>
                </a:schemeClr>
              </a:solidFill>
              <a:latin typeface="Cascadia Mono" panose="020B0609020000020004" pitchFamily="49" charset="0"/>
            </a:endParaRPr>
          </a:p>
          <a:p>
            <a:r>
              <a:rPr lang="da-DK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public </a:t>
            </a:r>
            <a:r>
              <a:rPr lang="da-DK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MsgService</a:t>
            </a:r>
            <a:r>
              <a:rPr lang="da-DK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()        </a:t>
            </a:r>
          </a:p>
          <a:p>
            <a:r>
              <a:rPr lang="da-DK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{</a:t>
            </a:r>
          </a:p>
          <a:p>
            <a:r>
              <a:rPr lang="da-DK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  _</a:t>
            </a:r>
            <a:r>
              <a:rPr lang="da-DK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theMessage</a:t>
            </a:r>
            <a:r>
              <a:rPr lang="da-DK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= "Hi World";        </a:t>
            </a:r>
          </a:p>
          <a:p>
            <a:r>
              <a:rPr lang="da-DK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}        </a:t>
            </a:r>
          </a:p>
          <a:p>
            <a:endParaRPr lang="da-DK" b="1" dirty="0">
              <a:solidFill>
                <a:schemeClr val="bg1">
                  <a:lumMod val="95000"/>
                </a:schemeClr>
              </a:solidFill>
              <a:latin typeface="Cascadia Mono" panose="020B0609020000020004" pitchFamily="49" charset="0"/>
            </a:endParaRPr>
          </a:p>
          <a:p>
            <a:r>
              <a:rPr lang="da-DK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public string </a:t>
            </a:r>
            <a:r>
              <a:rPr lang="da-DK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GetMessage</a:t>
            </a:r>
            <a:r>
              <a:rPr lang="da-DK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da-DK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{ </a:t>
            </a:r>
          </a:p>
          <a:p>
            <a:r>
              <a:rPr lang="da-DK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  return _</a:t>
            </a:r>
            <a:r>
              <a:rPr lang="da-DK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theMessage</a:t>
            </a:r>
            <a:r>
              <a:rPr lang="da-DK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da-DK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}</a:t>
            </a:r>
          </a:p>
          <a:p>
            <a:endParaRPr lang="da-DK" b="1" dirty="0">
              <a:solidFill>
                <a:schemeClr val="bg1">
                  <a:lumMod val="95000"/>
                </a:schemeClr>
              </a:solidFill>
              <a:latin typeface="Cascadia Mono" panose="020B0609020000020004" pitchFamily="49" charset="0"/>
            </a:endParaRPr>
          </a:p>
          <a:p>
            <a:r>
              <a:rPr lang="da-DK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public </a:t>
            </a:r>
            <a:r>
              <a:rPr lang="da-DK" b="1" dirty="0" err="1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void</a:t>
            </a:r>
            <a:r>
              <a:rPr lang="da-DK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</a:t>
            </a:r>
            <a:r>
              <a:rPr lang="da-DK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SetMessage</a:t>
            </a:r>
            <a:r>
              <a:rPr lang="da-DK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(string </a:t>
            </a:r>
            <a:r>
              <a:rPr lang="da-DK" b="1" dirty="0">
                <a:solidFill>
                  <a:srgbClr val="FFFF00"/>
                </a:solidFill>
                <a:latin typeface="Cascadia Mono" panose="020B0609020000020004" pitchFamily="49" charset="0"/>
              </a:rPr>
              <a:t>message</a:t>
            </a:r>
            <a:r>
              <a:rPr lang="da-DK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) </a:t>
            </a:r>
          </a:p>
          <a:p>
            <a:r>
              <a:rPr lang="da-DK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{ </a:t>
            </a:r>
          </a:p>
          <a:p>
            <a:r>
              <a:rPr lang="da-DK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  _</a:t>
            </a:r>
            <a:r>
              <a:rPr lang="da-DK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theMessage</a:t>
            </a:r>
            <a:r>
              <a:rPr lang="da-DK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= </a:t>
            </a:r>
            <a:r>
              <a:rPr lang="da-DK" b="1" dirty="0">
                <a:solidFill>
                  <a:srgbClr val="FFFF00"/>
                </a:solidFill>
                <a:latin typeface="Cascadia Mono" panose="020B0609020000020004" pitchFamily="49" charset="0"/>
              </a:rPr>
              <a:t>message</a:t>
            </a:r>
            <a:r>
              <a:rPr lang="da-DK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; </a:t>
            </a:r>
          </a:p>
          <a:p>
            <a:r>
              <a:rPr lang="da-DK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}</a:t>
            </a:r>
          </a:p>
          <a:p>
            <a:r>
              <a:rPr lang="da-DK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}</a:t>
            </a:r>
            <a:endParaRPr lang="da-DK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E145C3F0-4B01-8F1F-5B25-26D6A5DC06EC}"/>
              </a:ext>
            </a:extLst>
          </p:cNvPr>
          <p:cNvSpPr txBox="1"/>
          <p:nvPr/>
        </p:nvSpPr>
        <p:spPr>
          <a:xfrm>
            <a:off x="663234" y="592594"/>
            <a:ext cx="14081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3200" b="1" dirty="0"/>
              <a:t>Service</a:t>
            </a:r>
          </a:p>
        </p:txBody>
      </p:sp>
    </p:spTree>
    <p:extLst>
      <p:ext uri="{BB962C8B-B14F-4D97-AF65-F5344CB8AC3E}">
        <p14:creationId xmlns:p14="http://schemas.microsoft.com/office/powerpoint/2010/main" val="622869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89792108-48A8-AAC1-ADFE-D83915D1ED67}"/>
              </a:ext>
            </a:extLst>
          </p:cNvPr>
          <p:cNvSpPr/>
          <p:nvPr/>
        </p:nvSpPr>
        <p:spPr>
          <a:xfrm>
            <a:off x="820213" y="1350016"/>
            <a:ext cx="11208267" cy="463086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a-DK" sz="2400" b="1" dirty="0">
              <a:solidFill>
                <a:schemeClr val="bg1">
                  <a:lumMod val="95000"/>
                </a:schemeClr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…</a:t>
            </a:r>
          </a:p>
          <a:p>
            <a:endParaRPr lang="en-US" sz="2400" b="1" dirty="0">
              <a:solidFill>
                <a:schemeClr val="bg1">
                  <a:lumMod val="95000"/>
                </a:schemeClr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&lt;li class="nav-item"&gt;</a:t>
            </a:r>
          </a:p>
          <a:p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&lt;a … asp-page="/</a:t>
            </a:r>
            <a:r>
              <a:rPr lang="en-US" sz="2400" b="1" dirty="0" err="1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ViewMsg</a:t>
            </a:r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"&gt;</a:t>
            </a:r>
            <a:r>
              <a:rPr lang="en-US" sz="2400" b="1" dirty="0">
                <a:solidFill>
                  <a:srgbClr val="FFFF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View Message</a:t>
            </a:r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&lt;/a&gt;</a:t>
            </a:r>
          </a:p>
          <a:p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&lt;/li&gt;</a:t>
            </a:r>
          </a:p>
          <a:p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&lt;li class="nav-item"&gt;</a:t>
            </a:r>
          </a:p>
          <a:p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&lt;a … asp-page="/</a:t>
            </a:r>
            <a:r>
              <a:rPr lang="en-US" sz="2400" b="1" dirty="0" err="1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SetMsg</a:t>
            </a:r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"&gt;</a:t>
            </a:r>
            <a:r>
              <a:rPr lang="en-US" sz="2400" b="1" dirty="0">
                <a:solidFill>
                  <a:srgbClr val="FFFF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Set Message</a:t>
            </a:r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&lt;/a&gt;</a:t>
            </a:r>
          </a:p>
          <a:p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&lt;/li&gt;</a:t>
            </a:r>
            <a:endParaRPr lang="da-DK" sz="2400" b="1" dirty="0">
              <a:solidFill>
                <a:schemeClr val="bg1">
                  <a:lumMod val="95000"/>
                </a:schemeClr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da-DK" sz="2400" b="1" dirty="0">
              <a:solidFill>
                <a:schemeClr val="bg1">
                  <a:lumMod val="95000"/>
                </a:schemeClr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da-DK" sz="24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…</a:t>
            </a:r>
          </a:p>
          <a:p>
            <a:endParaRPr lang="da-DK" sz="1200" b="1" dirty="0">
              <a:solidFill>
                <a:schemeClr val="bg1">
                  <a:lumMod val="95000"/>
                </a:schemeClr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E145C3F0-4B01-8F1F-5B25-26D6A5DC06EC}"/>
              </a:ext>
            </a:extLst>
          </p:cNvPr>
          <p:cNvSpPr txBox="1"/>
          <p:nvPr/>
        </p:nvSpPr>
        <p:spPr>
          <a:xfrm>
            <a:off x="113809" y="592594"/>
            <a:ext cx="19745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3200" b="1" dirty="0"/>
              <a:t>_</a:t>
            </a:r>
            <a:r>
              <a:rPr lang="da-DK" sz="3200" b="1" dirty="0" err="1"/>
              <a:t>Layout.cs</a:t>
            </a:r>
            <a:endParaRPr lang="da-DK" sz="3200" b="1" dirty="0"/>
          </a:p>
        </p:txBody>
      </p:sp>
    </p:spTree>
    <p:extLst>
      <p:ext uri="{BB962C8B-B14F-4D97-AF65-F5344CB8AC3E}">
        <p14:creationId xmlns:p14="http://schemas.microsoft.com/office/powerpoint/2010/main" val="1831449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7A18CD6-FB2B-6635-4D86-0A24713FF2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710" y="532646"/>
            <a:ext cx="7036905" cy="5629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754669C-BFF4-4991-8665-9FF541BA25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7087" y="532646"/>
            <a:ext cx="7036905" cy="5629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6012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89792108-48A8-AAC1-ADFE-D83915D1ED67}"/>
              </a:ext>
            </a:extLst>
          </p:cNvPr>
          <p:cNvSpPr/>
          <p:nvPr/>
        </p:nvSpPr>
        <p:spPr>
          <a:xfrm>
            <a:off x="2303660" y="592594"/>
            <a:ext cx="8794723" cy="5592361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public class </a:t>
            </a:r>
            <a:r>
              <a:rPr lang="da-DK" sz="16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SetMsgModel</a:t>
            </a:r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: </a:t>
            </a:r>
            <a:r>
              <a:rPr lang="da-DK" sz="16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PageModel</a:t>
            </a:r>
            <a:endParaRPr lang="da-DK" sz="1600" b="1" dirty="0">
              <a:solidFill>
                <a:srgbClr val="FFFF00"/>
              </a:solidFill>
              <a:latin typeface="Cascadia Mono" panose="020B0609020000020004" pitchFamily="49" charset="0"/>
            </a:endParaRPr>
          </a:p>
          <a:p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{</a:t>
            </a:r>
          </a:p>
          <a:p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 private </a:t>
            </a:r>
            <a:r>
              <a:rPr lang="da-DK" sz="16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IMsgService</a:t>
            </a:r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_</a:t>
            </a:r>
            <a:r>
              <a:rPr lang="da-DK" sz="1600" b="1" dirty="0" err="1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msgService</a:t>
            </a:r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;</a:t>
            </a:r>
          </a:p>
          <a:p>
            <a:endParaRPr lang="da-DK" sz="1600" b="1" dirty="0">
              <a:solidFill>
                <a:schemeClr val="bg1">
                  <a:lumMod val="95000"/>
                </a:schemeClr>
              </a:solidFill>
              <a:latin typeface="Cascadia Mono" panose="020B0609020000020004" pitchFamily="49" charset="0"/>
            </a:endParaRPr>
          </a:p>
          <a:p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 </a:t>
            </a:r>
            <a:r>
              <a:rPr lang="da-DK" sz="1600" b="1" dirty="0">
                <a:solidFill>
                  <a:srgbClr val="00B050"/>
                </a:solidFill>
                <a:latin typeface="Cascadia Mono" panose="020B0609020000020004" pitchFamily="49" charset="0"/>
              </a:rPr>
              <a:t>[</a:t>
            </a:r>
            <a:r>
              <a:rPr lang="da-DK" sz="1600" b="1" dirty="0" err="1">
                <a:solidFill>
                  <a:srgbClr val="00B050"/>
                </a:solidFill>
                <a:latin typeface="Cascadia Mono" panose="020B0609020000020004" pitchFamily="49" charset="0"/>
              </a:rPr>
              <a:t>BindProperty</a:t>
            </a:r>
            <a:r>
              <a:rPr lang="da-DK" sz="1600" b="1" dirty="0">
                <a:solidFill>
                  <a:srgbClr val="00B050"/>
                </a:solidFill>
                <a:latin typeface="Cascadia Mono" panose="020B0609020000020004" pitchFamily="49" charset="0"/>
              </a:rPr>
              <a:t>] </a:t>
            </a:r>
            <a:r>
              <a:rPr lang="da-DK" sz="1600" b="1" dirty="0">
                <a:solidFill>
                  <a:srgbClr val="92D050"/>
                </a:solidFill>
                <a:latin typeface="Cascadia Mono" panose="020B0609020000020004" pitchFamily="49" charset="0"/>
              </a:rPr>
              <a:t>// NB!!!</a:t>
            </a:r>
          </a:p>
          <a:p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 public string </a:t>
            </a:r>
            <a:r>
              <a:rPr lang="da-DK" sz="1600" b="1" dirty="0">
                <a:solidFill>
                  <a:srgbClr val="FFFF00"/>
                </a:solidFill>
                <a:latin typeface="Cascadia Mono" panose="020B0609020000020004" pitchFamily="49" charset="0"/>
              </a:rPr>
              <a:t>Message</a:t>
            </a:r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{ get; </a:t>
            </a:r>
            <a:r>
              <a:rPr lang="da-DK" sz="1600" b="1" dirty="0">
                <a:solidFill>
                  <a:srgbClr val="00B050"/>
                </a:solidFill>
                <a:latin typeface="Cascadia Mono" panose="020B0609020000020004" pitchFamily="49" charset="0"/>
              </a:rPr>
              <a:t>set;</a:t>
            </a:r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} </a:t>
            </a:r>
            <a:r>
              <a:rPr lang="da-DK" sz="1600" b="1" dirty="0">
                <a:solidFill>
                  <a:srgbClr val="92D050"/>
                </a:solidFill>
                <a:latin typeface="Cascadia Mono" panose="020B0609020000020004" pitchFamily="49" charset="0"/>
              </a:rPr>
              <a:t>// NB!!!</a:t>
            </a:r>
            <a:endParaRPr lang="da-DK" sz="1600" b="1" dirty="0">
              <a:solidFill>
                <a:schemeClr val="bg1">
                  <a:lumMod val="95000"/>
                </a:schemeClr>
              </a:solidFill>
              <a:latin typeface="Cascadia Mono" panose="020B0609020000020004" pitchFamily="49" charset="0"/>
            </a:endParaRPr>
          </a:p>
          <a:p>
            <a:endParaRPr lang="da-DK" sz="1600" b="1" dirty="0">
              <a:solidFill>
                <a:schemeClr val="bg1">
                  <a:lumMod val="95000"/>
                </a:schemeClr>
              </a:solidFill>
              <a:latin typeface="Cascadia Mono" panose="020B0609020000020004" pitchFamily="49" charset="0"/>
            </a:endParaRPr>
          </a:p>
          <a:p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 public </a:t>
            </a:r>
            <a:r>
              <a:rPr lang="da-DK" sz="16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SetMsgModel</a:t>
            </a:r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(</a:t>
            </a:r>
            <a:r>
              <a:rPr lang="da-DK" sz="16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IMsgService</a:t>
            </a:r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</a:t>
            </a:r>
            <a:r>
              <a:rPr lang="da-DK" sz="1600" b="1" dirty="0" err="1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msgSrv</a:t>
            </a:r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 {</a:t>
            </a:r>
          </a:p>
          <a:p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   _</a:t>
            </a:r>
            <a:r>
              <a:rPr lang="da-DK" sz="1600" b="1" dirty="0" err="1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msgService</a:t>
            </a:r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= </a:t>
            </a:r>
            <a:r>
              <a:rPr lang="da-DK" sz="1600" b="1" dirty="0" err="1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msgSrv</a:t>
            </a:r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 }</a:t>
            </a:r>
          </a:p>
          <a:p>
            <a:endParaRPr lang="da-DK" sz="1600" b="1" dirty="0">
              <a:solidFill>
                <a:schemeClr val="bg1">
                  <a:lumMod val="95000"/>
                </a:schemeClr>
              </a:solidFill>
              <a:latin typeface="Cascadia Mono" panose="020B0609020000020004" pitchFamily="49" charset="0"/>
            </a:endParaRPr>
          </a:p>
          <a:p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 public </a:t>
            </a:r>
            <a:r>
              <a:rPr lang="da-DK" sz="1600" b="1" dirty="0" err="1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void</a:t>
            </a:r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</a:t>
            </a:r>
            <a:r>
              <a:rPr lang="da-DK" sz="16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OnGet</a:t>
            </a:r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 {</a:t>
            </a:r>
          </a:p>
          <a:p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     </a:t>
            </a:r>
            <a:r>
              <a:rPr lang="da-DK" sz="1600" b="1" dirty="0">
                <a:solidFill>
                  <a:srgbClr val="FFFF00"/>
                </a:solidFill>
                <a:latin typeface="Cascadia Mono" panose="020B0609020000020004" pitchFamily="49" charset="0"/>
              </a:rPr>
              <a:t>Message</a:t>
            </a:r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= _</a:t>
            </a:r>
            <a:r>
              <a:rPr lang="da-DK" sz="1600" b="1" dirty="0" err="1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msgService.</a:t>
            </a:r>
            <a:r>
              <a:rPr lang="da-DK" sz="16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GetMessage</a:t>
            </a:r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 }</a:t>
            </a:r>
          </a:p>
          <a:p>
            <a:endParaRPr lang="da-DK" sz="1600" b="1" dirty="0">
              <a:solidFill>
                <a:schemeClr val="bg1">
                  <a:lumMod val="95000"/>
                </a:schemeClr>
              </a:solidFill>
              <a:latin typeface="Cascadia Mono" panose="020B0609020000020004" pitchFamily="49" charset="0"/>
            </a:endParaRPr>
          </a:p>
          <a:p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 public </a:t>
            </a:r>
            <a:r>
              <a:rPr lang="da-DK" sz="1600" b="1" dirty="0" err="1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void</a:t>
            </a:r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</a:t>
            </a:r>
            <a:r>
              <a:rPr lang="da-DK" sz="16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OnPost</a:t>
            </a:r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() </a:t>
            </a:r>
          </a:p>
          <a:p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 {</a:t>
            </a:r>
          </a:p>
          <a:p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   _</a:t>
            </a:r>
            <a:r>
              <a:rPr lang="da-DK" sz="1600" b="1" dirty="0" err="1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msgService.</a:t>
            </a:r>
            <a:r>
              <a:rPr lang="da-DK" sz="1600" b="1" dirty="0" err="1">
                <a:solidFill>
                  <a:srgbClr val="FFFF00"/>
                </a:solidFill>
                <a:latin typeface="Cascadia Mono" panose="020B0609020000020004" pitchFamily="49" charset="0"/>
              </a:rPr>
              <a:t>SetMessage</a:t>
            </a:r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(</a:t>
            </a:r>
            <a:r>
              <a:rPr lang="da-DK" sz="1600" b="1" dirty="0">
                <a:solidFill>
                  <a:srgbClr val="FFFF00"/>
                </a:solidFill>
                <a:latin typeface="Cascadia Mono" panose="020B0609020000020004" pitchFamily="49" charset="0"/>
              </a:rPr>
              <a:t>Message</a:t>
            </a:r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  }</a:t>
            </a:r>
          </a:p>
          <a:p>
            <a:r>
              <a:rPr lang="da-DK" sz="1600" b="1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</a:rPr>
              <a:t> }</a:t>
            </a:r>
            <a:endParaRPr lang="da-DK" sz="16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E145C3F0-4B01-8F1F-5B25-26D6A5DC06EC}"/>
              </a:ext>
            </a:extLst>
          </p:cNvPr>
          <p:cNvSpPr txBox="1"/>
          <p:nvPr/>
        </p:nvSpPr>
        <p:spPr>
          <a:xfrm>
            <a:off x="663234" y="592594"/>
            <a:ext cx="129234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3200" b="1" dirty="0"/>
              <a:t>Page</a:t>
            </a:r>
          </a:p>
          <a:p>
            <a:r>
              <a:rPr lang="da-DK" sz="3200" b="1" dirty="0"/>
              <a:t>Model</a:t>
            </a:r>
          </a:p>
        </p:txBody>
      </p:sp>
    </p:spTree>
    <p:extLst>
      <p:ext uri="{BB962C8B-B14F-4D97-AF65-F5344CB8AC3E}">
        <p14:creationId xmlns:p14="http://schemas.microsoft.com/office/powerpoint/2010/main" val="2232699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F692E9-FDEE-4050-89C2-24BA0EC13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Web App with Domain Class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55D4275-2991-432A-ACBA-90FA8552B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want</a:t>
            </a:r>
            <a:r>
              <a:rPr lang="da-DK" dirty="0"/>
              <a:t> to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able</a:t>
            </a:r>
            <a:r>
              <a:rPr lang="da-DK" dirty="0"/>
              <a:t> to ”</a:t>
            </a:r>
            <a:r>
              <a:rPr lang="da-DK" dirty="0" err="1"/>
              <a:t>manage</a:t>
            </a:r>
            <a:r>
              <a:rPr lang="da-DK" dirty="0"/>
              <a:t>” </a:t>
            </a:r>
            <a:r>
              <a:rPr lang="da-DK" dirty="0" err="1"/>
              <a:t>several</a:t>
            </a:r>
            <a:r>
              <a:rPr lang="da-DK" dirty="0"/>
              <a:t> </a:t>
            </a:r>
            <a:r>
              <a:rPr lang="da-DK" dirty="0" err="1"/>
              <a:t>instances</a:t>
            </a:r>
            <a:r>
              <a:rPr lang="da-DK" dirty="0"/>
              <a:t> of a domain class</a:t>
            </a:r>
          </a:p>
          <a:p>
            <a:r>
              <a:rPr lang="da-DK" dirty="0"/>
              <a:t>Domain class like </a:t>
            </a:r>
            <a:r>
              <a:rPr lang="da-DK" dirty="0" err="1"/>
              <a:t>e.g</a:t>
            </a:r>
            <a:r>
              <a:rPr lang="da-DK" dirty="0"/>
              <a:t>. </a:t>
            </a:r>
            <a:r>
              <a:rPr lang="da-DK" b="1" dirty="0"/>
              <a:t>Item</a:t>
            </a:r>
            <a:r>
              <a:rPr lang="da-DK" dirty="0"/>
              <a:t>, </a:t>
            </a:r>
            <a:r>
              <a:rPr lang="da-DK" b="1" dirty="0"/>
              <a:t>Movie</a:t>
            </a:r>
            <a:r>
              <a:rPr lang="da-DK" dirty="0"/>
              <a:t>, </a:t>
            </a:r>
            <a:r>
              <a:rPr lang="da-DK" b="1" dirty="0"/>
              <a:t>Customer</a:t>
            </a:r>
            <a:r>
              <a:rPr lang="da-DK" dirty="0"/>
              <a:t>, etc..</a:t>
            </a:r>
          </a:p>
          <a:p>
            <a:r>
              <a:rPr lang="da-DK" dirty="0" err="1"/>
              <a:t>Typically</a:t>
            </a:r>
            <a:r>
              <a:rPr lang="da-DK" dirty="0"/>
              <a:t> </a:t>
            </a:r>
            <a:r>
              <a:rPr lang="da-DK" dirty="0" err="1"/>
              <a:t>need</a:t>
            </a:r>
            <a:r>
              <a:rPr lang="da-DK" dirty="0"/>
              <a:t> </a:t>
            </a:r>
            <a:r>
              <a:rPr lang="da-DK" dirty="0" err="1"/>
              <a:t>functionality</a:t>
            </a:r>
            <a:r>
              <a:rPr lang="da-DK" dirty="0"/>
              <a:t> for</a:t>
            </a:r>
          </a:p>
          <a:p>
            <a:pPr lvl="1"/>
            <a:r>
              <a:rPr lang="da-DK" dirty="0"/>
              <a:t>CRUD operations</a:t>
            </a:r>
          </a:p>
          <a:p>
            <a:pPr lvl="1"/>
            <a:r>
              <a:rPr lang="da-DK" dirty="0"/>
              <a:t>View all </a:t>
            </a:r>
            <a:r>
              <a:rPr lang="da-DK" dirty="0" err="1"/>
              <a:t>instances</a:t>
            </a:r>
            <a:endParaRPr lang="da-DK" dirty="0"/>
          </a:p>
          <a:p>
            <a:pPr lvl="1"/>
            <a:r>
              <a:rPr lang="da-DK" dirty="0"/>
              <a:t>Domain-</a:t>
            </a:r>
            <a:r>
              <a:rPr lang="da-DK" dirty="0" err="1"/>
              <a:t>specific</a:t>
            </a:r>
            <a:r>
              <a:rPr lang="da-DK" dirty="0"/>
              <a:t> operations</a:t>
            </a:r>
          </a:p>
        </p:txBody>
      </p:sp>
    </p:spTree>
    <p:extLst>
      <p:ext uri="{BB962C8B-B14F-4D97-AF65-F5344CB8AC3E}">
        <p14:creationId xmlns:p14="http://schemas.microsoft.com/office/powerpoint/2010/main" val="2768594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127DB6-3E97-44FB-BC0D-1D55ABD93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Web App with Domain class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D8807CE-E4D1-4E30-AABA-DB8BAAF66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a-DK"/>
              <a:t>Create a top-level folder named </a:t>
            </a:r>
            <a:r>
              <a:rPr lang="da-DK" b="1"/>
              <a:t>Models</a:t>
            </a:r>
            <a:r>
              <a:rPr lang="da-DK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da-DK"/>
              <a:t>In the </a:t>
            </a:r>
            <a:r>
              <a:rPr lang="da-DK" b="1"/>
              <a:t>Models</a:t>
            </a:r>
            <a:r>
              <a:rPr lang="da-DK"/>
              <a:t> folder, add a class </a:t>
            </a:r>
            <a:r>
              <a:rPr lang="da-DK" b="1"/>
              <a:t>Movie</a:t>
            </a:r>
            <a:r>
              <a:rPr lang="da-DK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05724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5E505AA0-53D4-47EE-BAE4-75C01B822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867" y="837877"/>
            <a:ext cx="7416799" cy="5456308"/>
          </a:xfrm>
          <a:prstGeom prst="rect">
            <a:avLst/>
          </a:prstGeom>
        </p:spPr>
      </p:pic>
      <p:sp>
        <p:nvSpPr>
          <p:cNvPr id="5" name="Rektangel 4">
            <a:extLst>
              <a:ext uri="{FF2B5EF4-FFF2-40B4-BE49-F238E27FC236}">
                <a16:creationId xmlns:a16="http://schemas.microsoft.com/office/drawing/2014/main" id="{3CA2EE8C-9DC1-4B74-A715-37D041528463}"/>
              </a:ext>
            </a:extLst>
          </p:cNvPr>
          <p:cNvSpPr/>
          <p:nvPr/>
        </p:nvSpPr>
        <p:spPr>
          <a:xfrm>
            <a:off x="2819400" y="3115733"/>
            <a:ext cx="3124200" cy="9567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36382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>
            <a:extLst>
              <a:ext uri="{FF2B5EF4-FFF2-40B4-BE49-F238E27FC236}">
                <a16:creationId xmlns:a16="http://schemas.microsoft.com/office/drawing/2014/main" id="{F367EAA7-E335-4966-B94A-0B4B57EEF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801" y="436093"/>
            <a:ext cx="8695266" cy="5756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662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127DB6-3E97-44FB-BC0D-1D55ABD93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Web App with Domain class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D8807CE-E4D1-4E30-AABA-DB8BAAF66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a-DK"/>
              <a:t>Create a top-level folder named </a:t>
            </a:r>
            <a:r>
              <a:rPr lang="da-DK" b="1"/>
              <a:t>Services</a:t>
            </a:r>
            <a:r>
              <a:rPr lang="da-DK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da-DK"/>
              <a:t>In the </a:t>
            </a:r>
            <a:r>
              <a:rPr lang="da-DK" b="1"/>
              <a:t>Services</a:t>
            </a:r>
            <a:r>
              <a:rPr lang="da-DK"/>
              <a:t> folder, add an interface </a:t>
            </a:r>
            <a:r>
              <a:rPr lang="da-DK" b="1"/>
              <a:t>IMovieRepository</a:t>
            </a:r>
            <a:r>
              <a:rPr lang="da-DK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da-DK"/>
              <a:t>In the </a:t>
            </a:r>
            <a:r>
              <a:rPr lang="da-DK" b="1"/>
              <a:t>Services</a:t>
            </a:r>
            <a:r>
              <a:rPr lang="da-DK"/>
              <a:t> folder, add a class </a:t>
            </a:r>
            <a:r>
              <a:rPr lang="da-DK" b="1"/>
              <a:t>MovieRepository</a:t>
            </a:r>
            <a:r>
              <a:rPr lang="da-DK"/>
              <a:t>.</a:t>
            </a:r>
          </a:p>
          <a:p>
            <a:pPr marL="514350" indent="-514350">
              <a:buFont typeface="+mj-lt"/>
              <a:buAutoNum type="arabicPeriod"/>
            </a:pP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81151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>
            <a:extLst>
              <a:ext uri="{FF2B5EF4-FFF2-40B4-BE49-F238E27FC236}">
                <a16:creationId xmlns:a16="http://schemas.microsoft.com/office/drawing/2014/main" id="{2CD3C134-E3D2-4D47-865A-696E49985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812875"/>
            <a:ext cx="5138965" cy="3835495"/>
          </a:xfrm>
          <a:prstGeom prst="rect">
            <a:avLst/>
          </a:prstGeom>
        </p:spPr>
      </p:pic>
      <p:sp>
        <p:nvSpPr>
          <p:cNvPr id="5" name="Rektangel 4">
            <a:extLst>
              <a:ext uri="{FF2B5EF4-FFF2-40B4-BE49-F238E27FC236}">
                <a16:creationId xmlns:a16="http://schemas.microsoft.com/office/drawing/2014/main" id="{3CA2EE8C-9DC1-4B74-A715-37D041528463}"/>
              </a:ext>
            </a:extLst>
          </p:cNvPr>
          <p:cNvSpPr/>
          <p:nvPr/>
        </p:nvSpPr>
        <p:spPr>
          <a:xfrm>
            <a:off x="2827867" y="2844800"/>
            <a:ext cx="3124200" cy="9567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50481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52E1E13F-9856-4557-9752-9721D6193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63" y="1938246"/>
            <a:ext cx="4393005" cy="1863287"/>
          </a:xfrm>
          <a:prstGeom prst="rect">
            <a:avLst/>
          </a:prstGeom>
        </p:spPr>
      </p:pic>
      <p:pic>
        <p:nvPicPr>
          <p:cNvPr id="4" name="Billede 3">
            <a:extLst>
              <a:ext uri="{FF2B5EF4-FFF2-40B4-BE49-F238E27FC236}">
                <a16:creationId xmlns:a16="http://schemas.microsoft.com/office/drawing/2014/main" id="{5A30ED2C-2F53-4253-817F-2E1E47C96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218" y="435518"/>
            <a:ext cx="5477182" cy="598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373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127DB6-3E97-44FB-BC0D-1D55ABD93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Web App with Domain class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D8807CE-E4D1-4E30-AABA-DB8BAAF66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568267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a-DK"/>
              <a:t>Register </a:t>
            </a:r>
            <a:r>
              <a:rPr lang="da-DK" b="1"/>
              <a:t>IMovieRepository/MovieRepository</a:t>
            </a:r>
            <a:r>
              <a:rPr lang="da-DK"/>
              <a:t> as a service in </a:t>
            </a:r>
            <a:r>
              <a:rPr lang="da-DK" b="1"/>
              <a:t>Program.cs</a:t>
            </a:r>
          </a:p>
          <a:p>
            <a:pPr marL="514350" indent="-514350">
              <a:buFont typeface="+mj-lt"/>
              <a:buAutoNum type="arabicPeriod"/>
            </a:pP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53949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17D3A0B8-0299-4268-AB93-FCA861977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142" y="1665759"/>
            <a:ext cx="9795585" cy="1195973"/>
          </a:xfrm>
          <a:prstGeom prst="rect">
            <a:avLst/>
          </a:prstGeom>
        </p:spPr>
      </p:pic>
      <p:sp>
        <p:nvSpPr>
          <p:cNvPr id="6" name="Rektangel 5">
            <a:extLst>
              <a:ext uri="{FF2B5EF4-FFF2-40B4-BE49-F238E27FC236}">
                <a16:creationId xmlns:a16="http://schemas.microsoft.com/office/drawing/2014/main" id="{DB2A4A97-2A10-42B7-B5FA-ABC3829B7D19}"/>
              </a:ext>
            </a:extLst>
          </p:cNvPr>
          <p:cNvSpPr/>
          <p:nvPr/>
        </p:nvSpPr>
        <p:spPr>
          <a:xfrm>
            <a:off x="804333" y="2404534"/>
            <a:ext cx="9423400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40334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127DB6-3E97-44FB-BC0D-1D55ABD93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Web App with Domain class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D8807CE-E4D1-4E30-AABA-DB8BAAF66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568267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a-DK"/>
              <a:t>In the </a:t>
            </a:r>
            <a:r>
              <a:rPr lang="da-DK" b="1"/>
              <a:t>Pages</a:t>
            </a:r>
            <a:r>
              <a:rPr lang="da-DK"/>
              <a:t> folder, create a subfolder named </a:t>
            </a:r>
            <a:r>
              <a:rPr lang="da-DK" b="1"/>
              <a:t>Movies</a:t>
            </a:r>
            <a:r>
              <a:rPr lang="da-DK"/>
              <a:t> (remember the ”plural s”).</a:t>
            </a:r>
          </a:p>
          <a:p>
            <a:pPr marL="514350" indent="-514350">
              <a:buFont typeface="+mj-lt"/>
              <a:buAutoNum type="arabicPeriod"/>
            </a:pPr>
            <a:r>
              <a:rPr lang="da-DK"/>
              <a:t>In the </a:t>
            </a:r>
            <a:r>
              <a:rPr lang="da-DK" b="1"/>
              <a:t>Movies</a:t>
            </a:r>
            <a:r>
              <a:rPr lang="da-DK"/>
              <a:t> folder, create a new Razor Page named </a:t>
            </a:r>
            <a:r>
              <a:rPr lang="da-DK" b="1"/>
              <a:t>ShowAll</a:t>
            </a:r>
          </a:p>
          <a:p>
            <a:pPr marL="0" indent="0">
              <a:buNone/>
            </a:pP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83554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>
            <a:extLst>
              <a:ext uri="{FF2B5EF4-FFF2-40B4-BE49-F238E27FC236}">
                <a16:creationId xmlns:a16="http://schemas.microsoft.com/office/drawing/2014/main" id="{48E0F32E-2D72-44FC-B4E2-AC2BDEABA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700" y="397042"/>
            <a:ext cx="4800600" cy="6063916"/>
          </a:xfrm>
          <a:prstGeom prst="rect">
            <a:avLst/>
          </a:prstGeom>
        </p:spPr>
      </p:pic>
      <p:sp>
        <p:nvSpPr>
          <p:cNvPr id="6" name="Rektangel 5">
            <a:extLst>
              <a:ext uri="{FF2B5EF4-FFF2-40B4-BE49-F238E27FC236}">
                <a16:creationId xmlns:a16="http://schemas.microsoft.com/office/drawing/2014/main" id="{DB2A4A97-2A10-42B7-B5FA-ABC3829B7D19}"/>
              </a:ext>
            </a:extLst>
          </p:cNvPr>
          <p:cNvSpPr/>
          <p:nvPr/>
        </p:nvSpPr>
        <p:spPr>
          <a:xfrm>
            <a:off x="3759200" y="2480732"/>
            <a:ext cx="3496733" cy="9482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40928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>
            <a:extLst>
              <a:ext uri="{FF2B5EF4-FFF2-40B4-BE49-F238E27FC236}">
                <a16:creationId xmlns:a16="http://schemas.microsoft.com/office/drawing/2014/main" id="{10DEFF92-FF06-4549-90EE-EF0DC17B2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694" y="1651434"/>
            <a:ext cx="5183530" cy="3555131"/>
          </a:xfrm>
          <a:prstGeom prst="rect">
            <a:avLst/>
          </a:prstGeom>
        </p:spPr>
      </p:pic>
      <p:pic>
        <p:nvPicPr>
          <p:cNvPr id="5" name="Billede 4">
            <a:extLst>
              <a:ext uri="{FF2B5EF4-FFF2-40B4-BE49-F238E27FC236}">
                <a16:creationId xmlns:a16="http://schemas.microsoft.com/office/drawing/2014/main" id="{81BD6076-1ED1-4F6A-B64D-9F89CBC20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199" y="675754"/>
            <a:ext cx="5094534" cy="5506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874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127DB6-3E97-44FB-BC0D-1D55ABD93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Web App with Domain class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D8807CE-E4D1-4E30-AABA-DB8BAAF66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262533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a-DK"/>
              <a:t>In the </a:t>
            </a:r>
            <a:r>
              <a:rPr lang="da-DK" b="1"/>
              <a:t>Pages/Shared</a:t>
            </a:r>
            <a:r>
              <a:rPr lang="da-DK"/>
              <a:t> folder, open the </a:t>
            </a:r>
            <a:r>
              <a:rPr lang="da-DK" b="1"/>
              <a:t>_Layout.cshtml</a:t>
            </a:r>
            <a:r>
              <a:rPr lang="da-DK"/>
              <a:t> file and add a new </a:t>
            </a:r>
            <a:r>
              <a:rPr lang="da-DK" b="1"/>
              <a:t>&lt;li&gt;</a:t>
            </a:r>
            <a:r>
              <a:rPr lang="da-DK"/>
              <a:t> tag under the existing </a:t>
            </a:r>
            <a:r>
              <a:rPr lang="da-DK" b="1"/>
              <a:t>&lt;li&gt;</a:t>
            </a:r>
            <a:r>
              <a:rPr lang="da-DK"/>
              <a:t> tags, in order to add a new item to the navigation bar.</a:t>
            </a:r>
          </a:p>
        </p:txBody>
      </p:sp>
    </p:spTree>
    <p:extLst>
      <p:ext uri="{BB962C8B-B14F-4D97-AF65-F5344CB8AC3E}">
        <p14:creationId xmlns:p14="http://schemas.microsoft.com/office/powerpoint/2010/main" val="2730171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89A73A40-90AD-4F52-880C-18F73CDEF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670138"/>
            <a:ext cx="4419599" cy="5517721"/>
          </a:xfrm>
          <a:prstGeom prst="rect">
            <a:avLst/>
          </a:prstGeom>
        </p:spPr>
      </p:pic>
      <p:sp>
        <p:nvSpPr>
          <p:cNvPr id="6" name="Rektangel 5">
            <a:extLst>
              <a:ext uri="{FF2B5EF4-FFF2-40B4-BE49-F238E27FC236}">
                <a16:creationId xmlns:a16="http://schemas.microsoft.com/office/drawing/2014/main" id="{DB2A4A97-2A10-42B7-B5FA-ABC3829B7D19}"/>
              </a:ext>
            </a:extLst>
          </p:cNvPr>
          <p:cNvSpPr/>
          <p:nvPr/>
        </p:nvSpPr>
        <p:spPr>
          <a:xfrm>
            <a:off x="4385733" y="3014133"/>
            <a:ext cx="2269067" cy="5249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08162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5E311343-5C4A-429E-8CBF-F92020010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126" y="2452551"/>
            <a:ext cx="6963747" cy="1952898"/>
          </a:xfrm>
          <a:prstGeom prst="rect">
            <a:avLst/>
          </a:prstGeom>
        </p:spPr>
      </p:pic>
      <p:sp>
        <p:nvSpPr>
          <p:cNvPr id="6" name="Rektangel 5">
            <a:extLst>
              <a:ext uri="{FF2B5EF4-FFF2-40B4-BE49-F238E27FC236}">
                <a16:creationId xmlns:a16="http://schemas.microsoft.com/office/drawing/2014/main" id="{8C263372-EA77-45A1-80AE-69A717D7465F}"/>
              </a:ext>
            </a:extLst>
          </p:cNvPr>
          <p:cNvSpPr/>
          <p:nvPr/>
        </p:nvSpPr>
        <p:spPr>
          <a:xfrm>
            <a:off x="3191933" y="3632200"/>
            <a:ext cx="6290734" cy="5249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5540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F692E9-FDEE-4050-89C2-24BA0EC13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Web App with Domain Class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55D4275-2991-432A-ACBA-90FA8552B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Recommendations</a:t>
            </a:r>
            <a:endParaRPr lang="da-DK" dirty="0"/>
          </a:p>
          <a:p>
            <a:pPr lvl="1"/>
            <a:r>
              <a:rPr lang="da-DK" sz="2000" dirty="0" err="1"/>
              <a:t>Add</a:t>
            </a:r>
            <a:r>
              <a:rPr lang="da-DK" sz="2000" dirty="0"/>
              <a:t> top-</a:t>
            </a:r>
            <a:r>
              <a:rPr lang="da-DK" sz="2000" dirty="0" err="1"/>
              <a:t>level</a:t>
            </a:r>
            <a:r>
              <a:rPr lang="da-DK" sz="2000" dirty="0"/>
              <a:t> folder </a:t>
            </a:r>
            <a:r>
              <a:rPr lang="da-DK" sz="2000" b="1" dirty="0"/>
              <a:t>Models</a:t>
            </a:r>
            <a:r>
              <a:rPr lang="da-DK" sz="2000" dirty="0"/>
              <a:t> to </a:t>
            </a:r>
            <a:r>
              <a:rPr lang="da-DK" sz="2000" dirty="0" err="1"/>
              <a:t>project</a:t>
            </a:r>
            <a:endParaRPr lang="da-DK" sz="2000" dirty="0"/>
          </a:p>
          <a:p>
            <a:pPr lvl="1"/>
            <a:r>
              <a:rPr lang="da-DK" sz="2000" dirty="0" err="1"/>
              <a:t>Add</a:t>
            </a:r>
            <a:r>
              <a:rPr lang="da-DK" sz="2000" dirty="0"/>
              <a:t> domain class definitions to this folder</a:t>
            </a:r>
          </a:p>
          <a:p>
            <a:pPr lvl="1"/>
            <a:r>
              <a:rPr lang="da-DK" sz="2000" b="1" dirty="0">
                <a:solidFill>
                  <a:srgbClr val="FF0000"/>
                </a:solidFill>
              </a:rPr>
              <a:t>NB</a:t>
            </a:r>
            <a:r>
              <a:rPr lang="da-DK" sz="2000" dirty="0"/>
              <a:t>: All domain </a:t>
            </a:r>
            <a:r>
              <a:rPr lang="da-DK" sz="2000" dirty="0" err="1"/>
              <a:t>classes</a:t>
            </a:r>
            <a:r>
              <a:rPr lang="da-DK" sz="2000" dirty="0"/>
              <a:t> </a:t>
            </a:r>
            <a:r>
              <a:rPr lang="da-DK" sz="2000" u="sng" dirty="0"/>
              <a:t>must</a:t>
            </a:r>
            <a:r>
              <a:rPr lang="da-DK" sz="2000" dirty="0"/>
              <a:t> have a default constructor (i.e. no parameters)</a:t>
            </a:r>
          </a:p>
          <a:p>
            <a:pPr lvl="1"/>
            <a:r>
              <a:rPr lang="da-DK" sz="2000" dirty="0"/>
              <a:t>Under the </a:t>
            </a:r>
            <a:r>
              <a:rPr lang="da-DK" sz="2000" b="1" dirty="0"/>
              <a:t>Pages</a:t>
            </a:r>
            <a:r>
              <a:rPr lang="da-DK" sz="2000" dirty="0"/>
              <a:t> folder, </a:t>
            </a:r>
            <a:r>
              <a:rPr lang="da-DK" sz="2000" dirty="0" err="1"/>
              <a:t>add</a:t>
            </a:r>
            <a:r>
              <a:rPr lang="da-DK" sz="2000" dirty="0"/>
              <a:t> </a:t>
            </a:r>
            <a:r>
              <a:rPr lang="da-DK" sz="2000" dirty="0" err="1"/>
              <a:t>one</a:t>
            </a:r>
            <a:r>
              <a:rPr lang="da-DK" sz="2000" dirty="0"/>
              <a:t> subfolder for </a:t>
            </a:r>
            <a:r>
              <a:rPr lang="da-DK" sz="2000" dirty="0" err="1"/>
              <a:t>each</a:t>
            </a:r>
            <a:r>
              <a:rPr lang="da-DK" sz="2000" dirty="0"/>
              <a:t> domain class</a:t>
            </a:r>
          </a:p>
          <a:p>
            <a:pPr lvl="1"/>
            <a:r>
              <a:rPr lang="da-DK" sz="2000" dirty="0"/>
              <a:t>Give </a:t>
            </a:r>
            <a:r>
              <a:rPr lang="da-DK" sz="2000" dirty="0" err="1"/>
              <a:t>each</a:t>
            </a:r>
            <a:r>
              <a:rPr lang="da-DK" sz="2000" dirty="0"/>
              <a:t> subfolder the same </a:t>
            </a:r>
            <a:r>
              <a:rPr lang="da-DK" sz="2000" dirty="0" err="1"/>
              <a:t>name</a:t>
            </a:r>
            <a:r>
              <a:rPr lang="da-DK" sz="2000" dirty="0"/>
              <a:t> as the </a:t>
            </a:r>
            <a:r>
              <a:rPr lang="da-DK" sz="2000"/>
              <a:t>domain class plus a ”plural s”, i.e. for a class </a:t>
            </a:r>
            <a:r>
              <a:rPr lang="da-DK" sz="2000" b="1"/>
              <a:t>Product</a:t>
            </a:r>
            <a:r>
              <a:rPr lang="da-DK" sz="2000"/>
              <a:t> make a folder named </a:t>
            </a:r>
            <a:r>
              <a:rPr lang="da-DK" sz="2000" b="1"/>
              <a:t>Products</a:t>
            </a:r>
            <a:r>
              <a:rPr lang="da-DK" sz="2000"/>
              <a:t>.</a:t>
            </a:r>
            <a:endParaRPr lang="da-DK" sz="2000" dirty="0"/>
          </a:p>
          <a:p>
            <a:pPr lvl="1"/>
            <a:r>
              <a:rPr lang="da-DK" sz="2000" dirty="0" err="1"/>
              <a:t>Add</a:t>
            </a:r>
            <a:r>
              <a:rPr lang="da-DK" sz="2000" dirty="0"/>
              <a:t> all Pages </a:t>
            </a:r>
            <a:r>
              <a:rPr lang="da-DK" sz="2000" dirty="0" err="1"/>
              <a:t>relating</a:t>
            </a:r>
            <a:r>
              <a:rPr lang="da-DK" sz="2000" dirty="0"/>
              <a:t> to this domain class to this subfolder</a:t>
            </a:r>
          </a:p>
          <a:p>
            <a:pPr lvl="1"/>
            <a:r>
              <a:rPr lang="da-DK" sz="2000" dirty="0" err="1"/>
              <a:t>Add</a:t>
            </a:r>
            <a:r>
              <a:rPr lang="da-DK" sz="2000" dirty="0"/>
              <a:t> top-</a:t>
            </a:r>
            <a:r>
              <a:rPr lang="da-DK" sz="2000" dirty="0" err="1"/>
              <a:t>level</a:t>
            </a:r>
            <a:r>
              <a:rPr lang="da-DK" sz="2000" dirty="0"/>
              <a:t> folder </a:t>
            </a:r>
            <a:r>
              <a:rPr lang="da-DK" sz="2000" b="1" dirty="0"/>
              <a:t>Services</a:t>
            </a:r>
            <a:r>
              <a:rPr lang="da-DK" sz="2000" dirty="0"/>
              <a:t> to </a:t>
            </a:r>
            <a:r>
              <a:rPr lang="da-DK" sz="2000" dirty="0" err="1"/>
              <a:t>project</a:t>
            </a:r>
            <a:endParaRPr lang="da-DK" sz="2000" dirty="0"/>
          </a:p>
          <a:p>
            <a:pPr lvl="1"/>
            <a:r>
              <a:rPr lang="da-DK" sz="2000" dirty="0" err="1"/>
              <a:t>Add</a:t>
            </a:r>
            <a:r>
              <a:rPr lang="da-DK" sz="2000" dirty="0"/>
              <a:t> all service interfaces/</a:t>
            </a:r>
            <a:r>
              <a:rPr lang="da-DK" sz="2000" dirty="0" err="1"/>
              <a:t>classes</a:t>
            </a:r>
            <a:r>
              <a:rPr lang="da-DK" sz="2000" dirty="0"/>
              <a:t> to this folder (</a:t>
            </a:r>
            <a:r>
              <a:rPr lang="da-DK" sz="2000" dirty="0" err="1"/>
              <a:t>add</a:t>
            </a:r>
            <a:r>
              <a:rPr lang="da-DK" sz="2000" dirty="0"/>
              <a:t> subfolders </a:t>
            </a:r>
            <a:r>
              <a:rPr lang="da-DK" sz="2000" dirty="0" err="1"/>
              <a:t>if</a:t>
            </a:r>
            <a:r>
              <a:rPr lang="da-DK" sz="2000" dirty="0"/>
              <a:t> </a:t>
            </a:r>
            <a:r>
              <a:rPr lang="da-DK" sz="2000" err="1"/>
              <a:t>needed</a:t>
            </a:r>
            <a:r>
              <a:rPr lang="da-DK" sz="2000"/>
              <a:t>)</a:t>
            </a:r>
          </a:p>
          <a:p>
            <a:pPr lvl="1"/>
            <a:r>
              <a:rPr lang="da-DK" sz="2000"/>
              <a:t>Register all services in </a:t>
            </a:r>
            <a:r>
              <a:rPr lang="da-DK" sz="2000" b="1"/>
              <a:t>Program.cs</a:t>
            </a:r>
            <a:endParaRPr lang="da-DK" sz="2000" b="1" dirty="0"/>
          </a:p>
          <a:p>
            <a:pPr lvl="1"/>
            <a:r>
              <a:rPr lang="da-DK" sz="2000" b="1" dirty="0">
                <a:solidFill>
                  <a:srgbClr val="FF0000"/>
                </a:solidFill>
              </a:rPr>
              <a:t>NB</a:t>
            </a:r>
            <a:r>
              <a:rPr lang="da-DK" sz="2000" dirty="0"/>
              <a:t>: Be </a:t>
            </a:r>
            <a:r>
              <a:rPr lang="da-DK" sz="2000" dirty="0" err="1"/>
              <a:t>aware</a:t>
            </a:r>
            <a:r>
              <a:rPr lang="da-DK" sz="2000" dirty="0"/>
              <a:t> of </a:t>
            </a:r>
            <a:r>
              <a:rPr lang="da-DK" sz="2000" b="1" dirty="0" err="1"/>
              <a:t>namespaces</a:t>
            </a:r>
            <a:r>
              <a:rPr lang="da-DK" sz="20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651855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857</TotalTime>
  <Words>1549</Words>
  <Application>Microsoft Office PowerPoint</Application>
  <PresentationFormat>Widescreen</PresentationFormat>
  <Paragraphs>381</Paragraphs>
  <Slides>62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62</vt:i4>
      </vt:variant>
    </vt:vector>
  </HeadingPairs>
  <TitlesOfParts>
    <vt:vector size="67" baseType="lpstr">
      <vt:lpstr>Arial</vt:lpstr>
      <vt:lpstr>Calibri</vt:lpstr>
      <vt:lpstr>Calibri Light</vt:lpstr>
      <vt:lpstr>Cascadia Mono</vt:lpstr>
      <vt:lpstr>Office-tema</vt:lpstr>
      <vt:lpstr>Razor Pages </vt:lpstr>
      <vt:lpstr>PowerPoint-præsentation</vt:lpstr>
      <vt:lpstr>PowerPoint-præsentation</vt:lpstr>
      <vt:lpstr>HTTP Request</vt:lpstr>
      <vt:lpstr>HTTP Response</vt:lpstr>
      <vt:lpstr>Web App</vt:lpstr>
      <vt:lpstr>Razor Pages Web App</vt:lpstr>
      <vt:lpstr>Razor Pages Web App</vt:lpstr>
      <vt:lpstr>PowerPoint-præsentation</vt:lpstr>
      <vt:lpstr>Razor Pages Web App</vt:lpstr>
      <vt:lpstr>Razor Pages Web App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Web App with Domain Class</vt:lpstr>
      <vt:lpstr>Web App with Domain class</vt:lpstr>
      <vt:lpstr>PowerPoint-præsentation</vt:lpstr>
      <vt:lpstr>PowerPoint-præsentation</vt:lpstr>
      <vt:lpstr>Web App with Domain class</vt:lpstr>
      <vt:lpstr>PowerPoint-præsentation</vt:lpstr>
      <vt:lpstr>PowerPoint-præsentation</vt:lpstr>
      <vt:lpstr>Web App with Domain class</vt:lpstr>
      <vt:lpstr>PowerPoint-præsentation</vt:lpstr>
      <vt:lpstr>Web App with Domain class</vt:lpstr>
      <vt:lpstr>PowerPoint-præsentation</vt:lpstr>
      <vt:lpstr>PowerPoint-præsentation</vt:lpstr>
      <vt:lpstr>Web App with Domain class</vt:lpstr>
      <vt:lpstr>PowerPoint-præsentation</vt:lpstr>
      <vt:lpstr>PowerPoint-præsentation</vt:lpstr>
      <vt:lpstr>Web App with Domain Class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Razor Pages </dc:title>
  <dc:creator>per</dc:creator>
  <cp:lastModifiedBy>Per Storgård Laursen</cp:lastModifiedBy>
  <cp:revision>45</cp:revision>
  <dcterms:created xsi:type="dcterms:W3CDTF">2023-05-01T13:26:44Z</dcterms:created>
  <dcterms:modified xsi:type="dcterms:W3CDTF">2025-11-16T18:51:04Z</dcterms:modified>
</cp:coreProperties>
</file>